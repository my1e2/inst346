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374" r:id="rId3"/>
    <p:sldId id="257" r:id="rId4"/>
    <p:sldId id="267" r:id="rId5"/>
    <p:sldId id="334" r:id="rId6"/>
    <p:sldId id="328" r:id="rId7"/>
    <p:sldId id="367" r:id="rId8"/>
    <p:sldId id="321" r:id="rId9"/>
    <p:sldId id="322" r:id="rId10"/>
    <p:sldId id="332" r:id="rId11"/>
    <p:sldId id="333" r:id="rId12"/>
    <p:sldId id="383" r:id="rId13"/>
    <p:sldId id="384" r:id="rId14"/>
    <p:sldId id="385" r:id="rId15"/>
    <p:sldId id="329" r:id="rId16"/>
    <p:sldId id="371" r:id="rId17"/>
    <p:sldId id="330" r:id="rId18"/>
    <p:sldId id="349" r:id="rId19"/>
    <p:sldId id="285" r:id="rId20"/>
    <p:sldId id="350" r:id="rId21"/>
    <p:sldId id="351" r:id="rId22"/>
    <p:sldId id="352" r:id="rId23"/>
    <p:sldId id="353" r:id="rId24"/>
    <p:sldId id="354" r:id="rId25"/>
    <p:sldId id="355" r:id="rId26"/>
    <p:sldId id="356" r:id="rId27"/>
    <p:sldId id="386" r:id="rId28"/>
    <p:sldId id="335" r:id="rId29"/>
    <p:sldId id="387" r:id="rId30"/>
    <p:sldId id="389" r:id="rId31"/>
    <p:sldId id="337" r:id="rId32"/>
    <p:sldId id="358" r:id="rId33"/>
    <p:sldId id="360" r:id="rId34"/>
    <p:sldId id="359" r:id="rId35"/>
    <p:sldId id="363" r:id="rId36"/>
    <p:sldId id="368" r:id="rId37"/>
    <p:sldId id="370" r:id="rId38"/>
    <p:sldId id="362" r:id="rId39"/>
    <p:sldId id="364" r:id="rId40"/>
    <p:sldId id="365" r:id="rId41"/>
    <p:sldId id="366" r:id="rId42"/>
    <p:sldId id="388" r:id="rId43"/>
    <p:sldId id="347" r:id="rId44"/>
    <p:sldId id="373" r:id="rId45"/>
    <p:sldId id="32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0"/>
    <p:restoredTop sz="94947"/>
  </p:normalViewPr>
  <p:slideViewPr>
    <p:cSldViewPr snapToGrid="0">
      <p:cViewPr varScale="1">
        <p:scale>
          <a:sx n="109" d="100"/>
          <a:sy n="109" d="100"/>
        </p:scale>
        <p:origin x="296" y="176"/>
      </p:cViewPr>
      <p:guideLst/>
    </p:cSldViewPr>
  </p:slideViewPr>
  <p:outlineViewPr>
    <p:cViewPr>
      <p:scale>
        <a:sx n="33" d="100"/>
        <a:sy n="33" d="100"/>
      </p:scale>
      <p:origin x="0" y="-2428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740D5-9FCB-6640-ADD7-88C109B0CE68}" type="datetimeFigureOut">
              <a:rPr lang="en-US" smtClean="0"/>
              <a:t>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874D0E-096F-9B4C-8096-3DB7CCC55B8C}" type="slidenum">
              <a:rPr lang="en-US" smtClean="0"/>
              <a:t>‹#›</a:t>
            </a:fld>
            <a:endParaRPr lang="en-US"/>
          </a:p>
        </p:txBody>
      </p:sp>
    </p:spTree>
    <p:extLst>
      <p:ext uri="{BB962C8B-B14F-4D97-AF65-F5344CB8AC3E}">
        <p14:creationId xmlns:p14="http://schemas.microsoft.com/office/powerpoint/2010/main" val="4104692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874D0E-096F-9B4C-8096-3DB7CCC55B8C}" type="slidenum">
              <a:rPr lang="en-US" smtClean="0"/>
              <a:t>1</a:t>
            </a:fld>
            <a:endParaRPr lang="en-US"/>
          </a:p>
        </p:txBody>
      </p:sp>
    </p:spTree>
    <p:extLst>
      <p:ext uri="{BB962C8B-B14F-4D97-AF65-F5344CB8AC3E}">
        <p14:creationId xmlns:p14="http://schemas.microsoft.com/office/powerpoint/2010/main" val="1829570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874D0E-096F-9B4C-8096-3DB7CCC55B8C}" type="slidenum">
              <a:rPr lang="en-US" smtClean="0"/>
              <a:t>6</a:t>
            </a:fld>
            <a:endParaRPr lang="en-US"/>
          </a:p>
        </p:txBody>
      </p:sp>
    </p:spTree>
    <p:extLst>
      <p:ext uri="{BB962C8B-B14F-4D97-AF65-F5344CB8AC3E}">
        <p14:creationId xmlns:p14="http://schemas.microsoft.com/office/powerpoint/2010/main" val="3001342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PT Serif" panose="020A0603040505020204" pitchFamily="18" charset="77"/>
              </a:rPr>
              <a:t>From article: How can this naïve matrix-multiplication code be performance engineered? Simply choosing a more efficient programming language speeds up this calculation dramatically. For example, coding it in Java (version 2) produces a speedup of 10.8×, and coding it in C (version 3) produces an additional speedup of 4.4×, yielding an execution time that is 47 times faster than the original Python. This performance improvement comes from reducing the number of operations the program performs. In particular, Java and C avoid the extraneous work that Python does under the hood to make programming easier. The price for this performance gain is programmer productivity: Coding in C is more onerous than coding in Python, and Java lies somewhere in between.</a:t>
            </a:r>
          </a:p>
          <a:p>
            <a:pPr algn="l"/>
            <a:r>
              <a:rPr lang="en-US" b="0" i="0" dirty="0">
                <a:solidFill>
                  <a:srgbClr val="333333"/>
                </a:solidFill>
                <a:effectLst/>
                <a:latin typeface="PT Serif" panose="020A0603040505020204" pitchFamily="18" charset="77"/>
              </a:rPr>
              <a:t>Although switching languages gains a speedup of almost 50×, tailoring the matrix code to exploit specific features of the hardware makes it run an additional 1300 times faster. This gain comes from parallelizing the code to run on all 18 of the processing cores (version 4), exploiting the processor’s memory hierarchy (version 5), vectorizing the code (version 6), and using Intel’s special Advanced Vector Extensions (AVX) instructions (version 7). The final optimized code performs the task in only 0.41 s—more than 60,000 times faster than the 7 hours of the original Python code!</a:t>
            </a:r>
          </a:p>
          <a:p>
            <a:br>
              <a:rPr lang="en-US" dirty="0"/>
            </a:br>
            <a:endParaRPr lang="en-US" dirty="0"/>
          </a:p>
        </p:txBody>
      </p:sp>
      <p:sp>
        <p:nvSpPr>
          <p:cNvPr id="4" name="Slide Number Placeholder 3"/>
          <p:cNvSpPr>
            <a:spLocks noGrp="1"/>
          </p:cNvSpPr>
          <p:nvPr>
            <p:ph type="sldNum" sz="quarter" idx="5"/>
          </p:nvPr>
        </p:nvSpPr>
        <p:spPr/>
        <p:txBody>
          <a:bodyPr/>
          <a:lstStyle/>
          <a:p>
            <a:fld id="{8B874D0E-096F-9B4C-8096-3DB7CCC55B8C}" type="slidenum">
              <a:rPr lang="en-US" smtClean="0"/>
              <a:t>7</a:t>
            </a:fld>
            <a:endParaRPr lang="en-US"/>
          </a:p>
        </p:txBody>
      </p:sp>
    </p:spTree>
    <p:extLst>
      <p:ext uri="{BB962C8B-B14F-4D97-AF65-F5344CB8AC3E}">
        <p14:creationId xmlns:p14="http://schemas.microsoft.com/office/powerpoint/2010/main" val="3536671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874D0E-096F-9B4C-8096-3DB7CCC55B8C}" type="slidenum">
              <a:rPr lang="en-US" smtClean="0"/>
              <a:t>15</a:t>
            </a:fld>
            <a:endParaRPr lang="en-US"/>
          </a:p>
        </p:txBody>
      </p:sp>
    </p:spTree>
    <p:extLst>
      <p:ext uri="{BB962C8B-B14F-4D97-AF65-F5344CB8AC3E}">
        <p14:creationId xmlns:p14="http://schemas.microsoft.com/office/powerpoint/2010/main" val="139905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874D0E-096F-9B4C-8096-3DB7CCC55B8C}" type="slidenum">
              <a:rPr lang="en-US" smtClean="0"/>
              <a:t>17</a:t>
            </a:fld>
            <a:endParaRPr lang="en-US"/>
          </a:p>
        </p:txBody>
      </p:sp>
    </p:spTree>
    <p:extLst>
      <p:ext uri="{BB962C8B-B14F-4D97-AF65-F5344CB8AC3E}">
        <p14:creationId xmlns:p14="http://schemas.microsoft.com/office/powerpoint/2010/main" val="3640670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874D0E-096F-9B4C-8096-3DB7CCC55B8C}" type="slidenum">
              <a:rPr lang="en-US" smtClean="0"/>
              <a:t>26</a:t>
            </a:fld>
            <a:endParaRPr lang="en-US"/>
          </a:p>
        </p:txBody>
      </p:sp>
    </p:spTree>
    <p:extLst>
      <p:ext uri="{BB962C8B-B14F-4D97-AF65-F5344CB8AC3E}">
        <p14:creationId xmlns:p14="http://schemas.microsoft.com/office/powerpoint/2010/main" val="3376503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874D0E-096F-9B4C-8096-3DB7CCC55B8C}" type="slidenum">
              <a:rPr lang="en-US" smtClean="0"/>
              <a:t>45</a:t>
            </a:fld>
            <a:endParaRPr lang="en-US"/>
          </a:p>
        </p:txBody>
      </p:sp>
    </p:spTree>
    <p:extLst>
      <p:ext uri="{BB962C8B-B14F-4D97-AF65-F5344CB8AC3E}">
        <p14:creationId xmlns:p14="http://schemas.microsoft.com/office/powerpoint/2010/main" val="544046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5E65-85DD-84CF-8467-7CCCD19BFB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8B1591-53B6-704B-78BF-6F644CA701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4E7CCB-C429-AF47-6A19-911DB6D99F4C}"/>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5" name="Footer Placeholder 4">
            <a:extLst>
              <a:ext uri="{FF2B5EF4-FFF2-40B4-BE49-F238E27FC236}">
                <a16:creationId xmlns:a16="http://schemas.microsoft.com/office/drawing/2014/main" id="{1038CE92-66CB-E0AA-848E-2733BF364C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5C50F6-75DF-AC35-9EE1-977D1E3B577A}"/>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1229197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1FA60-81A5-2BCE-22AB-4CA3DF4779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D9035F-A5E7-2AD3-F8AC-BFF128FEBF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6E1DE-BD6F-A936-FDFE-987722426804}"/>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5" name="Footer Placeholder 4">
            <a:extLst>
              <a:ext uri="{FF2B5EF4-FFF2-40B4-BE49-F238E27FC236}">
                <a16:creationId xmlns:a16="http://schemas.microsoft.com/office/drawing/2014/main" id="{61E0F41E-1E93-FF38-82DD-FEB6E24AD1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49B93-F23F-B839-655E-D627E46D9926}"/>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3560081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5BC8A-B1F3-22F0-2492-2736E8608D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675778-FACC-1286-05FB-2D10F9CE4F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DB98AD-4AF5-5E26-F202-52E5E6A1E817}"/>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5" name="Footer Placeholder 4">
            <a:extLst>
              <a:ext uri="{FF2B5EF4-FFF2-40B4-BE49-F238E27FC236}">
                <a16:creationId xmlns:a16="http://schemas.microsoft.com/office/drawing/2014/main" id="{0381B3EF-E8B9-A6AE-1D9D-AA6864B35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237-F890-12DE-AA86-71E37DCA1420}"/>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3553650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2B53F-95C6-1E7B-44B5-46AB11BFFD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5D47CC-D960-7471-1A70-C0996785CE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086E1A-BD98-8F09-75AA-08CDE762B3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4D358C-4761-8E32-8D10-E672D063EB4D}"/>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6" name="Footer Placeholder 5">
            <a:extLst>
              <a:ext uri="{FF2B5EF4-FFF2-40B4-BE49-F238E27FC236}">
                <a16:creationId xmlns:a16="http://schemas.microsoft.com/office/drawing/2014/main" id="{CCD12983-1299-A3FE-2996-F48C8A0A24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E72183-A562-0D81-F1B5-82E08029BC2E}"/>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243762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AB926-0E57-3362-A9CA-807F9DED22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873271-AA32-2260-0085-9B38A23E0B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4B51A9-6F96-5785-93D5-049D890399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B8B985-7145-10FE-669B-4A75FA5514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D5D330-00B7-7F2D-8673-E45A7CA96D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22832C-3F93-2D2A-D65E-DC578B21703F}"/>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8" name="Footer Placeholder 7">
            <a:extLst>
              <a:ext uri="{FF2B5EF4-FFF2-40B4-BE49-F238E27FC236}">
                <a16:creationId xmlns:a16="http://schemas.microsoft.com/office/drawing/2014/main" id="{4C42CA93-CDE3-E3FD-4BF2-8D25565AEA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9B9A63-F2E3-AE58-302A-AD9C64B75695}"/>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3367352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77E92-8379-81B9-5538-BCE827BFF0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D1DA55-7B0E-EEFA-526D-53DC0A6AE0E2}"/>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4" name="Footer Placeholder 3">
            <a:extLst>
              <a:ext uri="{FF2B5EF4-FFF2-40B4-BE49-F238E27FC236}">
                <a16:creationId xmlns:a16="http://schemas.microsoft.com/office/drawing/2014/main" id="{F8086925-2D83-5D1B-59D5-F67A19632D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3BB117-E99E-2E44-F930-67D9FD1CF7BD}"/>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73454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73DD5-A399-B07A-D9BC-D36531BD6E5E}"/>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3" name="Footer Placeholder 2">
            <a:extLst>
              <a:ext uri="{FF2B5EF4-FFF2-40B4-BE49-F238E27FC236}">
                <a16:creationId xmlns:a16="http://schemas.microsoft.com/office/drawing/2014/main" id="{4B731AFE-0ADE-3ECD-7E47-CE3BF6A1A8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1216CC-B151-ED1B-99AE-E893CD8BAA81}"/>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103695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2FD1E-59B1-0463-AECD-893AC862D3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A44F61-1962-A7B4-3A5E-C75DDF395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F947F4-8044-4964-311C-F0C96D5D9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4B2E79-AFE0-EA9F-3C1E-0598353D6B46}"/>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6" name="Footer Placeholder 5">
            <a:extLst>
              <a:ext uri="{FF2B5EF4-FFF2-40B4-BE49-F238E27FC236}">
                <a16:creationId xmlns:a16="http://schemas.microsoft.com/office/drawing/2014/main" id="{861A8319-1648-51C4-04A9-E7777A2670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F99C4F-38CE-73C0-15C0-A13B45DC8947}"/>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531349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841EB-B3BB-2BB1-2330-C9CC03D41C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41569B-E6BE-2EBE-E342-FB47B5CF53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7835D2-D0CD-FE04-CE20-70443D975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240D87-EF42-9D2B-DBD7-642A66845B34}"/>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6" name="Footer Placeholder 5">
            <a:extLst>
              <a:ext uri="{FF2B5EF4-FFF2-40B4-BE49-F238E27FC236}">
                <a16:creationId xmlns:a16="http://schemas.microsoft.com/office/drawing/2014/main" id="{13F8A75C-1070-5B7F-38FF-F077EA080B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E6E297-B151-0A0B-347C-01AC5A8501B9}"/>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2480939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61B5-B71B-2692-917C-2D650F49DE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3BC38B-4FB0-1125-76E8-9BBEDF2BD6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E050A-8A09-2F3E-2F37-4E31848F8107}"/>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5" name="Footer Placeholder 4">
            <a:extLst>
              <a:ext uri="{FF2B5EF4-FFF2-40B4-BE49-F238E27FC236}">
                <a16:creationId xmlns:a16="http://schemas.microsoft.com/office/drawing/2014/main" id="{2FACBBD8-F564-E599-553C-D4B55ABADB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7A2C9-4083-1A3A-3767-DE8DF0C91D4C}"/>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3155432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425A8E-4DEC-0F9A-B748-ABA42A6BEF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E9631F-C99D-C148-50AC-9BBF100992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5B0B5-3E9C-13DA-8939-B46BD1F75669}"/>
              </a:ext>
            </a:extLst>
          </p:cNvPr>
          <p:cNvSpPr>
            <a:spLocks noGrp="1"/>
          </p:cNvSpPr>
          <p:nvPr>
            <p:ph type="dt" sz="half" idx="10"/>
          </p:nvPr>
        </p:nvSpPr>
        <p:spPr/>
        <p:txBody>
          <a:bodyPr/>
          <a:lstStyle/>
          <a:p>
            <a:fld id="{8DEB9F61-AAAF-634B-9135-B8C51606ED80}" type="datetimeFigureOut">
              <a:rPr lang="en-US" smtClean="0"/>
              <a:t>2/17/25</a:t>
            </a:fld>
            <a:endParaRPr lang="en-US"/>
          </a:p>
        </p:txBody>
      </p:sp>
      <p:sp>
        <p:nvSpPr>
          <p:cNvPr id="5" name="Footer Placeholder 4">
            <a:extLst>
              <a:ext uri="{FF2B5EF4-FFF2-40B4-BE49-F238E27FC236}">
                <a16:creationId xmlns:a16="http://schemas.microsoft.com/office/drawing/2014/main" id="{13178F01-EB67-CD5A-7D90-227C5BFA12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73F698-2303-425F-447A-01CDBA5BFD6E}"/>
              </a:ext>
            </a:extLst>
          </p:cNvPr>
          <p:cNvSpPr>
            <a:spLocks noGrp="1"/>
          </p:cNvSpPr>
          <p:nvPr>
            <p:ph type="sldNum" sz="quarter" idx="12"/>
          </p:nvPr>
        </p:nvSpPr>
        <p:spPr/>
        <p:txBody>
          <a:bodyPr/>
          <a:lstStyle/>
          <a:p>
            <a:fld id="{C013F49D-02E1-E748-AA5A-2082A917C531}" type="slidenum">
              <a:rPr lang="en-US" smtClean="0"/>
              <a:t>‹#›</a:t>
            </a:fld>
            <a:endParaRPr lang="en-US"/>
          </a:p>
        </p:txBody>
      </p:sp>
    </p:spTree>
    <p:extLst>
      <p:ext uri="{BB962C8B-B14F-4D97-AF65-F5344CB8AC3E}">
        <p14:creationId xmlns:p14="http://schemas.microsoft.com/office/powerpoint/2010/main" val="2682823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00">
            <a:alpha val="17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4B0EFC-D7B6-B877-9435-3954B6FC16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C83CD0-1FEC-F19E-60A2-CC012344C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7881F0-AE53-DC38-C426-9C59192833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EB9F61-AAAF-634B-9135-B8C51606ED80}" type="datetimeFigureOut">
              <a:rPr lang="en-US" smtClean="0"/>
              <a:t>2/17/25</a:t>
            </a:fld>
            <a:endParaRPr lang="en-US"/>
          </a:p>
        </p:txBody>
      </p:sp>
      <p:sp>
        <p:nvSpPr>
          <p:cNvPr id="5" name="Footer Placeholder 4">
            <a:extLst>
              <a:ext uri="{FF2B5EF4-FFF2-40B4-BE49-F238E27FC236}">
                <a16:creationId xmlns:a16="http://schemas.microsoft.com/office/drawing/2014/main" id="{F67620FB-D6CA-369F-3A74-B66DA3F43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418466-3641-3D08-28BD-4E7B07C2AA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13F49D-02E1-E748-AA5A-2082A917C531}" type="slidenum">
              <a:rPr lang="en-US" smtClean="0"/>
              <a:t>‹#›</a:t>
            </a:fld>
            <a:endParaRPr lang="en-US"/>
          </a:p>
        </p:txBody>
      </p:sp>
    </p:spTree>
    <p:extLst>
      <p:ext uri="{BB962C8B-B14F-4D97-AF65-F5344CB8AC3E}">
        <p14:creationId xmlns:p14="http://schemas.microsoft.com/office/powerpoint/2010/main" val="1156564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realvnc.com/en/connect/download/viewer/?lai_vid=PXL4qKMrViGG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science.org/doi/10.1126/science.aam9744"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hyperlink" Target="https://cacm.acm.org/opinion/the-atlas-milestone/"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LKYKp_Zzlv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youtube.com/watch?v=lY44D2u21V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l.acm.org/doi/10.1145/3600006.3613147" TargetMode="External"/><Relationship Id="rId2" Type="http://schemas.openxmlformats.org/officeDocument/2006/relationships/hyperlink" Target="https://www.usenix.org/conference/hotstorage20/presentation/eyta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l.acm.org/doi/10.1145/235543.235544"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6561-3A5E-1DD5-6A15-B60217F626B3}"/>
              </a:ext>
            </a:extLst>
          </p:cNvPr>
          <p:cNvSpPr>
            <a:spLocks noGrp="1"/>
          </p:cNvSpPr>
          <p:nvPr>
            <p:ph type="ctrTitle"/>
          </p:nvPr>
        </p:nvSpPr>
        <p:spPr/>
        <p:txBody>
          <a:bodyPr/>
          <a:lstStyle/>
          <a:p>
            <a:r>
              <a:rPr lang="en-US" dirty="0"/>
              <a:t>INST 346 Spring 2025</a:t>
            </a:r>
          </a:p>
        </p:txBody>
      </p:sp>
      <p:sp>
        <p:nvSpPr>
          <p:cNvPr id="3" name="Subtitle 2">
            <a:extLst>
              <a:ext uri="{FF2B5EF4-FFF2-40B4-BE49-F238E27FC236}">
                <a16:creationId xmlns:a16="http://schemas.microsoft.com/office/drawing/2014/main" id="{5510C9D0-9FA1-60B7-36C0-39EF48F87FD4}"/>
              </a:ext>
            </a:extLst>
          </p:cNvPr>
          <p:cNvSpPr>
            <a:spLocks noGrp="1"/>
          </p:cNvSpPr>
          <p:nvPr>
            <p:ph type="subTitle" idx="1"/>
          </p:nvPr>
        </p:nvSpPr>
        <p:spPr/>
        <p:txBody>
          <a:bodyPr/>
          <a:lstStyle/>
          <a:p>
            <a:r>
              <a:rPr lang="en-US" dirty="0"/>
              <a:t>Lectures 7 and 8 </a:t>
            </a:r>
          </a:p>
          <a:p>
            <a:r>
              <a:rPr lang="en-US" dirty="0"/>
              <a:t>February 17 and 19, 2025</a:t>
            </a:r>
          </a:p>
          <a:p>
            <a:r>
              <a:rPr lang="en-US" dirty="0"/>
              <a:t>Professor Keith Marzullo</a:t>
            </a:r>
          </a:p>
        </p:txBody>
      </p:sp>
    </p:spTree>
    <p:extLst>
      <p:ext uri="{BB962C8B-B14F-4D97-AF65-F5344CB8AC3E}">
        <p14:creationId xmlns:p14="http://schemas.microsoft.com/office/powerpoint/2010/main" val="2486002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AA1E2-99A9-A3F2-336A-DC6AB4219811}"/>
              </a:ext>
            </a:extLst>
          </p:cNvPr>
          <p:cNvSpPr>
            <a:spLocks noGrp="1"/>
          </p:cNvSpPr>
          <p:nvPr>
            <p:ph type="title"/>
          </p:nvPr>
        </p:nvSpPr>
        <p:spPr/>
        <p:txBody>
          <a:bodyPr/>
          <a:lstStyle/>
          <a:p>
            <a:r>
              <a:rPr lang="en-US" dirty="0"/>
              <a:t>Lab this week</a:t>
            </a:r>
          </a:p>
        </p:txBody>
      </p:sp>
      <p:sp>
        <p:nvSpPr>
          <p:cNvPr id="3" name="Content Placeholder 2">
            <a:extLst>
              <a:ext uri="{FF2B5EF4-FFF2-40B4-BE49-F238E27FC236}">
                <a16:creationId xmlns:a16="http://schemas.microsoft.com/office/drawing/2014/main" id="{405DD679-5811-5EF9-FAC7-68F3F32FD9D4}"/>
              </a:ext>
            </a:extLst>
          </p:cNvPr>
          <p:cNvSpPr>
            <a:spLocks noGrp="1"/>
          </p:cNvSpPr>
          <p:nvPr>
            <p:ph idx="1"/>
          </p:nvPr>
        </p:nvSpPr>
        <p:spPr/>
        <p:txBody>
          <a:bodyPr/>
          <a:lstStyle/>
          <a:p>
            <a:pPr marL="0" indent="0">
              <a:buNone/>
            </a:pPr>
            <a:r>
              <a:rPr lang="en-US" dirty="0"/>
              <a:t>You will start becoming acquainted with the Raspberry Pi</a:t>
            </a:r>
          </a:p>
          <a:p>
            <a:pPr>
              <a:buFontTx/>
              <a:buChar char="-"/>
            </a:pPr>
            <a:r>
              <a:rPr lang="en-US" dirty="0"/>
              <a:t>a single-board computer that gives you hands-on experience with a microprocessor</a:t>
            </a:r>
          </a:p>
          <a:p>
            <a:pPr>
              <a:buFontTx/>
              <a:buChar char="-"/>
            </a:pPr>
            <a:r>
              <a:rPr lang="en-US" dirty="0"/>
              <a:t>You will be using VNC to interface with the device</a:t>
            </a:r>
          </a:p>
          <a:p>
            <a:pPr lvl="1">
              <a:buFontTx/>
              <a:buChar char="-"/>
            </a:pPr>
            <a:r>
              <a:rPr lang="en-US" dirty="0"/>
              <a:t>Download at </a:t>
            </a:r>
            <a:r>
              <a:rPr lang="en-US" dirty="0">
                <a:hlinkClick r:id="rId2"/>
              </a:rPr>
              <a:t>https://www.realvnc.com/en/connect/download/viewer/?lai_vid=PXL4qKMrViGGq</a:t>
            </a:r>
            <a:r>
              <a:rPr lang="en-US" dirty="0"/>
              <a:t> (or web search “Download VNC Viewer by </a:t>
            </a:r>
            <a:r>
              <a:rPr lang="en-US" dirty="0" err="1"/>
              <a:t>RealVNC</a:t>
            </a:r>
            <a:r>
              <a:rPr lang="en-US" dirty="0"/>
              <a:t>”)</a:t>
            </a:r>
          </a:p>
        </p:txBody>
      </p:sp>
    </p:spTree>
    <p:extLst>
      <p:ext uri="{BB962C8B-B14F-4D97-AF65-F5344CB8AC3E}">
        <p14:creationId xmlns:p14="http://schemas.microsoft.com/office/powerpoint/2010/main" val="1004045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FFB5-A979-CA00-9728-C1E189F2F318}"/>
              </a:ext>
            </a:extLst>
          </p:cNvPr>
          <p:cNvSpPr>
            <a:spLocks noGrp="1"/>
          </p:cNvSpPr>
          <p:nvPr>
            <p:ph type="title"/>
          </p:nvPr>
        </p:nvSpPr>
        <p:spPr/>
        <p:txBody>
          <a:bodyPr/>
          <a:lstStyle/>
          <a:p>
            <a:r>
              <a:rPr lang="en-US" dirty="0"/>
              <a:t>Software Week learning objectives</a:t>
            </a:r>
          </a:p>
        </p:txBody>
      </p:sp>
      <p:sp>
        <p:nvSpPr>
          <p:cNvPr id="3" name="Content Placeholder 2">
            <a:extLst>
              <a:ext uri="{FF2B5EF4-FFF2-40B4-BE49-F238E27FC236}">
                <a16:creationId xmlns:a16="http://schemas.microsoft.com/office/drawing/2014/main" id="{81E63142-35E8-7EB4-26F4-785EC3A8B898}"/>
              </a:ext>
            </a:extLst>
          </p:cNvPr>
          <p:cNvSpPr>
            <a:spLocks noGrp="1"/>
          </p:cNvSpPr>
          <p:nvPr>
            <p:ph idx="1"/>
          </p:nvPr>
        </p:nvSpPr>
        <p:spPr/>
        <p:txBody>
          <a:bodyPr>
            <a:normAutofit/>
          </a:bodyPr>
          <a:lstStyle/>
          <a:p>
            <a:r>
              <a:rPr lang="en-US" dirty="0"/>
              <a:t>Why we usually – but not always – program using higher-level languages</a:t>
            </a:r>
          </a:p>
          <a:p>
            <a:r>
              <a:rPr lang="en-US" dirty="0"/>
              <a:t>The bird’s-eye view and worm’s-eye view of software systems</a:t>
            </a:r>
          </a:p>
          <a:p>
            <a:r>
              <a:rPr lang="en-US" dirty="0"/>
              <a:t>Virtualization of resources</a:t>
            </a:r>
          </a:p>
          <a:p>
            <a:r>
              <a:rPr lang="en-US" dirty="0"/>
              <a:t>Context switching and threads, processes, and virtual machines</a:t>
            </a:r>
          </a:p>
          <a:p>
            <a:r>
              <a:rPr lang="en-US" dirty="0"/>
              <a:t>Virtual memory: memory management units</a:t>
            </a:r>
          </a:p>
          <a:p>
            <a:r>
              <a:rPr lang="en-US" dirty="0"/>
              <a:t>Virtual memory: demand paging and why the page replacement policy is important</a:t>
            </a:r>
          </a:p>
        </p:txBody>
      </p:sp>
    </p:spTree>
    <p:extLst>
      <p:ext uri="{BB962C8B-B14F-4D97-AF65-F5344CB8AC3E}">
        <p14:creationId xmlns:p14="http://schemas.microsoft.com/office/powerpoint/2010/main" val="1366973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31B6-58FB-4299-142D-8D6E3446F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F8E07-2F7C-8B4E-5204-60498720066C}"/>
              </a:ext>
            </a:extLst>
          </p:cNvPr>
          <p:cNvSpPr>
            <a:spLocks noGrp="1"/>
          </p:cNvSpPr>
          <p:nvPr>
            <p:ph type="title"/>
          </p:nvPr>
        </p:nvSpPr>
        <p:spPr/>
        <p:txBody>
          <a:bodyPr/>
          <a:lstStyle/>
          <a:p>
            <a:r>
              <a:rPr lang="en-US" dirty="0"/>
              <a:t>Computing Systems – hardware and software</a:t>
            </a:r>
          </a:p>
        </p:txBody>
      </p:sp>
      <p:grpSp>
        <p:nvGrpSpPr>
          <p:cNvPr id="3" name="Group 2" descr="Computing system stack">
            <a:extLst>
              <a:ext uri="{FF2B5EF4-FFF2-40B4-BE49-F238E27FC236}">
                <a16:creationId xmlns:a16="http://schemas.microsoft.com/office/drawing/2014/main" id="{B1338987-0FDC-F3ED-3527-08FEC19D4BC5}"/>
              </a:ext>
            </a:extLst>
          </p:cNvPr>
          <p:cNvGrpSpPr/>
          <p:nvPr/>
        </p:nvGrpSpPr>
        <p:grpSpPr>
          <a:xfrm>
            <a:off x="3803465" y="1599247"/>
            <a:ext cx="4585069" cy="4711346"/>
            <a:chOff x="3803465" y="1599247"/>
            <a:chExt cx="4585069" cy="4711346"/>
          </a:xfrm>
        </p:grpSpPr>
        <p:sp>
          <p:nvSpPr>
            <p:cNvPr id="4" name="Rounded Rectangle 3" descr="Applications">
              <a:extLst>
                <a:ext uri="{FF2B5EF4-FFF2-40B4-BE49-F238E27FC236}">
                  <a16:creationId xmlns:a16="http://schemas.microsoft.com/office/drawing/2014/main" id="{406A74CB-6E3E-EABF-C3E9-C7112259894E}"/>
                </a:ext>
              </a:extLst>
            </p:cNvPr>
            <p:cNvSpPr/>
            <p:nvPr/>
          </p:nvSpPr>
          <p:spPr>
            <a:xfrm>
              <a:off x="3816534" y="1599247"/>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Rounded Rectangle 4" descr="Runtime Environment">
              <a:extLst>
                <a:ext uri="{FF2B5EF4-FFF2-40B4-BE49-F238E27FC236}">
                  <a16:creationId xmlns:a16="http://schemas.microsoft.com/office/drawing/2014/main" id="{B733ECD2-36DF-CAD4-CC8F-9A456E9D5756}"/>
                </a:ext>
              </a:extLst>
            </p:cNvPr>
            <p:cNvSpPr/>
            <p:nvPr/>
          </p:nvSpPr>
          <p:spPr>
            <a:xfrm>
              <a:off x="3812178" y="2078221"/>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descr="Operating Systems">
              <a:extLst>
                <a:ext uri="{FF2B5EF4-FFF2-40B4-BE49-F238E27FC236}">
                  <a16:creationId xmlns:a16="http://schemas.microsoft.com/office/drawing/2014/main" id="{C0B9F025-2EF8-2938-8E23-DFFEF1329C1C}"/>
                </a:ext>
              </a:extLst>
            </p:cNvPr>
            <p:cNvSpPr/>
            <p:nvPr/>
          </p:nvSpPr>
          <p:spPr>
            <a:xfrm>
              <a:off x="3816533" y="2548483"/>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descr="Drivers">
              <a:extLst>
                <a:ext uri="{FF2B5EF4-FFF2-40B4-BE49-F238E27FC236}">
                  <a16:creationId xmlns:a16="http://schemas.microsoft.com/office/drawing/2014/main" id="{09AFF96E-BE19-B319-A2C1-A2BB1EC82ACF}"/>
                </a:ext>
              </a:extLst>
            </p:cNvPr>
            <p:cNvSpPr/>
            <p:nvPr/>
          </p:nvSpPr>
          <p:spPr>
            <a:xfrm>
              <a:off x="3812177" y="3014394"/>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descr="Virtual Machine">
              <a:extLst>
                <a:ext uri="{FF2B5EF4-FFF2-40B4-BE49-F238E27FC236}">
                  <a16:creationId xmlns:a16="http://schemas.microsoft.com/office/drawing/2014/main" id="{00FAB0E5-17C8-1CA9-7DAA-22B0DEFCA6AF}"/>
                </a:ext>
              </a:extLst>
            </p:cNvPr>
            <p:cNvSpPr/>
            <p:nvPr/>
          </p:nvSpPr>
          <p:spPr>
            <a:xfrm>
              <a:off x="3812178" y="3489010"/>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descr="Machine Language">
              <a:extLst>
                <a:ext uri="{FF2B5EF4-FFF2-40B4-BE49-F238E27FC236}">
                  <a16:creationId xmlns:a16="http://schemas.microsoft.com/office/drawing/2014/main" id="{D1E536F2-CB8E-2BF6-8454-A31F0A9B5C89}"/>
                </a:ext>
              </a:extLst>
            </p:cNvPr>
            <p:cNvSpPr/>
            <p:nvPr/>
          </p:nvSpPr>
          <p:spPr>
            <a:xfrm>
              <a:off x="3807822" y="3954921"/>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descr="CPU">
              <a:extLst>
                <a:ext uri="{FF2B5EF4-FFF2-40B4-BE49-F238E27FC236}">
                  <a16:creationId xmlns:a16="http://schemas.microsoft.com/office/drawing/2014/main" id="{89D0C155-AB3E-FE41-5572-F941464899BF}"/>
                </a:ext>
              </a:extLst>
            </p:cNvPr>
            <p:cNvSpPr/>
            <p:nvPr/>
          </p:nvSpPr>
          <p:spPr>
            <a:xfrm>
              <a:off x="3812177" y="4425183"/>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descr="ALU">
              <a:extLst>
                <a:ext uri="{FF2B5EF4-FFF2-40B4-BE49-F238E27FC236}">
                  <a16:creationId xmlns:a16="http://schemas.microsoft.com/office/drawing/2014/main" id="{4A387FEF-910D-2919-130B-C871842E736E}"/>
                </a:ext>
              </a:extLst>
            </p:cNvPr>
            <p:cNvSpPr/>
            <p:nvPr/>
          </p:nvSpPr>
          <p:spPr>
            <a:xfrm>
              <a:off x="3807821" y="4904157"/>
              <a:ext cx="18288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descr="Boolean Arithmetic">
              <a:extLst>
                <a:ext uri="{FF2B5EF4-FFF2-40B4-BE49-F238E27FC236}">
                  <a16:creationId xmlns:a16="http://schemas.microsoft.com/office/drawing/2014/main" id="{5CBCAA36-47AD-85ED-032A-F5E016C0D0CA}"/>
                </a:ext>
              </a:extLst>
            </p:cNvPr>
            <p:cNvSpPr/>
            <p:nvPr/>
          </p:nvSpPr>
          <p:spPr>
            <a:xfrm>
              <a:off x="3807821" y="5374419"/>
              <a:ext cx="27432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descr="Boolean Logic">
              <a:extLst>
                <a:ext uri="{FF2B5EF4-FFF2-40B4-BE49-F238E27FC236}">
                  <a16:creationId xmlns:a16="http://schemas.microsoft.com/office/drawing/2014/main" id="{9728A165-0F08-09FA-2FD4-A63C1546E266}"/>
                </a:ext>
              </a:extLst>
            </p:cNvPr>
            <p:cNvSpPr/>
            <p:nvPr/>
          </p:nvSpPr>
          <p:spPr>
            <a:xfrm>
              <a:off x="3803465" y="5853393"/>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B3F00BE6-2184-E382-A414-D26ADC01ACCB}"/>
                </a:ext>
              </a:extLst>
            </p:cNvPr>
            <p:cNvSpPr/>
            <p:nvPr/>
          </p:nvSpPr>
          <p:spPr>
            <a:xfrm>
              <a:off x="6546673" y="5383131"/>
              <a:ext cx="18288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descr="Memory Elements">
              <a:extLst>
                <a:ext uri="{FF2B5EF4-FFF2-40B4-BE49-F238E27FC236}">
                  <a16:creationId xmlns:a16="http://schemas.microsoft.com/office/drawing/2014/main" id="{6059A3CD-2DF9-0405-F059-6FE67AB336FE}"/>
                </a:ext>
              </a:extLst>
            </p:cNvPr>
            <p:cNvSpPr/>
            <p:nvPr/>
          </p:nvSpPr>
          <p:spPr>
            <a:xfrm>
              <a:off x="5645332" y="4899801"/>
              <a:ext cx="27432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5A9E4A1-5DA8-0C84-C0FF-62CBBF303C35}"/>
                </a:ext>
                <a:ext uri="{C183D7F6-B498-43B3-948B-1728B52AA6E4}">
                  <adec:decorative xmlns:adec="http://schemas.microsoft.com/office/drawing/2017/decorative" val="1"/>
                </a:ext>
              </a:extLst>
            </p:cNvPr>
            <p:cNvSpPr txBox="1"/>
            <p:nvPr/>
          </p:nvSpPr>
          <p:spPr>
            <a:xfrm>
              <a:off x="5375481" y="1620744"/>
              <a:ext cx="1431610" cy="369332"/>
            </a:xfrm>
            <a:prstGeom prst="rect">
              <a:avLst/>
            </a:prstGeom>
            <a:noFill/>
          </p:spPr>
          <p:txBody>
            <a:bodyPr wrap="none" rtlCol="0">
              <a:spAutoFit/>
            </a:bodyPr>
            <a:lstStyle/>
            <a:p>
              <a:pPr algn="ctr"/>
              <a:r>
                <a:rPr lang="en-US" dirty="0"/>
                <a:t>Applications</a:t>
              </a:r>
            </a:p>
          </p:txBody>
        </p:sp>
        <p:sp>
          <p:nvSpPr>
            <p:cNvPr id="25" name="TextBox 24">
              <a:extLst>
                <a:ext uri="{FF2B5EF4-FFF2-40B4-BE49-F238E27FC236}">
                  <a16:creationId xmlns:a16="http://schemas.microsoft.com/office/drawing/2014/main" id="{B55F648F-6FED-2B24-7CC2-A75B8930E973}"/>
                </a:ext>
                <a:ext uri="{C183D7F6-B498-43B3-948B-1728B52AA6E4}">
                  <adec:decorative xmlns:adec="http://schemas.microsoft.com/office/drawing/2017/decorative" val="1"/>
                </a:ext>
              </a:extLst>
            </p:cNvPr>
            <p:cNvSpPr txBox="1"/>
            <p:nvPr/>
          </p:nvSpPr>
          <p:spPr>
            <a:xfrm>
              <a:off x="4930648" y="2087879"/>
              <a:ext cx="2335063" cy="369332"/>
            </a:xfrm>
            <a:prstGeom prst="rect">
              <a:avLst/>
            </a:prstGeom>
            <a:noFill/>
          </p:spPr>
          <p:txBody>
            <a:bodyPr wrap="none" rtlCol="0">
              <a:spAutoFit/>
            </a:bodyPr>
            <a:lstStyle/>
            <a:p>
              <a:pPr algn="ctr"/>
              <a:r>
                <a:rPr lang="en-US" dirty="0"/>
                <a:t>Runtime Environment</a:t>
              </a:r>
            </a:p>
          </p:txBody>
        </p:sp>
        <p:sp>
          <p:nvSpPr>
            <p:cNvPr id="26" name="TextBox 25">
              <a:extLst>
                <a:ext uri="{FF2B5EF4-FFF2-40B4-BE49-F238E27FC236}">
                  <a16:creationId xmlns:a16="http://schemas.microsoft.com/office/drawing/2014/main" id="{82E97700-B895-2C85-DF27-87AD47EDA07F}"/>
                </a:ext>
                <a:ext uri="{C183D7F6-B498-43B3-948B-1728B52AA6E4}">
                  <adec:decorative xmlns:adec="http://schemas.microsoft.com/office/drawing/2017/decorative" val="1"/>
                </a:ext>
              </a:extLst>
            </p:cNvPr>
            <p:cNvSpPr txBox="1"/>
            <p:nvPr/>
          </p:nvSpPr>
          <p:spPr>
            <a:xfrm>
              <a:off x="5116987" y="2565679"/>
              <a:ext cx="1948611" cy="369332"/>
            </a:xfrm>
            <a:prstGeom prst="rect">
              <a:avLst/>
            </a:prstGeom>
            <a:noFill/>
          </p:spPr>
          <p:txBody>
            <a:bodyPr wrap="none" rtlCol="0">
              <a:spAutoFit/>
            </a:bodyPr>
            <a:lstStyle/>
            <a:p>
              <a:pPr algn="ctr"/>
              <a:r>
                <a:rPr lang="en-US" dirty="0"/>
                <a:t>Operating System</a:t>
              </a:r>
            </a:p>
          </p:txBody>
        </p:sp>
        <p:sp>
          <p:nvSpPr>
            <p:cNvPr id="27" name="TextBox 26">
              <a:extLst>
                <a:ext uri="{FF2B5EF4-FFF2-40B4-BE49-F238E27FC236}">
                  <a16:creationId xmlns:a16="http://schemas.microsoft.com/office/drawing/2014/main" id="{E04D5333-A341-0C67-BC79-CB2484793577}"/>
                </a:ext>
                <a:ext uri="{C183D7F6-B498-43B3-948B-1728B52AA6E4}">
                  <adec:decorative xmlns:adec="http://schemas.microsoft.com/office/drawing/2017/decorative" val="1"/>
                </a:ext>
              </a:extLst>
            </p:cNvPr>
            <p:cNvSpPr txBox="1"/>
            <p:nvPr/>
          </p:nvSpPr>
          <p:spPr>
            <a:xfrm>
              <a:off x="5218003" y="3528591"/>
              <a:ext cx="1741182" cy="369332"/>
            </a:xfrm>
            <a:prstGeom prst="rect">
              <a:avLst/>
            </a:prstGeom>
            <a:noFill/>
          </p:spPr>
          <p:txBody>
            <a:bodyPr wrap="none" rtlCol="0">
              <a:spAutoFit/>
            </a:bodyPr>
            <a:lstStyle/>
            <a:p>
              <a:pPr algn="ctr"/>
              <a:r>
                <a:rPr lang="en-US" dirty="0"/>
                <a:t>Virtual Machine</a:t>
              </a:r>
            </a:p>
          </p:txBody>
        </p:sp>
        <p:sp>
          <p:nvSpPr>
            <p:cNvPr id="28" name="TextBox 27">
              <a:extLst>
                <a:ext uri="{FF2B5EF4-FFF2-40B4-BE49-F238E27FC236}">
                  <a16:creationId xmlns:a16="http://schemas.microsoft.com/office/drawing/2014/main" id="{5A4A1EA6-C7C4-FEC9-98A2-3344C19C262C}"/>
                </a:ext>
                <a:ext uri="{C183D7F6-B498-43B3-948B-1728B52AA6E4}">
                  <adec:decorative xmlns:adec="http://schemas.microsoft.com/office/drawing/2017/decorative" val="1"/>
                </a:ext>
              </a:extLst>
            </p:cNvPr>
            <p:cNvSpPr txBox="1"/>
            <p:nvPr/>
          </p:nvSpPr>
          <p:spPr>
            <a:xfrm>
              <a:off x="5563870" y="3058328"/>
              <a:ext cx="885499" cy="369332"/>
            </a:xfrm>
            <a:prstGeom prst="rect">
              <a:avLst/>
            </a:prstGeom>
            <a:noFill/>
          </p:spPr>
          <p:txBody>
            <a:bodyPr wrap="none" rtlCol="0">
              <a:spAutoFit/>
            </a:bodyPr>
            <a:lstStyle/>
            <a:p>
              <a:pPr algn="ctr"/>
              <a:r>
                <a:rPr lang="en-US" dirty="0"/>
                <a:t>Drivers</a:t>
              </a:r>
            </a:p>
          </p:txBody>
        </p:sp>
        <p:sp>
          <p:nvSpPr>
            <p:cNvPr id="29" name="TextBox 28">
              <a:extLst>
                <a:ext uri="{FF2B5EF4-FFF2-40B4-BE49-F238E27FC236}">
                  <a16:creationId xmlns:a16="http://schemas.microsoft.com/office/drawing/2014/main" id="{BB2299C3-F59E-664D-33D2-4569BB9DB5F5}"/>
                </a:ext>
                <a:ext uri="{C183D7F6-B498-43B3-948B-1728B52AA6E4}">
                  <adec:decorative xmlns:adec="http://schemas.microsoft.com/office/drawing/2017/decorative" val="1"/>
                </a:ext>
              </a:extLst>
            </p:cNvPr>
            <p:cNvSpPr txBox="1"/>
            <p:nvPr/>
          </p:nvSpPr>
          <p:spPr>
            <a:xfrm>
              <a:off x="5071520" y="3981773"/>
              <a:ext cx="2053319" cy="369332"/>
            </a:xfrm>
            <a:prstGeom prst="rect">
              <a:avLst/>
            </a:prstGeom>
            <a:noFill/>
          </p:spPr>
          <p:txBody>
            <a:bodyPr wrap="none" rtlCol="0">
              <a:spAutoFit/>
            </a:bodyPr>
            <a:lstStyle/>
            <a:p>
              <a:pPr algn="ctr"/>
              <a:r>
                <a:rPr lang="en-US" dirty="0"/>
                <a:t>Machine Language</a:t>
              </a:r>
            </a:p>
          </p:txBody>
        </p:sp>
        <p:sp>
          <p:nvSpPr>
            <p:cNvPr id="30" name="TextBox 29">
              <a:extLst>
                <a:ext uri="{FF2B5EF4-FFF2-40B4-BE49-F238E27FC236}">
                  <a16:creationId xmlns:a16="http://schemas.microsoft.com/office/drawing/2014/main" id="{3433AFC5-96E2-0B4D-E0CF-7C554202B9FA}"/>
                </a:ext>
                <a:ext uri="{C183D7F6-B498-43B3-948B-1728B52AA6E4}">
                  <adec:decorative xmlns:adec="http://schemas.microsoft.com/office/drawing/2017/decorative" val="1"/>
                </a:ext>
              </a:extLst>
            </p:cNvPr>
            <p:cNvSpPr txBox="1"/>
            <p:nvPr/>
          </p:nvSpPr>
          <p:spPr>
            <a:xfrm>
              <a:off x="5780627" y="4450476"/>
              <a:ext cx="635110" cy="369332"/>
            </a:xfrm>
            <a:prstGeom prst="rect">
              <a:avLst/>
            </a:prstGeom>
            <a:noFill/>
          </p:spPr>
          <p:txBody>
            <a:bodyPr wrap="none" rtlCol="0">
              <a:spAutoFit/>
            </a:bodyPr>
            <a:lstStyle/>
            <a:p>
              <a:pPr algn="ctr"/>
              <a:r>
                <a:rPr lang="en-US" dirty="0"/>
                <a:t>CPU</a:t>
              </a:r>
            </a:p>
          </p:txBody>
        </p:sp>
        <p:sp>
          <p:nvSpPr>
            <p:cNvPr id="31" name="TextBox 30">
              <a:extLst>
                <a:ext uri="{FF2B5EF4-FFF2-40B4-BE49-F238E27FC236}">
                  <a16:creationId xmlns:a16="http://schemas.microsoft.com/office/drawing/2014/main" id="{8D861AB2-ECBF-4332-9224-CC912CFF6DBB}"/>
                </a:ext>
                <a:ext uri="{C183D7F6-B498-43B3-948B-1728B52AA6E4}">
                  <adec:decorative xmlns:adec="http://schemas.microsoft.com/office/drawing/2017/decorative" val="1"/>
                </a:ext>
              </a:extLst>
            </p:cNvPr>
            <p:cNvSpPr txBox="1"/>
            <p:nvPr/>
          </p:nvSpPr>
          <p:spPr>
            <a:xfrm>
              <a:off x="5305045" y="5896775"/>
              <a:ext cx="1586268" cy="369332"/>
            </a:xfrm>
            <a:prstGeom prst="rect">
              <a:avLst/>
            </a:prstGeom>
            <a:noFill/>
          </p:spPr>
          <p:txBody>
            <a:bodyPr wrap="none" rtlCol="0">
              <a:spAutoFit/>
            </a:bodyPr>
            <a:lstStyle/>
            <a:p>
              <a:pPr algn="ctr"/>
              <a:r>
                <a:rPr lang="en-US" dirty="0"/>
                <a:t>Boolean Logic</a:t>
              </a:r>
            </a:p>
          </p:txBody>
        </p:sp>
        <p:sp>
          <p:nvSpPr>
            <p:cNvPr id="32" name="TextBox 31">
              <a:extLst>
                <a:ext uri="{FF2B5EF4-FFF2-40B4-BE49-F238E27FC236}">
                  <a16:creationId xmlns:a16="http://schemas.microsoft.com/office/drawing/2014/main" id="{452C1BB7-40F1-C519-F381-8D8A0F9C4577}"/>
                </a:ext>
                <a:ext uri="{C183D7F6-B498-43B3-948B-1728B52AA6E4}">
                  <adec:decorative xmlns:adec="http://schemas.microsoft.com/office/drawing/2017/decorative" val="1"/>
                </a:ext>
              </a:extLst>
            </p:cNvPr>
            <p:cNvSpPr txBox="1"/>
            <p:nvPr/>
          </p:nvSpPr>
          <p:spPr>
            <a:xfrm>
              <a:off x="4444604" y="4956798"/>
              <a:ext cx="586443" cy="369332"/>
            </a:xfrm>
            <a:prstGeom prst="rect">
              <a:avLst/>
            </a:prstGeom>
            <a:noFill/>
          </p:spPr>
          <p:txBody>
            <a:bodyPr wrap="none" rtlCol="0">
              <a:spAutoFit/>
            </a:bodyPr>
            <a:lstStyle/>
            <a:p>
              <a:r>
                <a:rPr lang="en-US" dirty="0"/>
                <a:t>ALU</a:t>
              </a:r>
            </a:p>
          </p:txBody>
        </p:sp>
        <p:sp>
          <p:nvSpPr>
            <p:cNvPr id="33" name="TextBox 32">
              <a:extLst>
                <a:ext uri="{FF2B5EF4-FFF2-40B4-BE49-F238E27FC236}">
                  <a16:creationId xmlns:a16="http://schemas.microsoft.com/office/drawing/2014/main" id="{4784CE3D-88D3-8198-9571-BD9647DF4D0F}"/>
                </a:ext>
                <a:ext uri="{C183D7F6-B498-43B3-948B-1728B52AA6E4}">
                  <adec:decorative xmlns:adec="http://schemas.microsoft.com/office/drawing/2017/decorative" val="1"/>
                </a:ext>
              </a:extLst>
            </p:cNvPr>
            <p:cNvSpPr txBox="1"/>
            <p:nvPr/>
          </p:nvSpPr>
          <p:spPr>
            <a:xfrm>
              <a:off x="6006620" y="4942120"/>
              <a:ext cx="1985800" cy="369332"/>
            </a:xfrm>
            <a:prstGeom prst="rect">
              <a:avLst/>
            </a:prstGeom>
            <a:noFill/>
          </p:spPr>
          <p:txBody>
            <a:bodyPr wrap="none" rtlCol="0">
              <a:spAutoFit/>
            </a:bodyPr>
            <a:lstStyle/>
            <a:p>
              <a:pPr algn="ctr"/>
              <a:r>
                <a:rPr lang="en-US" dirty="0"/>
                <a:t>Memory Elements</a:t>
              </a:r>
            </a:p>
          </p:txBody>
        </p:sp>
        <p:sp>
          <p:nvSpPr>
            <p:cNvPr id="34" name="TextBox 33">
              <a:extLst>
                <a:ext uri="{FF2B5EF4-FFF2-40B4-BE49-F238E27FC236}">
                  <a16:creationId xmlns:a16="http://schemas.microsoft.com/office/drawing/2014/main" id="{7CA3FC0A-14E7-BCFF-A235-4328C9368837}"/>
                </a:ext>
                <a:ext uri="{C183D7F6-B498-43B3-948B-1728B52AA6E4}">
                  <adec:decorative xmlns:adec="http://schemas.microsoft.com/office/drawing/2017/decorative" val="1"/>
                </a:ext>
              </a:extLst>
            </p:cNvPr>
            <p:cNvSpPr txBox="1"/>
            <p:nvPr/>
          </p:nvSpPr>
          <p:spPr>
            <a:xfrm>
              <a:off x="4170281" y="5420531"/>
              <a:ext cx="2095445" cy="369332"/>
            </a:xfrm>
            <a:prstGeom prst="rect">
              <a:avLst/>
            </a:prstGeom>
            <a:noFill/>
          </p:spPr>
          <p:txBody>
            <a:bodyPr wrap="none" rtlCol="0">
              <a:spAutoFit/>
            </a:bodyPr>
            <a:lstStyle/>
            <a:p>
              <a:r>
                <a:rPr lang="en-US" dirty="0"/>
                <a:t>Boolean Arithmetic</a:t>
              </a:r>
            </a:p>
          </p:txBody>
        </p:sp>
        <p:sp>
          <p:nvSpPr>
            <p:cNvPr id="35" name="TextBox 34">
              <a:extLst>
                <a:ext uri="{FF2B5EF4-FFF2-40B4-BE49-F238E27FC236}">
                  <a16:creationId xmlns:a16="http://schemas.microsoft.com/office/drawing/2014/main" id="{ADB189A7-3343-0F61-BC22-9FB60BC2AE13}"/>
                </a:ext>
                <a:ext uri="{C183D7F6-B498-43B3-948B-1728B52AA6E4}">
                  <adec:decorative xmlns:adec="http://schemas.microsoft.com/office/drawing/2017/decorative" val="1"/>
                </a:ext>
              </a:extLst>
            </p:cNvPr>
            <p:cNvSpPr txBox="1"/>
            <p:nvPr/>
          </p:nvSpPr>
          <p:spPr>
            <a:xfrm>
              <a:off x="6551046" y="5433210"/>
              <a:ext cx="1833131" cy="369332"/>
            </a:xfrm>
            <a:prstGeom prst="rect">
              <a:avLst/>
            </a:prstGeom>
            <a:noFill/>
          </p:spPr>
          <p:txBody>
            <a:bodyPr wrap="none" rtlCol="0">
              <a:spAutoFit/>
            </a:bodyPr>
            <a:lstStyle/>
            <a:p>
              <a:r>
                <a:rPr lang="en-US" dirty="0"/>
                <a:t>Sequential Logic</a:t>
              </a:r>
            </a:p>
          </p:txBody>
        </p:sp>
      </p:grpSp>
    </p:spTree>
    <p:extLst>
      <p:ext uri="{BB962C8B-B14F-4D97-AF65-F5344CB8AC3E}">
        <p14:creationId xmlns:p14="http://schemas.microsoft.com/office/powerpoint/2010/main" val="95363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1FD68A-573B-97C8-4656-01B7B5038946}"/>
              </a:ext>
            </a:extLst>
          </p:cNvPr>
          <p:cNvSpPr>
            <a:spLocks noGrp="1"/>
          </p:cNvSpPr>
          <p:nvPr>
            <p:ph type="title"/>
          </p:nvPr>
        </p:nvSpPr>
        <p:spPr/>
        <p:txBody>
          <a:bodyPr/>
          <a:lstStyle/>
          <a:p>
            <a:r>
              <a:rPr lang="en-US" dirty="0"/>
              <a:t>Machine language, assembler, and higher-level languages</a:t>
            </a:r>
          </a:p>
        </p:txBody>
      </p:sp>
      <p:sp>
        <p:nvSpPr>
          <p:cNvPr id="4" name="Content Placeholder 3">
            <a:extLst>
              <a:ext uri="{FF2B5EF4-FFF2-40B4-BE49-F238E27FC236}">
                <a16:creationId xmlns:a16="http://schemas.microsoft.com/office/drawing/2014/main" id="{ECDE92F7-9502-CB7F-31B9-7FCE4D523055}"/>
              </a:ext>
            </a:extLst>
          </p:cNvPr>
          <p:cNvSpPr>
            <a:spLocks noGrp="1"/>
          </p:cNvSpPr>
          <p:nvPr>
            <p:ph idx="1"/>
          </p:nvPr>
        </p:nvSpPr>
        <p:spPr/>
        <p:txBody>
          <a:bodyPr>
            <a:normAutofit lnSpcReduction="10000"/>
          </a:bodyPr>
          <a:lstStyle/>
          <a:p>
            <a:pPr marL="0" indent="0">
              <a:buNone/>
            </a:pPr>
            <a:r>
              <a:rPr lang="en-US" dirty="0"/>
              <a:t>A computer executes </a:t>
            </a:r>
            <a:r>
              <a:rPr lang="en-US" b="1" dirty="0"/>
              <a:t>machine instructions</a:t>
            </a:r>
            <a:r>
              <a:rPr lang="en-US" dirty="0"/>
              <a:t>, which are very tedious to generate by hand</a:t>
            </a:r>
          </a:p>
          <a:p>
            <a:pPr marL="0" indent="0">
              <a:buNone/>
            </a:pPr>
            <a:r>
              <a:rPr lang="en-US" dirty="0"/>
              <a:t>An </a:t>
            </a:r>
            <a:r>
              <a:rPr lang="en-US" b="1" dirty="0"/>
              <a:t>assembler</a:t>
            </a:r>
            <a:r>
              <a:rPr lang="en-US" dirty="0"/>
              <a:t> is a low-level programming language that eases the task of writing machine instructions</a:t>
            </a:r>
          </a:p>
          <a:p>
            <a:pPr marL="0" indent="0">
              <a:buNone/>
            </a:pPr>
            <a:r>
              <a:rPr lang="en-US" dirty="0"/>
              <a:t>A </a:t>
            </a:r>
            <a:r>
              <a:rPr lang="en-US" b="1" dirty="0"/>
              <a:t>high-level language</a:t>
            </a:r>
            <a:r>
              <a:rPr lang="en-US" dirty="0"/>
              <a:t> allows a programmer to write a program independent of the instruction set architecture</a:t>
            </a:r>
          </a:p>
          <a:p>
            <a:pPr marL="0" indent="0">
              <a:buNone/>
            </a:pPr>
            <a:endParaRPr lang="en-US" dirty="0"/>
          </a:p>
          <a:p>
            <a:pPr marL="0" indent="0">
              <a:buNone/>
            </a:pPr>
            <a:r>
              <a:rPr lang="en-US" dirty="0"/>
              <a:t>Example: computing Fibonacci numbers</a:t>
            </a:r>
          </a:p>
          <a:p>
            <a:pPr marL="457200" lvl="1" indent="0">
              <a:buNone/>
            </a:pPr>
            <a:r>
              <a:rPr lang="en-US" dirty="0" err="1"/>
              <a:t>fibo</a:t>
            </a:r>
            <a:r>
              <a:rPr lang="en-US" dirty="0"/>
              <a:t>(0) = 0, </a:t>
            </a:r>
            <a:r>
              <a:rPr lang="en-US" dirty="0" err="1"/>
              <a:t>fibo</a:t>
            </a:r>
            <a:r>
              <a:rPr lang="en-US" dirty="0"/>
              <a:t>(1) = 1, </a:t>
            </a:r>
            <a:r>
              <a:rPr lang="en-US" dirty="0" err="1"/>
              <a:t>fibo</a:t>
            </a:r>
            <a:r>
              <a:rPr lang="en-US" dirty="0"/>
              <a:t>(n &gt; 2) = </a:t>
            </a:r>
            <a:r>
              <a:rPr lang="en-US" dirty="0" err="1"/>
              <a:t>fibo</a:t>
            </a:r>
            <a:r>
              <a:rPr lang="en-US" dirty="0"/>
              <a:t>(n-1) + </a:t>
            </a:r>
            <a:r>
              <a:rPr lang="en-US" dirty="0" err="1"/>
              <a:t>fibo</a:t>
            </a:r>
            <a:r>
              <a:rPr lang="en-US" dirty="0"/>
              <a:t>(n-2)</a:t>
            </a:r>
          </a:p>
          <a:p>
            <a:pPr marL="457200" lvl="1" indent="0">
              <a:buNone/>
            </a:pPr>
            <a:r>
              <a:rPr lang="en-US" dirty="0"/>
              <a:t>0, 1, 1, 2, 3, 5, 8, 13, 21, 34, 55 …</a:t>
            </a:r>
          </a:p>
        </p:txBody>
      </p:sp>
    </p:spTree>
    <p:extLst>
      <p:ext uri="{BB962C8B-B14F-4D97-AF65-F5344CB8AC3E}">
        <p14:creationId xmlns:p14="http://schemas.microsoft.com/office/powerpoint/2010/main" val="3726988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CEAC9D-6DAB-F364-D120-398C3D2FA3B3}"/>
              </a:ext>
            </a:extLst>
          </p:cNvPr>
          <p:cNvSpPr/>
          <p:nvPr/>
        </p:nvSpPr>
        <p:spPr>
          <a:xfrm>
            <a:off x="1259601" y="6058108"/>
            <a:ext cx="2753360" cy="61415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When would one want to program in assembly?</a:t>
            </a:r>
          </a:p>
        </p:txBody>
      </p:sp>
      <p:sp>
        <p:nvSpPr>
          <p:cNvPr id="2" name="Content Placeholder 5">
            <a:extLst>
              <a:ext uri="{FF2B5EF4-FFF2-40B4-BE49-F238E27FC236}">
                <a16:creationId xmlns:a16="http://schemas.microsoft.com/office/drawing/2014/main" id="{C7C345F6-531B-320F-3CD4-F5D1214CE428}"/>
              </a:ext>
            </a:extLst>
          </p:cNvPr>
          <p:cNvSpPr txBox="1">
            <a:spLocks/>
          </p:cNvSpPr>
          <p:nvPr/>
        </p:nvSpPr>
        <p:spPr>
          <a:xfrm>
            <a:off x="9695076" y="1990293"/>
            <a:ext cx="1484988" cy="3978094"/>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Consolas" panose="020B0609020204030204" pitchFamily="49" charset="0"/>
              </a:rPr>
              <a:t>E92D4010</a:t>
            </a:r>
          </a:p>
          <a:p>
            <a:pPr marL="0" indent="0" algn="ctr">
              <a:spcBef>
                <a:spcPts val="0"/>
              </a:spcBef>
              <a:buFont typeface="Arial" panose="020B0604020202020204" pitchFamily="34" charset="0"/>
              <a:buNone/>
            </a:pPr>
            <a:r>
              <a:rPr lang="en-US" sz="2000" dirty="0">
                <a:latin typeface="Consolas" panose="020B0609020204030204" pitchFamily="49" charset="0"/>
              </a:rPr>
              <a:t>E3A02000</a:t>
            </a:r>
          </a:p>
          <a:p>
            <a:pPr marL="0" indent="0" algn="ctr">
              <a:spcBef>
                <a:spcPts val="0"/>
              </a:spcBef>
              <a:buFont typeface="Arial" panose="020B0604020202020204" pitchFamily="34" charset="0"/>
              <a:buNone/>
            </a:pPr>
            <a:r>
              <a:rPr lang="en-US" sz="2000" dirty="0">
                <a:latin typeface="Consolas" panose="020B0609020204030204" pitchFamily="49" charset="0"/>
              </a:rPr>
              <a:t>E3500001</a:t>
            </a:r>
          </a:p>
          <a:p>
            <a:pPr marL="0" indent="0" algn="ctr">
              <a:spcBef>
                <a:spcPts val="0"/>
              </a:spcBef>
              <a:buFont typeface="Arial" panose="020B0604020202020204" pitchFamily="34" charset="0"/>
              <a:buNone/>
            </a:pPr>
            <a:r>
              <a:rPr lang="en-US" sz="2000" dirty="0">
                <a:latin typeface="Consolas" panose="020B0609020204030204" pitchFamily="49" charset="0"/>
              </a:rPr>
              <a:t>DA000009</a:t>
            </a:r>
          </a:p>
          <a:p>
            <a:pPr marL="0" indent="0" algn="ctr">
              <a:spcBef>
                <a:spcPts val="0"/>
              </a:spcBef>
              <a:buFont typeface="Arial" panose="020B0604020202020204" pitchFamily="34" charset="0"/>
              <a:buNone/>
            </a:pPr>
            <a:r>
              <a:rPr lang="en-US" sz="2000" dirty="0">
                <a:latin typeface="Consolas" panose="020B0609020204030204" pitchFamily="49" charset="0"/>
              </a:rPr>
              <a:t>E3A04000</a:t>
            </a:r>
          </a:p>
          <a:p>
            <a:pPr marL="0" indent="0" algn="ctr">
              <a:spcBef>
                <a:spcPts val="0"/>
              </a:spcBef>
              <a:buFont typeface="Arial" panose="020B0604020202020204" pitchFamily="34" charset="0"/>
              <a:buNone/>
            </a:pPr>
            <a:r>
              <a:rPr lang="en-US" sz="2000" dirty="0">
                <a:latin typeface="Consolas" panose="020B0609020204030204" pitchFamily="49" charset="0"/>
              </a:rPr>
              <a:t>E3A01001</a:t>
            </a:r>
          </a:p>
          <a:p>
            <a:pPr marL="0" indent="0" algn="ctr">
              <a:spcBef>
                <a:spcPts val="0"/>
              </a:spcBef>
              <a:buFont typeface="Arial" panose="020B0604020202020204" pitchFamily="34" charset="0"/>
              <a:buNone/>
            </a:pPr>
            <a:r>
              <a:rPr lang="en-US" sz="2000" dirty="0">
                <a:latin typeface="Consolas" panose="020B0609020204030204" pitchFamily="49" charset="0"/>
              </a:rPr>
              <a:t>E0842001</a:t>
            </a:r>
          </a:p>
          <a:p>
            <a:pPr marL="0" indent="0" algn="ctr">
              <a:spcBef>
                <a:spcPts val="0"/>
              </a:spcBef>
              <a:buFont typeface="Arial" panose="020B0604020202020204" pitchFamily="34" charset="0"/>
              <a:buNone/>
            </a:pPr>
            <a:r>
              <a:rPr lang="en-US" sz="2000" dirty="0">
                <a:latin typeface="Consolas" panose="020B0609020204030204" pitchFamily="49" charset="0"/>
              </a:rPr>
              <a:t>E1A04001</a:t>
            </a:r>
          </a:p>
          <a:p>
            <a:pPr marL="0" indent="0" algn="ctr">
              <a:spcBef>
                <a:spcPts val="0"/>
              </a:spcBef>
              <a:buFont typeface="Arial" panose="020B0604020202020204" pitchFamily="34" charset="0"/>
              <a:buNone/>
            </a:pPr>
            <a:r>
              <a:rPr lang="en-US" sz="2000" dirty="0">
                <a:latin typeface="Consolas" panose="020B0609020204030204" pitchFamily="49" charset="0"/>
              </a:rPr>
              <a:t>E1A01002</a:t>
            </a:r>
          </a:p>
          <a:p>
            <a:pPr marL="0" indent="0" algn="ctr">
              <a:spcBef>
                <a:spcPts val="0"/>
              </a:spcBef>
              <a:buFont typeface="Arial" panose="020B0604020202020204" pitchFamily="34" charset="0"/>
              <a:buNone/>
            </a:pPr>
            <a:r>
              <a:rPr lang="en-US" sz="2000" dirty="0">
                <a:latin typeface="Consolas" panose="020B0609020204030204" pitchFamily="49" charset="0"/>
              </a:rPr>
              <a:t>E2400001</a:t>
            </a:r>
          </a:p>
          <a:p>
            <a:pPr marL="0" indent="0" algn="ctr">
              <a:spcBef>
                <a:spcPts val="0"/>
              </a:spcBef>
              <a:buFont typeface="Arial" panose="020B0604020202020204" pitchFamily="34" charset="0"/>
              <a:buNone/>
            </a:pPr>
            <a:r>
              <a:rPr lang="en-US" sz="2000" dirty="0">
                <a:latin typeface="Consolas" panose="020B0609020204030204" pitchFamily="49" charset="0"/>
              </a:rPr>
              <a:t>E3500001</a:t>
            </a:r>
          </a:p>
          <a:p>
            <a:pPr marL="0" indent="0" algn="ctr">
              <a:spcBef>
                <a:spcPts val="0"/>
              </a:spcBef>
              <a:buFont typeface="Arial" panose="020B0604020202020204" pitchFamily="34" charset="0"/>
              <a:buNone/>
            </a:pPr>
            <a:r>
              <a:rPr lang="en-US" sz="2000" dirty="0">
                <a:latin typeface="Consolas" panose="020B0609020204030204" pitchFamily="49" charset="0"/>
              </a:rPr>
              <a:t>CAFFFFFB</a:t>
            </a:r>
          </a:p>
          <a:p>
            <a:pPr marL="0" indent="0" algn="ctr">
              <a:spcBef>
                <a:spcPts val="0"/>
              </a:spcBef>
              <a:buFont typeface="Arial" panose="020B0604020202020204" pitchFamily="34" charset="0"/>
              <a:buNone/>
            </a:pPr>
            <a:r>
              <a:rPr lang="en-US" sz="2000" dirty="0">
                <a:latin typeface="Consolas" panose="020B0609020204030204" pitchFamily="49" charset="0"/>
              </a:rPr>
              <a:t>E1A00002</a:t>
            </a:r>
          </a:p>
          <a:p>
            <a:pPr marL="0" indent="0" algn="ctr">
              <a:spcBef>
                <a:spcPts val="0"/>
              </a:spcBef>
              <a:buFont typeface="Arial" panose="020B0604020202020204" pitchFamily="34" charset="0"/>
              <a:buNone/>
            </a:pPr>
            <a:r>
              <a:rPr lang="en-US" sz="2000" dirty="0">
                <a:latin typeface="Consolas" panose="020B0609020204030204" pitchFamily="49" charset="0"/>
              </a:rPr>
              <a:t>E8BD8010</a:t>
            </a:r>
          </a:p>
        </p:txBody>
      </p:sp>
      <p:sp>
        <p:nvSpPr>
          <p:cNvPr id="3" name="TextBox 2">
            <a:extLst>
              <a:ext uri="{FF2B5EF4-FFF2-40B4-BE49-F238E27FC236}">
                <a16:creationId xmlns:a16="http://schemas.microsoft.com/office/drawing/2014/main" id="{5FBEA175-FEEF-064E-F561-7BC060C4151A}"/>
              </a:ext>
            </a:extLst>
          </p:cNvPr>
          <p:cNvSpPr txBox="1"/>
          <p:nvPr/>
        </p:nvSpPr>
        <p:spPr>
          <a:xfrm>
            <a:off x="9605643" y="1315283"/>
            <a:ext cx="1663853" cy="584775"/>
          </a:xfrm>
          <a:prstGeom prst="rect">
            <a:avLst/>
          </a:prstGeom>
          <a:noFill/>
        </p:spPr>
        <p:txBody>
          <a:bodyPr wrap="none" rtlCol="0">
            <a:spAutoFit/>
          </a:bodyPr>
          <a:lstStyle/>
          <a:p>
            <a:r>
              <a:rPr lang="en-US" sz="3200" dirty="0"/>
              <a:t>ARM ISA</a:t>
            </a:r>
          </a:p>
        </p:txBody>
      </p:sp>
      <p:sp>
        <p:nvSpPr>
          <p:cNvPr id="6" name="Content Placeholder 5">
            <a:extLst>
              <a:ext uri="{FF2B5EF4-FFF2-40B4-BE49-F238E27FC236}">
                <a16:creationId xmlns:a16="http://schemas.microsoft.com/office/drawing/2014/main" id="{77B01EFC-7A34-2A77-BDFC-CF78446EF6E5}"/>
              </a:ext>
            </a:extLst>
          </p:cNvPr>
          <p:cNvSpPr>
            <a:spLocks noGrp="1"/>
          </p:cNvSpPr>
          <p:nvPr>
            <p:ph sz="half" idx="2"/>
          </p:nvPr>
        </p:nvSpPr>
        <p:spPr>
          <a:xfrm>
            <a:off x="4655127" y="1954055"/>
            <a:ext cx="4336473" cy="4801410"/>
          </a:xfrm>
          <a:ln>
            <a:solidFill>
              <a:schemeClr val="accent1"/>
            </a:solidFill>
          </a:ln>
        </p:spPr>
        <p:txBody>
          <a:bodyPr>
            <a:noAutofit/>
          </a:bodyPr>
          <a:lstStyle/>
          <a:p>
            <a:pPr marL="0" indent="0">
              <a:spcBef>
                <a:spcPts val="0"/>
              </a:spcBef>
              <a:buNone/>
            </a:pPr>
            <a:r>
              <a:rPr lang="en-US" sz="2000" dirty="0" err="1">
                <a:latin typeface="Consolas" panose="020B0609020204030204" pitchFamily="49" charset="0"/>
              </a:rPr>
              <a:t>fibo</a:t>
            </a:r>
            <a:r>
              <a:rPr lang="en-US" sz="2000" dirty="0">
                <a:latin typeface="Consolas" panose="020B0609020204030204" pitchFamily="49" charset="0"/>
              </a:rPr>
              <a:t>:</a:t>
            </a:r>
          </a:p>
          <a:p>
            <a:pPr marL="0" indent="0">
              <a:spcBef>
                <a:spcPts val="0"/>
              </a:spcBef>
              <a:buNone/>
            </a:pPr>
            <a:r>
              <a:rPr lang="en-US" sz="2000" dirty="0">
                <a:latin typeface="Consolas" panose="020B0609020204030204" pitchFamily="49" charset="0"/>
              </a:rPr>
              <a:t>  push {r4, </a:t>
            </a:r>
            <a:r>
              <a:rPr lang="en-US" sz="2000" dirty="0" err="1">
                <a:latin typeface="Consolas" panose="020B0609020204030204" pitchFamily="49" charset="0"/>
              </a:rPr>
              <a:t>lr</a:t>
            </a:r>
            <a:r>
              <a:rPr lang="en-US" sz="2000" dirty="0">
                <a:latin typeface="Consolas" panose="020B0609020204030204" pitchFamily="49" charset="0"/>
              </a:rPr>
              <a:t>}</a:t>
            </a:r>
          </a:p>
          <a:p>
            <a:pPr marL="0" indent="0">
              <a:spcBef>
                <a:spcPts val="0"/>
              </a:spcBef>
              <a:buNone/>
            </a:pPr>
            <a:r>
              <a:rPr lang="en-US" sz="2000" dirty="0">
                <a:latin typeface="Consolas" panose="020B0609020204030204" pitchFamily="49" charset="0"/>
              </a:rPr>
              <a:t>  mov r2, #0     ;f=0</a:t>
            </a:r>
          </a:p>
          <a:p>
            <a:pPr marL="0" indent="0">
              <a:spcBef>
                <a:spcPts val="0"/>
              </a:spcBef>
              <a:buNone/>
            </a:pPr>
            <a:r>
              <a:rPr lang="en-US" sz="2000" dirty="0">
                <a:latin typeface="Consolas" panose="020B0609020204030204" pitchFamily="49" charset="0"/>
              </a:rPr>
              <a:t>  </a:t>
            </a:r>
            <a:r>
              <a:rPr lang="en-US" sz="2000" dirty="0" err="1">
                <a:latin typeface="Consolas" panose="020B0609020204030204" pitchFamily="49" charset="0"/>
              </a:rPr>
              <a:t>cmp</a:t>
            </a:r>
            <a:r>
              <a:rPr lang="en-US" sz="2000" dirty="0">
                <a:latin typeface="Consolas" panose="020B0609020204030204" pitchFamily="49" charset="0"/>
              </a:rPr>
              <a:t> r0, #0     ;r0 is n</a:t>
            </a:r>
          </a:p>
          <a:p>
            <a:pPr marL="0" indent="0">
              <a:spcBef>
                <a:spcPts val="0"/>
              </a:spcBef>
              <a:buNone/>
            </a:pPr>
            <a:r>
              <a:rPr lang="en-US" sz="2000" dirty="0">
                <a:latin typeface="Consolas" panose="020B0609020204030204" pitchFamily="49" charset="0"/>
              </a:rPr>
              <a:t>  </a:t>
            </a:r>
            <a:r>
              <a:rPr lang="en-US" sz="2000" dirty="0" err="1">
                <a:latin typeface="Consolas" panose="020B0609020204030204" pitchFamily="49" charset="0"/>
              </a:rPr>
              <a:t>ble</a:t>
            </a:r>
            <a:r>
              <a:rPr lang="en-US" sz="2000" dirty="0">
                <a:latin typeface="Consolas" panose="020B0609020204030204" pitchFamily="49" charset="0"/>
              </a:rPr>
              <a:t> </a:t>
            </a:r>
            <a:r>
              <a:rPr lang="en-US" sz="2000" dirty="0" err="1">
                <a:latin typeface="Consolas" panose="020B0609020204030204" pitchFamily="49" charset="0"/>
              </a:rPr>
              <a:t>end_fibo</a:t>
            </a:r>
            <a:endParaRPr lang="en-US" sz="2000" dirty="0">
              <a:latin typeface="Consolas" panose="020B0609020204030204" pitchFamily="49" charset="0"/>
            </a:endParaRPr>
          </a:p>
          <a:p>
            <a:pPr marL="0" indent="0">
              <a:spcBef>
                <a:spcPts val="0"/>
              </a:spcBef>
              <a:buNone/>
            </a:pPr>
            <a:r>
              <a:rPr lang="en-US" sz="2000" dirty="0">
                <a:latin typeface="Consolas" panose="020B0609020204030204" pitchFamily="49" charset="0"/>
              </a:rPr>
              <a:t>  mov r4, #0     ;f0=0</a:t>
            </a:r>
          </a:p>
          <a:p>
            <a:pPr marL="0" indent="0">
              <a:spcBef>
                <a:spcPts val="0"/>
              </a:spcBef>
              <a:buNone/>
            </a:pPr>
            <a:r>
              <a:rPr lang="en-US" sz="2000" dirty="0">
                <a:latin typeface="Consolas" panose="020B0609020204030204" pitchFamily="49" charset="0"/>
              </a:rPr>
              <a:t>  mov r1, #1     ;f1=1</a:t>
            </a:r>
          </a:p>
          <a:p>
            <a:pPr marL="0" indent="0">
              <a:spcBef>
                <a:spcPts val="0"/>
              </a:spcBef>
              <a:buNone/>
            </a:pPr>
            <a:r>
              <a:rPr lang="en-US" sz="2000" dirty="0" err="1">
                <a:latin typeface="Consolas" panose="020B0609020204030204" pitchFamily="49" charset="0"/>
              </a:rPr>
              <a:t>fibo_loop</a:t>
            </a:r>
            <a:r>
              <a:rPr lang="en-US" sz="2000" dirty="0">
                <a:latin typeface="Consolas" panose="020B0609020204030204" pitchFamily="49" charset="0"/>
              </a:rPr>
              <a:t>:</a:t>
            </a:r>
          </a:p>
          <a:p>
            <a:pPr marL="0" indent="0">
              <a:spcBef>
                <a:spcPts val="0"/>
              </a:spcBef>
              <a:buNone/>
            </a:pPr>
            <a:r>
              <a:rPr lang="en-US" sz="2000" dirty="0">
                <a:latin typeface="Consolas" panose="020B0609020204030204" pitchFamily="49" charset="0"/>
              </a:rPr>
              <a:t>  add r2, r4, r1 ;f=f1+f2</a:t>
            </a:r>
          </a:p>
          <a:p>
            <a:pPr marL="0" indent="0">
              <a:spcBef>
                <a:spcPts val="0"/>
              </a:spcBef>
              <a:buNone/>
            </a:pPr>
            <a:r>
              <a:rPr lang="en-US" sz="2000" dirty="0">
                <a:latin typeface="Consolas" panose="020B0609020204030204" pitchFamily="49" charset="0"/>
              </a:rPr>
              <a:t>  mov r4, r1     ;f0=f1</a:t>
            </a:r>
          </a:p>
          <a:p>
            <a:pPr marL="0" indent="0">
              <a:spcBef>
                <a:spcPts val="0"/>
              </a:spcBef>
              <a:buNone/>
            </a:pPr>
            <a:r>
              <a:rPr lang="en-US" sz="2000" dirty="0">
                <a:latin typeface="Consolas" panose="020B0609020204030204" pitchFamily="49" charset="0"/>
              </a:rPr>
              <a:t>  mov r1, r2     ;f1=f</a:t>
            </a:r>
          </a:p>
          <a:p>
            <a:pPr marL="0" indent="0">
              <a:spcBef>
                <a:spcPts val="0"/>
              </a:spcBef>
              <a:buNone/>
            </a:pPr>
            <a:r>
              <a:rPr lang="en-US" sz="2000" dirty="0">
                <a:latin typeface="Consolas" panose="020B0609020204030204" pitchFamily="49" charset="0"/>
              </a:rPr>
              <a:t>  sub r0, r0, #1</a:t>
            </a:r>
          </a:p>
          <a:p>
            <a:pPr marL="0" indent="0">
              <a:spcBef>
                <a:spcPts val="0"/>
              </a:spcBef>
              <a:buNone/>
            </a:pPr>
            <a:r>
              <a:rPr lang="en-US" sz="2000" dirty="0">
                <a:latin typeface="Consolas" panose="020B0609020204030204" pitchFamily="49" charset="0"/>
              </a:rPr>
              <a:t>  </a:t>
            </a:r>
            <a:r>
              <a:rPr lang="en-US" sz="2000" dirty="0" err="1">
                <a:latin typeface="Consolas" panose="020B0609020204030204" pitchFamily="49" charset="0"/>
              </a:rPr>
              <a:t>cmp</a:t>
            </a:r>
            <a:r>
              <a:rPr lang="en-US" sz="2000" dirty="0">
                <a:latin typeface="Consolas" panose="020B0609020204030204" pitchFamily="49" charset="0"/>
              </a:rPr>
              <a:t> r0, #1</a:t>
            </a:r>
          </a:p>
          <a:p>
            <a:pPr marL="0" indent="0">
              <a:spcBef>
                <a:spcPts val="0"/>
              </a:spcBef>
              <a:buNone/>
            </a:pPr>
            <a:r>
              <a:rPr lang="en-US" sz="2000" dirty="0">
                <a:latin typeface="Consolas" panose="020B0609020204030204" pitchFamily="49" charset="0"/>
              </a:rPr>
              <a:t>  </a:t>
            </a:r>
            <a:r>
              <a:rPr lang="en-US" sz="2000" dirty="0" err="1">
                <a:latin typeface="Consolas" panose="020B0609020204030204" pitchFamily="49" charset="0"/>
              </a:rPr>
              <a:t>bgt</a:t>
            </a:r>
            <a:r>
              <a:rPr lang="en-US" sz="2000" dirty="0">
                <a:latin typeface="Consolas" panose="020B0609020204030204" pitchFamily="49" charset="0"/>
              </a:rPr>
              <a:t> </a:t>
            </a:r>
            <a:r>
              <a:rPr lang="en-US" sz="2000" dirty="0" err="1">
                <a:latin typeface="Consolas" panose="020B0609020204030204" pitchFamily="49" charset="0"/>
              </a:rPr>
              <a:t>fibo_loop</a:t>
            </a:r>
            <a:endParaRPr lang="en-US" sz="2000" dirty="0">
              <a:latin typeface="Consolas" panose="020B0609020204030204" pitchFamily="49" charset="0"/>
            </a:endParaRPr>
          </a:p>
          <a:p>
            <a:pPr marL="0" indent="0">
              <a:spcBef>
                <a:spcPts val="0"/>
              </a:spcBef>
              <a:buNone/>
            </a:pPr>
            <a:r>
              <a:rPr lang="en-US" sz="2000" dirty="0" err="1">
                <a:latin typeface="Consolas" panose="020B0609020204030204" pitchFamily="49" charset="0"/>
              </a:rPr>
              <a:t>end_fibo</a:t>
            </a:r>
            <a:r>
              <a:rPr lang="en-US" sz="2000" dirty="0">
                <a:latin typeface="Consolas" panose="020B0609020204030204" pitchFamily="49" charset="0"/>
              </a:rPr>
              <a:t>:</a:t>
            </a:r>
          </a:p>
          <a:p>
            <a:pPr marL="0" indent="0">
              <a:spcBef>
                <a:spcPts val="0"/>
              </a:spcBef>
              <a:buNone/>
            </a:pPr>
            <a:r>
              <a:rPr lang="en-US" sz="2000" dirty="0">
                <a:latin typeface="Consolas" panose="020B0609020204030204" pitchFamily="49" charset="0"/>
              </a:rPr>
              <a:t>  mov r0, r2      ;return f</a:t>
            </a:r>
          </a:p>
          <a:p>
            <a:pPr marL="0" indent="0">
              <a:spcBef>
                <a:spcPts val="0"/>
              </a:spcBef>
              <a:buNone/>
            </a:pPr>
            <a:r>
              <a:rPr lang="en-US" sz="2000" dirty="0">
                <a:latin typeface="Consolas" panose="020B0609020204030204" pitchFamily="49" charset="0"/>
              </a:rPr>
              <a:t>  pop {r4, pc}</a:t>
            </a:r>
          </a:p>
          <a:p>
            <a:pPr marL="0" indent="0">
              <a:spcBef>
                <a:spcPts val="0"/>
              </a:spcBef>
              <a:buNone/>
            </a:pPr>
            <a:endParaRPr lang="en-US" sz="2000" dirty="0">
              <a:latin typeface="Consolas" panose="020B0609020204030204" pitchFamily="49" charset="0"/>
            </a:endParaRPr>
          </a:p>
        </p:txBody>
      </p:sp>
      <p:sp>
        <p:nvSpPr>
          <p:cNvPr id="10" name="TextBox 9">
            <a:extLst>
              <a:ext uri="{FF2B5EF4-FFF2-40B4-BE49-F238E27FC236}">
                <a16:creationId xmlns:a16="http://schemas.microsoft.com/office/drawing/2014/main" id="{06133C8C-00F5-9D2F-0ADF-144F61335A5D}"/>
              </a:ext>
            </a:extLst>
          </p:cNvPr>
          <p:cNvSpPr txBox="1"/>
          <p:nvPr/>
        </p:nvSpPr>
        <p:spPr>
          <a:xfrm>
            <a:off x="5027379" y="1315283"/>
            <a:ext cx="2817631" cy="584775"/>
          </a:xfrm>
          <a:prstGeom prst="rect">
            <a:avLst/>
          </a:prstGeom>
          <a:noFill/>
        </p:spPr>
        <p:txBody>
          <a:bodyPr wrap="none" rtlCol="0">
            <a:spAutoFit/>
          </a:bodyPr>
          <a:lstStyle/>
          <a:p>
            <a:r>
              <a:rPr lang="en-US" sz="3200" dirty="0"/>
              <a:t>ARM Assembly</a:t>
            </a:r>
          </a:p>
        </p:txBody>
      </p:sp>
      <p:sp>
        <p:nvSpPr>
          <p:cNvPr id="5" name="Content Placeholder 4">
            <a:extLst>
              <a:ext uri="{FF2B5EF4-FFF2-40B4-BE49-F238E27FC236}">
                <a16:creationId xmlns:a16="http://schemas.microsoft.com/office/drawing/2014/main" id="{8BCE1402-7865-FD97-0F58-6EAFD99B2028}"/>
              </a:ext>
            </a:extLst>
          </p:cNvPr>
          <p:cNvSpPr>
            <a:spLocks noGrp="1"/>
          </p:cNvSpPr>
          <p:nvPr>
            <p:ph sz="half" idx="1"/>
          </p:nvPr>
        </p:nvSpPr>
        <p:spPr>
          <a:xfrm>
            <a:off x="807458" y="1984196"/>
            <a:ext cx="3168194" cy="3185538"/>
          </a:xfrm>
          <a:ln>
            <a:solidFill>
              <a:schemeClr val="accent1"/>
            </a:solidFill>
          </a:ln>
        </p:spPr>
        <p:txBody>
          <a:bodyPr>
            <a:noAutofit/>
          </a:bodyPr>
          <a:lstStyle/>
          <a:p>
            <a:pPr marL="0" indent="0">
              <a:spcBef>
                <a:spcPts val="0"/>
              </a:spcBef>
              <a:buNone/>
            </a:pPr>
            <a:r>
              <a:rPr lang="en-US" sz="2000" dirty="0">
                <a:latin typeface="Consolas" panose="020B0609020204030204" pitchFamily="49" charset="0"/>
                <a:cs typeface="Consolas" panose="020B0609020204030204" pitchFamily="49" charset="0"/>
              </a:rPr>
              <a:t>def </a:t>
            </a:r>
            <a:r>
              <a:rPr lang="en-US" sz="2000" dirty="0" err="1">
                <a:latin typeface="Consolas" panose="020B0609020204030204" pitchFamily="49" charset="0"/>
                <a:cs typeface="Consolas" panose="020B0609020204030204" pitchFamily="49" charset="0"/>
              </a:rPr>
              <a:t>fibo</a:t>
            </a:r>
            <a:r>
              <a:rPr lang="en-US" sz="2000" dirty="0">
                <a:latin typeface="Consolas" panose="020B0609020204030204" pitchFamily="49" charset="0"/>
                <a:cs typeface="Consolas" panose="020B0609020204030204" pitchFamily="49" charset="0"/>
              </a:rPr>
              <a:t>(n):</a:t>
            </a:r>
          </a:p>
          <a:p>
            <a:pPr marL="0" indent="0">
              <a:spcBef>
                <a:spcPts val="0"/>
              </a:spcBef>
              <a:buNone/>
            </a:pPr>
            <a:r>
              <a:rPr lang="en-US" sz="2000" dirty="0">
                <a:latin typeface="Consolas" panose="020B0609020204030204" pitchFamily="49" charset="0"/>
                <a:cs typeface="Consolas" panose="020B0609020204030204" pitchFamily="49" charset="0"/>
              </a:rPr>
              <a:t>  if (n &lt;= 0):</a:t>
            </a:r>
          </a:p>
          <a:p>
            <a:pPr marL="0" indent="0">
              <a:spcBef>
                <a:spcPts val="0"/>
              </a:spcBef>
              <a:buNone/>
            </a:pPr>
            <a:r>
              <a:rPr lang="en-US" sz="2000" dirty="0">
                <a:latin typeface="Consolas" panose="020B0609020204030204" pitchFamily="49" charset="0"/>
                <a:cs typeface="Consolas" panose="020B0609020204030204" pitchFamily="49" charset="0"/>
              </a:rPr>
              <a:t>    return(0)</a:t>
            </a:r>
          </a:p>
          <a:p>
            <a:pPr marL="0" indent="0">
              <a:spcBef>
                <a:spcPts val="0"/>
              </a:spcBef>
              <a:buNone/>
            </a:pPr>
            <a:r>
              <a:rPr lang="en-US" sz="2000" dirty="0">
                <a:latin typeface="Consolas" panose="020B0609020204030204" pitchFamily="49" charset="0"/>
                <a:cs typeface="Consolas" panose="020B0609020204030204" pitchFamily="49" charset="0"/>
              </a:rPr>
              <a:t>  f, f0, f1 = 0, 0, 1</a:t>
            </a:r>
          </a:p>
          <a:p>
            <a:pPr marL="0" indent="0">
              <a:spcBef>
                <a:spcPts val="0"/>
              </a:spcBef>
              <a:buNone/>
            </a:pPr>
            <a:r>
              <a:rPr lang="en-US" sz="2000" dirty="0">
                <a:latin typeface="Consolas" panose="020B0609020204030204" pitchFamily="49" charset="0"/>
                <a:cs typeface="Consolas" panose="020B0609020204030204" pitchFamily="49" charset="0"/>
              </a:rPr>
              <a:t>  while n &gt; 1:</a:t>
            </a:r>
          </a:p>
          <a:p>
            <a:pPr marL="0" indent="0">
              <a:spcBef>
                <a:spcPts val="0"/>
              </a:spcBef>
              <a:buNone/>
            </a:pPr>
            <a:r>
              <a:rPr lang="en-US" sz="2000" dirty="0">
                <a:latin typeface="Consolas" panose="020B0609020204030204" pitchFamily="49" charset="0"/>
                <a:cs typeface="Consolas" panose="020B0609020204030204" pitchFamily="49" charset="0"/>
              </a:rPr>
              <a:t>    f = f1 + f0</a:t>
            </a:r>
          </a:p>
          <a:p>
            <a:pPr marL="0" indent="0">
              <a:spcBef>
                <a:spcPts val="0"/>
              </a:spcBef>
              <a:buNone/>
            </a:pPr>
            <a:r>
              <a:rPr lang="en-US" sz="2000" dirty="0">
                <a:latin typeface="Consolas" panose="020B0609020204030204" pitchFamily="49" charset="0"/>
                <a:cs typeface="Consolas" panose="020B0609020204030204" pitchFamily="49" charset="0"/>
              </a:rPr>
              <a:t>    f0 = f1</a:t>
            </a:r>
          </a:p>
          <a:p>
            <a:pPr marL="0" indent="0">
              <a:spcBef>
                <a:spcPts val="0"/>
              </a:spcBef>
              <a:buNone/>
            </a:pPr>
            <a:r>
              <a:rPr lang="en-US" sz="2000" dirty="0">
                <a:latin typeface="Consolas" panose="020B0609020204030204" pitchFamily="49" charset="0"/>
                <a:cs typeface="Consolas" panose="020B0609020204030204" pitchFamily="49" charset="0"/>
              </a:rPr>
              <a:t>    f1 = f</a:t>
            </a:r>
          </a:p>
          <a:p>
            <a:pPr marL="0" indent="0">
              <a:spcBef>
                <a:spcPts val="0"/>
              </a:spcBef>
              <a:buNone/>
            </a:pPr>
            <a:r>
              <a:rPr lang="en-US" sz="2000" dirty="0">
                <a:latin typeface="Consolas" panose="020B0609020204030204" pitchFamily="49" charset="0"/>
                <a:cs typeface="Consolas" panose="020B0609020204030204" pitchFamily="49" charset="0"/>
              </a:rPr>
              <a:t>    n -= 1</a:t>
            </a:r>
          </a:p>
          <a:p>
            <a:pPr marL="0" indent="0">
              <a:spcBef>
                <a:spcPts val="0"/>
              </a:spcBef>
              <a:buNone/>
            </a:pPr>
            <a:r>
              <a:rPr lang="en-US" sz="2000" dirty="0">
                <a:latin typeface="Consolas" panose="020B0609020204030204" pitchFamily="49" charset="0"/>
                <a:cs typeface="Consolas" panose="020B0609020204030204" pitchFamily="49" charset="0"/>
              </a:rPr>
              <a:t>  return(f)</a:t>
            </a:r>
          </a:p>
          <a:p>
            <a:pPr marL="0" indent="0">
              <a:spcBef>
                <a:spcPts val="0"/>
              </a:spcBef>
              <a:buNone/>
            </a:pPr>
            <a:endParaRPr lang="en-US" sz="2000"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2E23B2D7-08D2-AAF9-8E1B-27530B9B1109}"/>
              </a:ext>
            </a:extLst>
          </p:cNvPr>
          <p:cNvSpPr txBox="1"/>
          <p:nvPr/>
        </p:nvSpPr>
        <p:spPr>
          <a:xfrm>
            <a:off x="1745220" y="1309187"/>
            <a:ext cx="1419363" cy="584775"/>
          </a:xfrm>
          <a:prstGeom prst="rect">
            <a:avLst/>
          </a:prstGeom>
          <a:noFill/>
        </p:spPr>
        <p:txBody>
          <a:bodyPr wrap="none" rtlCol="0">
            <a:spAutoFit/>
          </a:bodyPr>
          <a:lstStyle/>
          <a:p>
            <a:r>
              <a:rPr lang="en-US" sz="3200" dirty="0"/>
              <a:t>Python</a:t>
            </a:r>
          </a:p>
        </p:txBody>
      </p:sp>
      <p:sp>
        <p:nvSpPr>
          <p:cNvPr id="11" name="Title 1">
            <a:extLst>
              <a:ext uri="{FF2B5EF4-FFF2-40B4-BE49-F238E27FC236}">
                <a16:creationId xmlns:a16="http://schemas.microsoft.com/office/drawing/2014/main" id="{EA5A364C-3D64-E235-4797-434EF9280831}"/>
              </a:ext>
            </a:extLst>
          </p:cNvPr>
          <p:cNvSpPr>
            <a:spLocks noGrp="1"/>
          </p:cNvSpPr>
          <p:nvPr>
            <p:ph type="title"/>
          </p:nvPr>
        </p:nvSpPr>
        <p:spPr>
          <a:xfrm>
            <a:off x="807458" y="110497"/>
            <a:ext cx="10515600" cy="1325563"/>
          </a:xfrm>
        </p:spPr>
        <p:txBody>
          <a:bodyPr/>
          <a:lstStyle/>
          <a:p>
            <a:r>
              <a:rPr lang="en-US" dirty="0"/>
              <a:t>Fibonacci program</a:t>
            </a:r>
          </a:p>
        </p:txBody>
      </p:sp>
    </p:spTree>
    <p:extLst>
      <p:ext uri="{BB962C8B-B14F-4D97-AF65-F5344CB8AC3E}">
        <p14:creationId xmlns:p14="http://schemas.microsoft.com/office/powerpoint/2010/main" val="3619185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093F8-3746-3F24-7E68-E77AC238CA79}"/>
              </a:ext>
            </a:extLst>
          </p:cNvPr>
          <p:cNvSpPr>
            <a:spLocks noGrp="1"/>
          </p:cNvSpPr>
          <p:nvPr>
            <p:ph type="title"/>
          </p:nvPr>
        </p:nvSpPr>
        <p:spPr>
          <a:xfrm>
            <a:off x="838200" y="365125"/>
            <a:ext cx="10484537" cy="1325563"/>
          </a:xfrm>
        </p:spPr>
        <p:txBody>
          <a:bodyPr>
            <a:normAutofit/>
          </a:bodyPr>
          <a:lstStyle/>
          <a:p>
            <a:r>
              <a:rPr lang="en-US" dirty="0"/>
              <a:t>“There’s plenty of room at the top”</a:t>
            </a:r>
          </a:p>
        </p:txBody>
      </p:sp>
      <p:sp>
        <p:nvSpPr>
          <p:cNvPr id="3" name="Content Placeholder 2">
            <a:extLst>
              <a:ext uri="{FF2B5EF4-FFF2-40B4-BE49-F238E27FC236}">
                <a16:creationId xmlns:a16="http://schemas.microsoft.com/office/drawing/2014/main" id="{601A0893-50E2-DCC2-CF32-C0C18B6F4F71}"/>
              </a:ext>
            </a:extLst>
          </p:cNvPr>
          <p:cNvSpPr>
            <a:spLocks noGrp="1"/>
          </p:cNvSpPr>
          <p:nvPr>
            <p:ph sz="half" idx="1"/>
          </p:nvPr>
        </p:nvSpPr>
        <p:spPr>
          <a:xfrm>
            <a:off x="149086" y="1825625"/>
            <a:ext cx="3773557" cy="2746375"/>
          </a:xfrm>
        </p:spPr>
        <p:txBody>
          <a:bodyPr/>
          <a:lstStyle/>
          <a:p>
            <a:pPr marL="0" indent="0">
              <a:buNone/>
            </a:pPr>
            <a:r>
              <a:rPr lang="en-US" dirty="0">
                <a:cs typeface="Consolas" panose="020B0609020204030204" pitchFamily="49" charset="0"/>
              </a:rPr>
              <a:t>Matrix multiplication</a:t>
            </a:r>
          </a:p>
          <a:p>
            <a:pPr marL="0" indent="0">
              <a:buNone/>
            </a:pPr>
            <a:endParaRPr lang="en-US" dirty="0">
              <a:latin typeface="Consolas" panose="020B0609020204030204" pitchFamily="49" charset="0"/>
              <a:cs typeface="Consolas" panose="020B0609020204030204" pitchFamily="49" charset="0"/>
            </a:endParaRPr>
          </a:p>
          <a:p>
            <a:pPr marL="0" indent="0">
              <a:buNone/>
            </a:pPr>
            <a:r>
              <a:rPr lang="en-US" sz="1600" dirty="0">
                <a:latin typeface="Consolas" panose="020B0609020204030204" pitchFamily="49" charset="0"/>
                <a:cs typeface="Consolas" panose="020B0609020204030204" pitchFamily="49" charset="0"/>
              </a:rPr>
              <a:t>for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in </a:t>
            </a:r>
            <a:r>
              <a:rPr lang="en-US" sz="1600" dirty="0" err="1">
                <a:latin typeface="Consolas" panose="020B0609020204030204" pitchFamily="49" charset="0"/>
                <a:cs typeface="Consolas" panose="020B0609020204030204" pitchFamily="49" charset="0"/>
              </a:rPr>
              <a:t>xrange</a:t>
            </a:r>
            <a:r>
              <a:rPr lang="en-US" sz="1600" dirty="0">
                <a:latin typeface="Consolas" panose="020B0609020204030204" pitchFamily="49" charset="0"/>
                <a:cs typeface="Consolas" panose="020B0609020204030204" pitchFamily="49" charset="0"/>
              </a:rPr>
              <a:t>(4096):</a:t>
            </a:r>
          </a:p>
          <a:p>
            <a:pPr marL="0" indent="0">
              <a:buNone/>
            </a:pPr>
            <a:r>
              <a:rPr lang="en-US" sz="1600" dirty="0">
                <a:latin typeface="Consolas" panose="020B0609020204030204" pitchFamily="49" charset="0"/>
                <a:cs typeface="Consolas" panose="020B0609020204030204" pitchFamily="49" charset="0"/>
              </a:rPr>
              <a:t> for j in </a:t>
            </a:r>
            <a:r>
              <a:rPr lang="en-US" sz="1600" dirty="0" err="1">
                <a:latin typeface="Consolas" panose="020B0609020204030204" pitchFamily="49" charset="0"/>
                <a:cs typeface="Consolas" panose="020B0609020204030204" pitchFamily="49" charset="0"/>
              </a:rPr>
              <a:t>xrange</a:t>
            </a:r>
            <a:r>
              <a:rPr lang="en-US" sz="1600" dirty="0">
                <a:latin typeface="Consolas" panose="020B0609020204030204" pitchFamily="49" charset="0"/>
                <a:cs typeface="Consolas" panose="020B0609020204030204" pitchFamily="49" charset="0"/>
              </a:rPr>
              <a:t>(4096):</a:t>
            </a:r>
          </a:p>
          <a:p>
            <a:pPr marL="0" indent="0">
              <a:buNone/>
            </a:pPr>
            <a:r>
              <a:rPr lang="en-US" sz="1600" dirty="0">
                <a:latin typeface="Consolas" panose="020B0609020204030204" pitchFamily="49" charset="0"/>
                <a:cs typeface="Consolas" panose="020B0609020204030204" pitchFamily="49" charset="0"/>
              </a:rPr>
              <a:t>  for k in </a:t>
            </a:r>
            <a:r>
              <a:rPr lang="en-US" sz="1600" dirty="0" err="1">
                <a:latin typeface="Consolas" panose="020B0609020204030204" pitchFamily="49" charset="0"/>
                <a:cs typeface="Consolas" panose="020B0609020204030204" pitchFamily="49" charset="0"/>
              </a:rPr>
              <a:t>xrange</a:t>
            </a:r>
            <a:r>
              <a:rPr lang="en-US" sz="1600" dirty="0">
                <a:latin typeface="Consolas" panose="020B0609020204030204" pitchFamily="49" charset="0"/>
                <a:cs typeface="Consolas" panose="020B0609020204030204" pitchFamily="49" charset="0"/>
              </a:rPr>
              <a:t>(4096):</a:t>
            </a:r>
          </a:p>
          <a:p>
            <a:pPr marL="0" indent="0">
              <a:buNone/>
            </a:pPr>
            <a:r>
              <a:rPr lang="en-US" sz="1600" dirty="0">
                <a:latin typeface="Consolas" panose="020B0609020204030204" pitchFamily="49" charset="0"/>
                <a:cs typeface="Consolas" panose="020B0609020204030204" pitchFamily="49" charset="0"/>
              </a:rPr>
              <a:t>   C[</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][j] += A[</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][k] * B[k][j]</a:t>
            </a:r>
          </a:p>
          <a:p>
            <a:pPr marL="0" indent="0">
              <a:buNone/>
            </a:pPr>
            <a:endParaRPr lang="en-US" dirty="0"/>
          </a:p>
        </p:txBody>
      </p:sp>
      <p:graphicFrame>
        <p:nvGraphicFramePr>
          <p:cNvPr id="9" name="Table 8">
            <a:extLst>
              <a:ext uri="{FF2B5EF4-FFF2-40B4-BE49-F238E27FC236}">
                <a16:creationId xmlns:a16="http://schemas.microsoft.com/office/drawing/2014/main" id="{23D989F7-3C22-3AE2-1AA3-3E0C666BBA96}"/>
              </a:ext>
            </a:extLst>
          </p:cNvPr>
          <p:cNvGraphicFramePr>
            <a:graphicFrameLocks noGrp="1"/>
          </p:cNvGraphicFramePr>
          <p:nvPr>
            <p:extLst>
              <p:ext uri="{D42A27DB-BD31-4B8C-83A1-F6EECF244321}">
                <p14:modId xmlns:p14="http://schemas.microsoft.com/office/powerpoint/2010/main" val="292438870"/>
              </p:ext>
            </p:extLst>
          </p:nvPr>
        </p:nvGraphicFramePr>
        <p:xfrm>
          <a:off x="4585252" y="1825625"/>
          <a:ext cx="7509766" cy="2633399"/>
        </p:xfrm>
        <a:graphic>
          <a:graphicData uri="http://schemas.openxmlformats.org/drawingml/2006/table">
            <a:tbl>
              <a:tblPr firstRow="1">
                <a:tableStyleId>{5C22544A-7EE6-4342-B048-85BDC9FD1C3A}</a:tableStyleId>
              </a:tblPr>
              <a:tblGrid>
                <a:gridCol w="821965">
                  <a:extLst>
                    <a:ext uri="{9D8B030D-6E8A-4147-A177-3AD203B41FA5}">
                      <a16:colId xmlns:a16="http://schemas.microsoft.com/office/drawing/2014/main" val="3020087161"/>
                    </a:ext>
                  </a:extLst>
                </a:gridCol>
                <a:gridCol w="2077327">
                  <a:extLst>
                    <a:ext uri="{9D8B030D-6E8A-4147-A177-3AD203B41FA5}">
                      <a16:colId xmlns:a16="http://schemas.microsoft.com/office/drawing/2014/main" val="3629084140"/>
                    </a:ext>
                  </a:extLst>
                </a:gridCol>
                <a:gridCol w="1231494">
                  <a:extLst>
                    <a:ext uri="{9D8B030D-6E8A-4147-A177-3AD203B41FA5}">
                      <a16:colId xmlns:a16="http://schemas.microsoft.com/office/drawing/2014/main" val="2960517554"/>
                    </a:ext>
                  </a:extLst>
                </a:gridCol>
                <a:gridCol w="826570">
                  <a:extLst>
                    <a:ext uri="{9D8B030D-6E8A-4147-A177-3AD203B41FA5}">
                      <a16:colId xmlns:a16="http://schemas.microsoft.com/office/drawing/2014/main" val="2015214041"/>
                    </a:ext>
                  </a:extLst>
                </a:gridCol>
                <a:gridCol w="872096">
                  <a:extLst>
                    <a:ext uri="{9D8B030D-6E8A-4147-A177-3AD203B41FA5}">
                      <a16:colId xmlns:a16="http://schemas.microsoft.com/office/drawing/2014/main" val="2124256726"/>
                    </a:ext>
                  </a:extLst>
                </a:gridCol>
                <a:gridCol w="835410">
                  <a:extLst>
                    <a:ext uri="{9D8B030D-6E8A-4147-A177-3AD203B41FA5}">
                      <a16:colId xmlns:a16="http://schemas.microsoft.com/office/drawing/2014/main" val="2161906048"/>
                    </a:ext>
                  </a:extLst>
                </a:gridCol>
                <a:gridCol w="844904">
                  <a:extLst>
                    <a:ext uri="{9D8B030D-6E8A-4147-A177-3AD203B41FA5}">
                      <a16:colId xmlns:a16="http://schemas.microsoft.com/office/drawing/2014/main" val="3182223053"/>
                    </a:ext>
                  </a:extLst>
                </a:gridCol>
              </a:tblGrid>
              <a:tr h="776054">
                <a:tc>
                  <a:txBody>
                    <a:bodyPr/>
                    <a:lstStyle/>
                    <a:p>
                      <a:pPr algn="ctr" fontAlgn="b"/>
                      <a:r>
                        <a:rPr lang="en-US" sz="1600" u="none" strike="noStrike">
                          <a:effectLst/>
                        </a:rPr>
                        <a:t>Version</a:t>
                      </a:r>
                      <a:endParaRPr lang="en-US" sz="1600" b="1"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a:effectLst/>
                        </a:rPr>
                        <a:t>Implementation</a:t>
                      </a:r>
                      <a:endParaRPr lang="en-US" sz="16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Running time (s)</a:t>
                      </a:r>
                      <a:endParaRPr lang="en-US" sz="1600" b="1"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a:effectLst/>
                        </a:rPr>
                        <a:t>GFLOPS</a:t>
                      </a:r>
                      <a:endParaRPr lang="en-US" sz="16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Absolute speedup</a:t>
                      </a:r>
                      <a:endParaRPr lang="en-US" sz="1600" b="1"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Relative speedup</a:t>
                      </a:r>
                      <a:endParaRPr lang="en-US" sz="1600" b="1"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Fraction of peak (%)</a:t>
                      </a:r>
                      <a:endParaRPr lang="en-US" sz="16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3553365"/>
                  </a:ext>
                </a:extLst>
              </a:tr>
              <a:tr h="265335">
                <a:tc>
                  <a:txBody>
                    <a:bodyPr/>
                    <a:lstStyle/>
                    <a:p>
                      <a:pPr algn="ctr" fontAlgn="b"/>
                      <a:r>
                        <a:rPr lang="en-US" sz="1600" u="none" strike="noStrike">
                          <a:effectLst/>
                        </a:rPr>
                        <a:t>1</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Python</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25,552,48</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0.005</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0.01</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3056954"/>
                  </a:ext>
                </a:extLst>
              </a:tr>
              <a:tr h="265335">
                <a:tc>
                  <a:txBody>
                    <a:bodyPr/>
                    <a:lstStyle/>
                    <a:p>
                      <a:pPr algn="ctr" fontAlgn="b"/>
                      <a:r>
                        <a:rPr lang="en-US" sz="1600" u="none" strike="noStrike">
                          <a:effectLst/>
                        </a:rPr>
                        <a:t>2</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Java</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a:effectLst/>
                        </a:rPr>
                        <a:t>2,372.68</a:t>
                      </a:r>
                      <a:endParaRPr lang="en-US"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0.058</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11</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10.8</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0.01</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17633159"/>
                  </a:ext>
                </a:extLst>
              </a:tr>
              <a:tr h="265335">
                <a:tc>
                  <a:txBody>
                    <a:bodyPr/>
                    <a:lstStyle/>
                    <a:p>
                      <a:pPr algn="ctr" fontAlgn="b"/>
                      <a:r>
                        <a:rPr lang="en-US" sz="1600" u="none" strike="noStrike">
                          <a:effectLst/>
                        </a:rPr>
                        <a:t>3</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C</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542.67</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0.253</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47</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4.4</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0.03</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17747139"/>
                  </a:ext>
                </a:extLst>
              </a:tr>
              <a:tr h="265335">
                <a:tc>
                  <a:txBody>
                    <a:bodyPr/>
                    <a:lstStyle/>
                    <a:p>
                      <a:pPr algn="ctr" fontAlgn="b"/>
                      <a:r>
                        <a:rPr lang="en-US" sz="1600" u="none" strike="noStrike">
                          <a:effectLst/>
                        </a:rPr>
                        <a:t>4</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Parallel loops</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69.8</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1.969</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366</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7.8</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0.24</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78133304"/>
                  </a:ext>
                </a:extLst>
              </a:tr>
              <a:tr h="265335">
                <a:tc>
                  <a:txBody>
                    <a:bodyPr/>
                    <a:lstStyle/>
                    <a:p>
                      <a:pPr algn="ctr" fontAlgn="b"/>
                      <a:r>
                        <a:rPr lang="en-US" sz="1600" u="none" strike="noStrike">
                          <a:effectLst/>
                        </a:rPr>
                        <a:t>5</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err="1">
                          <a:effectLst/>
                        </a:rPr>
                        <a:t>Prl</a:t>
                      </a:r>
                      <a:r>
                        <a:rPr lang="en-US" sz="1600" u="none" strike="noStrike" dirty="0">
                          <a:effectLst/>
                        </a:rPr>
                        <a:t>. divide/ conquer</a:t>
                      </a:r>
                      <a:endParaRPr lang="en-US"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3.80</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36.180</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6,727</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18.4</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4.33</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41454200"/>
                  </a:ext>
                </a:extLst>
              </a:tr>
              <a:tr h="265335">
                <a:tc>
                  <a:txBody>
                    <a:bodyPr/>
                    <a:lstStyle/>
                    <a:p>
                      <a:pPr algn="ctr" fontAlgn="b"/>
                      <a:r>
                        <a:rPr lang="en-US" sz="1600" u="none" strike="noStrike">
                          <a:effectLst/>
                        </a:rPr>
                        <a:t>6</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a:effectLst/>
                        </a:rPr>
                        <a:t>… plus vectorization</a:t>
                      </a:r>
                      <a:endParaRPr lang="en-US"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1.10</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124.914</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23,224</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3.5</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14.96</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72835519"/>
                  </a:ext>
                </a:extLst>
              </a:tr>
              <a:tr h="265335">
                <a:tc>
                  <a:txBody>
                    <a:bodyPr/>
                    <a:lstStyle/>
                    <a:p>
                      <a:pPr algn="ctr" fontAlgn="b"/>
                      <a:r>
                        <a:rPr lang="en-US" sz="1600" u="none" strike="noStrike">
                          <a:effectLst/>
                        </a:rPr>
                        <a:t>7</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a:effectLst/>
                        </a:rPr>
                        <a:t>… plus AVX intrinsics</a:t>
                      </a:r>
                      <a:endParaRPr lang="en-US"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0.41</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337.812</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62,806</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a:effectLst/>
                        </a:rPr>
                        <a:t>2.7</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u="none" strike="noStrike" dirty="0">
                          <a:effectLst/>
                        </a:rPr>
                        <a:t>40.45</a:t>
                      </a:r>
                      <a:endParaRPr lang="en-US"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70258228"/>
                  </a:ext>
                </a:extLst>
              </a:tr>
            </a:tbl>
          </a:graphicData>
        </a:graphic>
      </p:graphicFrame>
      <p:sp>
        <p:nvSpPr>
          <p:cNvPr id="10" name="TextBox 9">
            <a:extLst>
              <a:ext uri="{FF2B5EF4-FFF2-40B4-BE49-F238E27FC236}">
                <a16:creationId xmlns:a16="http://schemas.microsoft.com/office/drawing/2014/main" id="{83EE5885-1EA7-6E7C-A085-6676B94FA75D}"/>
              </a:ext>
            </a:extLst>
          </p:cNvPr>
          <p:cNvSpPr txBox="1"/>
          <p:nvPr/>
        </p:nvSpPr>
        <p:spPr>
          <a:xfrm>
            <a:off x="3230088" y="5657671"/>
            <a:ext cx="8961912" cy="1200329"/>
          </a:xfrm>
          <a:prstGeom prst="rect">
            <a:avLst/>
          </a:prstGeom>
          <a:solidFill>
            <a:schemeClr val="accent6">
              <a:lumMod val="20000"/>
              <a:lumOff val="80000"/>
            </a:schemeClr>
          </a:solidFill>
        </p:spPr>
        <p:txBody>
          <a:bodyPr wrap="square" rtlCol="0">
            <a:spAutoFit/>
          </a:bodyPr>
          <a:lstStyle/>
          <a:p>
            <a:pPr marL="0" indent="0">
              <a:buNone/>
            </a:pPr>
            <a:r>
              <a:rPr lang="en-US" dirty="0"/>
              <a:t>Charles E. </a:t>
            </a:r>
            <a:r>
              <a:rPr lang="en-US" dirty="0" err="1"/>
              <a:t>Leiserson</a:t>
            </a:r>
            <a:r>
              <a:rPr lang="en-US" dirty="0"/>
              <a:t>, Neil C. Thompson, Joel S. Emer, Bradley S. </a:t>
            </a:r>
            <a:r>
              <a:rPr lang="en-US" dirty="0" err="1"/>
              <a:t>Kuszmaul</a:t>
            </a:r>
            <a:r>
              <a:rPr lang="en-US" dirty="0"/>
              <a:t>, Butler W. Lampson, Daniel Sanchez, Tao B. </a:t>
            </a:r>
            <a:r>
              <a:rPr lang="en-US" dirty="0" err="1"/>
              <a:t>Schardel</a:t>
            </a:r>
            <a:r>
              <a:rPr lang="en-US" dirty="0"/>
              <a:t>. There’s plenty of room at the Top: What will drive computer performance after Moore’s law? </a:t>
            </a:r>
            <a:r>
              <a:rPr lang="en-US" i="1" dirty="0"/>
              <a:t>Science</a:t>
            </a:r>
            <a:r>
              <a:rPr lang="en-US" dirty="0"/>
              <a:t> vol 368 no 6495 (June 5, 2020). ht</a:t>
            </a:r>
            <a:r>
              <a:rPr lang="en-US" dirty="0">
                <a:hlinkClick r:id="rId3"/>
              </a:rPr>
              <a:t>tps://</a:t>
            </a:r>
            <a:r>
              <a:rPr lang="en-US" dirty="0" err="1">
                <a:hlinkClick r:id="rId3"/>
              </a:rPr>
              <a:t>www.science.org</a:t>
            </a:r>
            <a:r>
              <a:rPr lang="en-US" dirty="0">
                <a:hlinkClick r:id="rId3"/>
              </a:rPr>
              <a:t>/</a:t>
            </a:r>
            <a:r>
              <a:rPr lang="en-US" dirty="0" err="1">
                <a:hlinkClick r:id="rId3"/>
              </a:rPr>
              <a:t>doi</a:t>
            </a:r>
            <a:r>
              <a:rPr lang="en-US" dirty="0">
                <a:hlinkClick r:id="rId3"/>
              </a:rPr>
              <a:t>/10.1126/science.aam9744</a:t>
            </a:r>
            <a:endParaRPr lang="en-US" dirty="0"/>
          </a:p>
        </p:txBody>
      </p:sp>
    </p:spTree>
    <p:extLst>
      <p:ext uri="{BB962C8B-B14F-4D97-AF65-F5344CB8AC3E}">
        <p14:creationId xmlns:p14="http://schemas.microsoft.com/office/powerpoint/2010/main" val="93294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C4BD-92E7-253D-A3CA-CBDC9F6EE507}"/>
              </a:ext>
            </a:extLst>
          </p:cNvPr>
          <p:cNvSpPr>
            <a:spLocks noGrp="1"/>
          </p:cNvSpPr>
          <p:nvPr>
            <p:ph type="title"/>
          </p:nvPr>
        </p:nvSpPr>
        <p:spPr/>
        <p:txBody>
          <a:bodyPr/>
          <a:lstStyle/>
          <a:p>
            <a:r>
              <a:rPr lang="en-US" dirty="0"/>
              <a:t>Software systems: Two points of view (1)</a:t>
            </a:r>
          </a:p>
        </p:txBody>
      </p:sp>
      <p:sp>
        <p:nvSpPr>
          <p:cNvPr id="3" name="Content Placeholder 2">
            <a:extLst>
              <a:ext uri="{FF2B5EF4-FFF2-40B4-BE49-F238E27FC236}">
                <a16:creationId xmlns:a16="http://schemas.microsoft.com/office/drawing/2014/main" id="{D31767F2-1142-D001-A420-4ED2C173F2BD}"/>
              </a:ext>
            </a:extLst>
          </p:cNvPr>
          <p:cNvSpPr>
            <a:spLocks noGrp="1"/>
          </p:cNvSpPr>
          <p:nvPr>
            <p:ph idx="1"/>
          </p:nvPr>
        </p:nvSpPr>
        <p:spPr>
          <a:xfrm>
            <a:off x="838200" y="1825625"/>
            <a:ext cx="10515600" cy="1030664"/>
          </a:xfrm>
        </p:spPr>
        <p:txBody>
          <a:bodyPr/>
          <a:lstStyle/>
          <a:p>
            <a:pPr marL="0" indent="0">
              <a:buNone/>
            </a:pPr>
            <a:r>
              <a:rPr lang="en-US" b="1" dirty="0"/>
              <a:t>Bird’s eye view</a:t>
            </a:r>
            <a:r>
              <a:rPr lang="en-US" dirty="0"/>
              <a:t>: A system provides a set of abstractions, extending (or sometimes totally obscuring) the layers underneath.</a:t>
            </a:r>
          </a:p>
        </p:txBody>
      </p:sp>
      <p:grpSp>
        <p:nvGrpSpPr>
          <p:cNvPr id="4" name="Group 3" descr="Expanded stack of systems software layers">
            <a:extLst>
              <a:ext uri="{FF2B5EF4-FFF2-40B4-BE49-F238E27FC236}">
                <a16:creationId xmlns:a16="http://schemas.microsoft.com/office/drawing/2014/main" id="{F352C99C-4D4D-EF5D-472C-68F8F43C25E4}"/>
              </a:ext>
            </a:extLst>
          </p:cNvPr>
          <p:cNvGrpSpPr/>
          <p:nvPr/>
        </p:nvGrpSpPr>
        <p:grpSpPr>
          <a:xfrm>
            <a:off x="3801291" y="2774861"/>
            <a:ext cx="4582887" cy="2683595"/>
            <a:chOff x="3801291" y="3189389"/>
            <a:chExt cx="4582887" cy="2683595"/>
          </a:xfrm>
        </p:grpSpPr>
        <p:grpSp>
          <p:nvGrpSpPr>
            <p:cNvPr id="33" name="Group 32">
              <a:extLst>
                <a:ext uri="{FF2B5EF4-FFF2-40B4-BE49-F238E27FC236}">
                  <a16:creationId xmlns:a16="http://schemas.microsoft.com/office/drawing/2014/main" id="{494BF632-F6A5-DDA0-1C1F-5199E9787248}"/>
                </a:ext>
              </a:extLst>
            </p:cNvPr>
            <p:cNvGrpSpPr/>
            <p:nvPr/>
          </p:nvGrpSpPr>
          <p:grpSpPr>
            <a:xfrm>
              <a:off x="3801291" y="3855186"/>
              <a:ext cx="4572000" cy="457200"/>
              <a:chOff x="3816533" y="4028943"/>
              <a:chExt cx="4572000" cy="457200"/>
            </a:xfrm>
          </p:grpSpPr>
          <p:sp>
            <p:nvSpPr>
              <p:cNvPr id="6" name="Rounded Rectangle 5" descr="Operating Systems">
                <a:extLst>
                  <a:ext uri="{FF2B5EF4-FFF2-40B4-BE49-F238E27FC236}">
                    <a16:creationId xmlns:a16="http://schemas.microsoft.com/office/drawing/2014/main" id="{CC5A1C0A-C06D-35BD-AE50-354729C8D591}"/>
                  </a:ext>
                </a:extLst>
              </p:cNvPr>
              <p:cNvSpPr/>
              <p:nvPr/>
            </p:nvSpPr>
            <p:spPr>
              <a:xfrm>
                <a:off x="3816533" y="4028943"/>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04FE281-DEE1-88E8-8C33-A8A4E33C0384}"/>
                  </a:ext>
                  <a:ext uri="{C183D7F6-B498-43B3-948B-1728B52AA6E4}">
                    <adec:decorative xmlns:adec="http://schemas.microsoft.com/office/drawing/2017/decorative" val="1"/>
                  </a:ext>
                </a:extLst>
              </p:cNvPr>
              <p:cNvSpPr txBox="1"/>
              <p:nvPr/>
            </p:nvSpPr>
            <p:spPr>
              <a:xfrm>
                <a:off x="5116987" y="4046139"/>
                <a:ext cx="1948611" cy="369332"/>
              </a:xfrm>
              <a:prstGeom prst="rect">
                <a:avLst/>
              </a:prstGeom>
              <a:noFill/>
            </p:spPr>
            <p:txBody>
              <a:bodyPr wrap="none" rtlCol="0">
                <a:spAutoFit/>
              </a:bodyPr>
              <a:lstStyle/>
              <a:p>
                <a:pPr algn="ctr"/>
                <a:r>
                  <a:rPr lang="en-US" dirty="0"/>
                  <a:t>Operating System</a:t>
                </a:r>
              </a:p>
            </p:txBody>
          </p:sp>
        </p:grpSp>
        <p:grpSp>
          <p:nvGrpSpPr>
            <p:cNvPr id="30" name="Group 29">
              <a:extLst>
                <a:ext uri="{FF2B5EF4-FFF2-40B4-BE49-F238E27FC236}">
                  <a16:creationId xmlns:a16="http://schemas.microsoft.com/office/drawing/2014/main" id="{867F9BD3-EA41-2FAC-CA16-F0F08124865F}"/>
                </a:ext>
              </a:extLst>
            </p:cNvPr>
            <p:cNvGrpSpPr/>
            <p:nvPr/>
          </p:nvGrpSpPr>
          <p:grpSpPr>
            <a:xfrm>
              <a:off x="3812178" y="5415784"/>
              <a:ext cx="4572000" cy="457200"/>
              <a:chOff x="3812178" y="4969470"/>
              <a:chExt cx="4572000" cy="457200"/>
            </a:xfrm>
          </p:grpSpPr>
          <p:sp>
            <p:nvSpPr>
              <p:cNvPr id="8" name="Rounded Rectangle 7" descr="Drivers">
                <a:extLst>
                  <a:ext uri="{FF2B5EF4-FFF2-40B4-BE49-F238E27FC236}">
                    <a16:creationId xmlns:a16="http://schemas.microsoft.com/office/drawing/2014/main" id="{823154CA-2BB8-7DD6-20DD-033EA812363D}"/>
                  </a:ext>
                </a:extLst>
              </p:cNvPr>
              <p:cNvSpPr/>
              <p:nvPr/>
            </p:nvSpPr>
            <p:spPr>
              <a:xfrm>
                <a:off x="3812178" y="4969470"/>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C6D8795-6BD1-84B1-7E1E-C5ADB18F4D33}"/>
                  </a:ext>
                  <a:ext uri="{C183D7F6-B498-43B3-948B-1728B52AA6E4}">
                    <adec:decorative xmlns:adec="http://schemas.microsoft.com/office/drawing/2017/decorative" val="1"/>
                  </a:ext>
                </a:extLst>
              </p:cNvPr>
              <p:cNvSpPr txBox="1"/>
              <p:nvPr/>
            </p:nvSpPr>
            <p:spPr>
              <a:xfrm>
                <a:off x="5648541" y="4995098"/>
                <a:ext cx="885499" cy="369332"/>
              </a:xfrm>
              <a:prstGeom prst="rect">
                <a:avLst/>
              </a:prstGeom>
              <a:noFill/>
            </p:spPr>
            <p:txBody>
              <a:bodyPr wrap="none" rtlCol="0">
                <a:spAutoFit/>
              </a:bodyPr>
              <a:lstStyle/>
              <a:p>
                <a:pPr algn="ctr"/>
                <a:r>
                  <a:rPr lang="en-US" dirty="0"/>
                  <a:t>Drivers</a:t>
                </a:r>
              </a:p>
            </p:txBody>
          </p:sp>
        </p:grpSp>
        <p:sp>
          <p:nvSpPr>
            <p:cNvPr id="34" name="Rectangle 33" descr="device-independent input/output">
              <a:extLst>
                <a:ext uri="{FF2B5EF4-FFF2-40B4-BE49-F238E27FC236}">
                  <a16:creationId xmlns:a16="http://schemas.microsoft.com/office/drawing/2014/main" id="{8ADF4930-4D09-3700-1DD0-6360F619088F}"/>
                </a:ext>
              </a:extLst>
            </p:cNvPr>
            <p:cNvSpPr/>
            <p:nvPr/>
          </p:nvSpPr>
          <p:spPr>
            <a:xfrm>
              <a:off x="3834979" y="5090979"/>
              <a:ext cx="4510010" cy="315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device-independent input/output</a:t>
              </a:r>
            </a:p>
          </p:txBody>
        </p:sp>
        <p:grpSp>
          <p:nvGrpSpPr>
            <p:cNvPr id="36" name="Group 35">
              <a:extLst>
                <a:ext uri="{FF2B5EF4-FFF2-40B4-BE49-F238E27FC236}">
                  <a16:creationId xmlns:a16="http://schemas.microsoft.com/office/drawing/2014/main" id="{0DC49019-6CE6-5C9B-D612-04914A3C32F0}"/>
                </a:ext>
              </a:extLst>
            </p:cNvPr>
            <p:cNvGrpSpPr/>
            <p:nvPr/>
          </p:nvGrpSpPr>
          <p:grpSpPr>
            <a:xfrm>
              <a:off x="3812177" y="4625484"/>
              <a:ext cx="4572000" cy="457200"/>
              <a:chOff x="3812177" y="4625484"/>
              <a:chExt cx="4572000" cy="457200"/>
            </a:xfrm>
          </p:grpSpPr>
          <p:sp>
            <p:nvSpPr>
              <p:cNvPr id="7" name="Rounded Rectangle 6">
                <a:extLst>
                  <a:ext uri="{FF2B5EF4-FFF2-40B4-BE49-F238E27FC236}">
                    <a16:creationId xmlns:a16="http://schemas.microsoft.com/office/drawing/2014/main" id="{2FB684D5-3631-77BB-EF08-44ED63102FE3}"/>
                  </a:ext>
                </a:extLst>
              </p:cNvPr>
              <p:cNvSpPr/>
              <p:nvPr/>
            </p:nvSpPr>
            <p:spPr>
              <a:xfrm>
                <a:off x="3812177" y="4625484"/>
                <a:ext cx="4572000" cy="457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2D26A6B-55C8-8948-1F81-D07BF7DF084D}"/>
                  </a:ext>
                  <a:ext uri="{C183D7F6-B498-43B3-948B-1728B52AA6E4}">
                    <adec:decorative xmlns:adec="http://schemas.microsoft.com/office/drawing/2017/decorative" val="1"/>
                  </a:ext>
                </a:extLst>
              </p:cNvPr>
              <p:cNvSpPr txBox="1"/>
              <p:nvPr/>
            </p:nvSpPr>
            <p:spPr>
              <a:xfrm>
                <a:off x="5227590" y="4676562"/>
                <a:ext cx="1741182" cy="369332"/>
              </a:xfrm>
              <a:prstGeom prst="rect">
                <a:avLst/>
              </a:prstGeom>
              <a:noFill/>
            </p:spPr>
            <p:txBody>
              <a:bodyPr wrap="none" rtlCol="0">
                <a:spAutoFit/>
              </a:bodyPr>
              <a:lstStyle/>
              <a:p>
                <a:pPr algn="ctr"/>
                <a:r>
                  <a:rPr lang="en-US" dirty="0"/>
                  <a:t>Virtual Machine</a:t>
                </a:r>
              </a:p>
            </p:txBody>
          </p:sp>
        </p:grpSp>
        <p:sp>
          <p:nvSpPr>
            <p:cNvPr id="35" name="Rectangle 34" descr="Independent Instruction Set Architecture">
              <a:extLst>
                <a:ext uri="{FF2B5EF4-FFF2-40B4-BE49-F238E27FC236}">
                  <a16:creationId xmlns:a16="http://schemas.microsoft.com/office/drawing/2014/main" id="{52937E09-2540-7C63-2022-65718CF610AB}"/>
                </a:ext>
              </a:extLst>
            </p:cNvPr>
            <p:cNvSpPr/>
            <p:nvPr/>
          </p:nvSpPr>
          <p:spPr>
            <a:xfrm>
              <a:off x="3823063" y="4321505"/>
              <a:ext cx="4510010" cy="315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Independent ISA</a:t>
              </a:r>
            </a:p>
          </p:txBody>
        </p:sp>
        <p:sp>
          <p:nvSpPr>
            <p:cNvPr id="39" name="Rectangle 38" descr="concurrency and virtual memory">
              <a:extLst>
                <a:ext uri="{FF2B5EF4-FFF2-40B4-BE49-F238E27FC236}">
                  <a16:creationId xmlns:a16="http://schemas.microsoft.com/office/drawing/2014/main" id="{1572726C-46F7-BC30-1B65-7C584E0D3910}"/>
                </a:ext>
              </a:extLst>
            </p:cNvPr>
            <p:cNvSpPr/>
            <p:nvPr/>
          </p:nvSpPr>
          <p:spPr>
            <a:xfrm>
              <a:off x="3823063" y="3537733"/>
              <a:ext cx="4510010" cy="315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concurrency, virtual memory</a:t>
              </a:r>
            </a:p>
          </p:txBody>
        </p:sp>
        <p:sp>
          <p:nvSpPr>
            <p:cNvPr id="40" name="Rectangle 39" descr="file systems">
              <a:extLst>
                <a:ext uri="{FF2B5EF4-FFF2-40B4-BE49-F238E27FC236}">
                  <a16:creationId xmlns:a16="http://schemas.microsoft.com/office/drawing/2014/main" id="{9938FCD2-EF83-CE42-2308-4CB5FC7EA87E}"/>
                </a:ext>
              </a:extLst>
            </p:cNvPr>
            <p:cNvSpPr/>
            <p:nvPr/>
          </p:nvSpPr>
          <p:spPr>
            <a:xfrm>
              <a:off x="3823059" y="3189389"/>
              <a:ext cx="4510010" cy="315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system</a:t>
              </a:r>
            </a:p>
          </p:txBody>
        </p:sp>
      </p:grpSp>
      <p:sp>
        <p:nvSpPr>
          <p:cNvPr id="5" name="Content Placeholder 2">
            <a:extLst>
              <a:ext uri="{FF2B5EF4-FFF2-40B4-BE49-F238E27FC236}">
                <a16:creationId xmlns:a16="http://schemas.microsoft.com/office/drawing/2014/main" id="{5852211D-FACB-B8C4-20AE-FDB6550965EC}"/>
              </a:ext>
            </a:extLst>
          </p:cNvPr>
          <p:cNvSpPr txBox="1">
            <a:spLocks/>
          </p:cNvSpPr>
          <p:nvPr/>
        </p:nvSpPr>
        <p:spPr>
          <a:xfrm>
            <a:off x="838200" y="5843205"/>
            <a:ext cx="10515600" cy="10306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Virtualization</a:t>
            </a:r>
            <a:r>
              <a:rPr lang="en-US" dirty="0"/>
              <a:t>: a resource that, to the user, appears to be real</a:t>
            </a:r>
          </a:p>
          <a:p>
            <a:pPr marL="457200" lvl="1" indent="0">
              <a:buNone/>
            </a:pPr>
            <a:r>
              <a:rPr lang="en-US" dirty="0"/>
              <a:t>virtual machine, virtual memory, virtual devices, virtual networks…</a:t>
            </a:r>
          </a:p>
        </p:txBody>
      </p:sp>
    </p:spTree>
    <p:extLst>
      <p:ext uri="{BB962C8B-B14F-4D97-AF65-F5344CB8AC3E}">
        <p14:creationId xmlns:p14="http://schemas.microsoft.com/office/powerpoint/2010/main" val="1976326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EC826-DD04-4132-5D90-ED59E7076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AC5C3-97B5-61F1-30C0-E81765CF069C}"/>
              </a:ext>
            </a:extLst>
          </p:cNvPr>
          <p:cNvSpPr>
            <a:spLocks noGrp="1"/>
          </p:cNvSpPr>
          <p:nvPr>
            <p:ph type="title"/>
          </p:nvPr>
        </p:nvSpPr>
        <p:spPr/>
        <p:txBody>
          <a:bodyPr/>
          <a:lstStyle/>
          <a:p>
            <a:r>
              <a:rPr lang="en-US" dirty="0"/>
              <a:t>Software systems: Two points of view (2)</a:t>
            </a:r>
          </a:p>
        </p:txBody>
      </p:sp>
      <p:sp>
        <p:nvSpPr>
          <p:cNvPr id="3" name="Content Placeholder 2">
            <a:extLst>
              <a:ext uri="{FF2B5EF4-FFF2-40B4-BE49-F238E27FC236}">
                <a16:creationId xmlns:a16="http://schemas.microsoft.com/office/drawing/2014/main" id="{CE371769-9B81-5A87-5580-6188BD4357B4}"/>
              </a:ext>
            </a:extLst>
          </p:cNvPr>
          <p:cNvSpPr>
            <a:spLocks noGrp="1"/>
          </p:cNvSpPr>
          <p:nvPr>
            <p:ph idx="1"/>
          </p:nvPr>
        </p:nvSpPr>
        <p:spPr>
          <a:xfrm>
            <a:off x="838200" y="1825624"/>
            <a:ext cx="10515600" cy="4041775"/>
          </a:xfrm>
        </p:spPr>
        <p:txBody>
          <a:bodyPr>
            <a:normAutofit/>
          </a:bodyPr>
          <a:lstStyle/>
          <a:p>
            <a:pPr marL="0" indent="0">
              <a:buNone/>
            </a:pPr>
            <a:r>
              <a:rPr lang="en-US" b="1" dirty="0"/>
              <a:t>Worm’s eye view</a:t>
            </a:r>
            <a:r>
              <a:rPr lang="en-US" dirty="0"/>
              <a:t>: A system manages a set of resources</a:t>
            </a:r>
          </a:p>
          <a:p>
            <a:pPr lvl="1"/>
            <a:r>
              <a:rPr lang="en-US" dirty="0"/>
              <a:t>Processors</a:t>
            </a:r>
          </a:p>
          <a:p>
            <a:pPr lvl="1"/>
            <a:r>
              <a:rPr lang="en-US" dirty="0"/>
              <a:t>Primary memory</a:t>
            </a:r>
          </a:p>
          <a:p>
            <a:pPr lvl="1"/>
            <a:r>
              <a:rPr lang="en-US" dirty="0"/>
              <a:t>Secondary memory</a:t>
            </a:r>
          </a:p>
          <a:p>
            <a:pPr marL="0" indent="0">
              <a:buNone/>
            </a:pPr>
            <a:r>
              <a:rPr lang="en-US" dirty="0"/>
              <a:t>Concurrency: threads, processes, virtual machines</a:t>
            </a:r>
          </a:p>
          <a:p>
            <a:pPr marL="0" indent="0">
              <a:buNone/>
            </a:pPr>
            <a:r>
              <a:rPr lang="en-US" dirty="0"/>
              <a:t>Primary memory: virtual memory</a:t>
            </a:r>
          </a:p>
          <a:p>
            <a:pPr marL="0" indent="0">
              <a:buNone/>
            </a:pPr>
            <a:r>
              <a:rPr lang="en-US" dirty="0"/>
              <a:t>File systems: stable storage</a:t>
            </a:r>
          </a:p>
          <a:p>
            <a:pPr marL="0" indent="0">
              <a:buNone/>
            </a:pPr>
            <a:endParaRPr lang="en-US" dirty="0"/>
          </a:p>
        </p:txBody>
      </p:sp>
    </p:spTree>
    <p:extLst>
      <p:ext uri="{BB962C8B-B14F-4D97-AF65-F5344CB8AC3E}">
        <p14:creationId xmlns:p14="http://schemas.microsoft.com/office/powerpoint/2010/main" val="1071737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5E950-3156-4F2B-43C7-FDB3E51CC420}"/>
              </a:ext>
            </a:extLst>
          </p:cNvPr>
          <p:cNvSpPr>
            <a:spLocks noGrp="1"/>
          </p:cNvSpPr>
          <p:nvPr>
            <p:ph type="title"/>
          </p:nvPr>
        </p:nvSpPr>
        <p:spPr/>
        <p:txBody>
          <a:bodyPr/>
          <a:lstStyle/>
          <a:p>
            <a:r>
              <a:rPr lang="en-US" dirty="0"/>
              <a:t>Multiprocessing: Sharing a processor</a:t>
            </a:r>
          </a:p>
        </p:txBody>
      </p:sp>
      <p:sp>
        <p:nvSpPr>
          <p:cNvPr id="3" name="Content Placeholder 2">
            <a:extLst>
              <a:ext uri="{FF2B5EF4-FFF2-40B4-BE49-F238E27FC236}">
                <a16:creationId xmlns:a16="http://schemas.microsoft.com/office/drawing/2014/main" id="{CA0804A5-2FCD-E138-D0B9-E6AEBC03D689}"/>
              </a:ext>
            </a:extLst>
          </p:cNvPr>
          <p:cNvSpPr>
            <a:spLocks noGrp="1"/>
          </p:cNvSpPr>
          <p:nvPr>
            <p:ph sz="half" idx="1"/>
          </p:nvPr>
        </p:nvSpPr>
        <p:spPr>
          <a:xfrm>
            <a:off x="3292698" y="1465019"/>
            <a:ext cx="5181600" cy="2141068"/>
          </a:xfrm>
        </p:spPr>
        <p:txBody>
          <a:bodyPr>
            <a:normAutofit fontScale="92500" lnSpcReduction="20000"/>
          </a:bodyPr>
          <a:lstStyle/>
          <a:p>
            <a:pPr marL="0" indent="0">
              <a:buNone/>
            </a:pPr>
            <a:r>
              <a:rPr lang="en-US" sz="2000" dirty="0">
                <a:latin typeface="Consolas" panose="020B0609020204030204" pitchFamily="49" charset="0"/>
                <a:cs typeface="Consolas" panose="020B0609020204030204" pitchFamily="49" charset="0"/>
              </a:rPr>
              <a:t>…</a:t>
            </a:r>
          </a:p>
          <a:p>
            <a:pPr marL="0" indent="0">
              <a:buNone/>
            </a:pPr>
            <a:r>
              <a:rPr lang="en-US" sz="2000" dirty="0">
                <a:latin typeface="Consolas" panose="020B0609020204030204" pitchFamily="49" charset="0"/>
                <a:cs typeface="Consolas" panose="020B0609020204030204" pitchFamily="49" charset="0"/>
              </a:rPr>
              <a:t>…</a:t>
            </a:r>
          </a:p>
          <a:p>
            <a:pPr marL="0" indent="0">
              <a:buNone/>
            </a:pPr>
            <a:r>
              <a:rPr lang="en-US" sz="2000" dirty="0">
                <a:latin typeface="Consolas" panose="020B0609020204030204" pitchFamily="49" charset="0"/>
                <a:cs typeface="Consolas" panose="020B0609020204030204" pitchFamily="49" charset="0"/>
              </a:rPr>
              <a:t>count = input(“Enter number”)</a:t>
            </a:r>
          </a:p>
          <a:p>
            <a:pPr marL="0" indent="0">
              <a:buNone/>
            </a:pPr>
            <a:r>
              <a:rPr lang="en-US" sz="2000" dirty="0">
                <a:latin typeface="Consolas" panose="020B0609020204030204" pitchFamily="49" charset="0"/>
                <a:cs typeface="Consolas" panose="020B0609020204030204" pitchFamily="49" charset="0"/>
              </a:rPr>
              <a:t>…</a:t>
            </a:r>
          </a:p>
          <a:p>
            <a:pPr marL="0" indent="0">
              <a:buNone/>
            </a:pPr>
            <a:r>
              <a:rPr lang="en-US" sz="2000" dirty="0">
                <a:latin typeface="Consolas" panose="020B0609020204030204" pitchFamily="49" charset="0"/>
                <a:cs typeface="Consolas" panose="020B0609020204030204" pitchFamily="49" charset="0"/>
              </a:rPr>
              <a:t>…</a:t>
            </a:r>
          </a:p>
          <a:p>
            <a:pPr marL="0" indent="0">
              <a:buNone/>
            </a:pPr>
            <a:endParaRPr lang="en-US" sz="2000" dirty="0">
              <a:latin typeface="Consolas" panose="020B0609020204030204" pitchFamily="49" charset="0"/>
              <a:cs typeface="Consolas" panose="020B0609020204030204" pitchFamily="49" charset="0"/>
            </a:endParaRPr>
          </a:p>
        </p:txBody>
      </p:sp>
      <p:sp>
        <p:nvSpPr>
          <p:cNvPr id="4" name="Content Placeholder 3">
            <a:extLst>
              <a:ext uri="{FF2B5EF4-FFF2-40B4-BE49-F238E27FC236}">
                <a16:creationId xmlns:a16="http://schemas.microsoft.com/office/drawing/2014/main" id="{F1EBA141-8C3F-9812-4D11-103355000C2C}"/>
              </a:ext>
            </a:extLst>
          </p:cNvPr>
          <p:cNvSpPr>
            <a:spLocks noGrp="1"/>
          </p:cNvSpPr>
          <p:nvPr>
            <p:ph sz="half" idx="2"/>
          </p:nvPr>
        </p:nvSpPr>
        <p:spPr>
          <a:xfrm>
            <a:off x="413197" y="3429000"/>
            <a:ext cx="10940603" cy="2747962"/>
          </a:xfrm>
        </p:spPr>
        <p:txBody>
          <a:bodyPr>
            <a:normAutofit fontScale="92500" lnSpcReduction="20000"/>
          </a:bodyPr>
          <a:lstStyle/>
          <a:p>
            <a:pPr marL="0" indent="0">
              <a:buNone/>
            </a:pPr>
            <a:r>
              <a:rPr lang="en-US" dirty="0"/>
              <a:t>The program waits for the user to enter a number.</a:t>
            </a:r>
          </a:p>
          <a:p>
            <a:pPr marL="0" indent="0">
              <a:buNone/>
            </a:pPr>
            <a:r>
              <a:rPr lang="en-US" dirty="0"/>
              <a:t>The processor that was executing this program can be used to execute another program.</a:t>
            </a:r>
          </a:p>
          <a:p>
            <a:pPr marL="0" indent="0">
              <a:buNone/>
            </a:pPr>
            <a:endParaRPr lang="en-US" dirty="0"/>
          </a:p>
          <a:p>
            <a:pPr marL="0" indent="0">
              <a:buNone/>
            </a:pPr>
            <a:r>
              <a:rPr lang="en-US" dirty="0"/>
              <a:t>Call the representation of the state of execution a </a:t>
            </a:r>
            <a:r>
              <a:rPr lang="en-US" b="1" dirty="0"/>
              <a:t>context</a:t>
            </a:r>
          </a:p>
          <a:p>
            <a:pPr marL="0" indent="0">
              <a:buNone/>
            </a:pPr>
            <a:r>
              <a:rPr lang="en-US" b="1" dirty="0"/>
              <a:t>Context switch</a:t>
            </a:r>
            <a:r>
              <a:rPr lang="en-US" dirty="0"/>
              <a:t>: Save the context of the first program and load the context of another program that is ready to execute</a:t>
            </a:r>
          </a:p>
        </p:txBody>
      </p:sp>
    </p:spTree>
    <p:extLst>
      <p:ext uri="{BB962C8B-B14F-4D97-AF65-F5344CB8AC3E}">
        <p14:creationId xmlns:p14="http://schemas.microsoft.com/office/powerpoint/2010/main" val="1758016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0BFB08-F843-16C1-F613-2D59B2D942B4}"/>
              </a:ext>
            </a:extLst>
          </p:cNvPr>
          <p:cNvSpPr>
            <a:spLocks noGrp="1"/>
          </p:cNvSpPr>
          <p:nvPr>
            <p:ph type="title"/>
          </p:nvPr>
        </p:nvSpPr>
        <p:spPr/>
        <p:txBody>
          <a:bodyPr/>
          <a:lstStyle/>
          <a:p>
            <a:r>
              <a:rPr lang="en-US" dirty="0"/>
              <a:t>Multiprocessing</a:t>
            </a:r>
          </a:p>
        </p:txBody>
      </p:sp>
      <p:sp>
        <p:nvSpPr>
          <p:cNvPr id="6" name="Content Placeholder 5">
            <a:extLst>
              <a:ext uri="{FF2B5EF4-FFF2-40B4-BE49-F238E27FC236}">
                <a16:creationId xmlns:a16="http://schemas.microsoft.com/office/drawing/2014/main" id="{E91672DC-6B27-8D3F-2694-370C7E8E8832}"/>
              </a:ext>
            </a:extLst>
          </p:cNvPr>
          <p:cNvSpPr>
            <a:spLocks noGrp="1"/>
          </p:cNvSpPr>
          <p:nvPr>
            <p:ph idx="1"/>
          </p:nvPr>
        </p:nvSpPr>
        <p:spPr/>
        <p:txBody>
          <a:bodyPr/>
          <a:lstStyle/>
          <a:p>
            <a:pPr marL="0" indent="0">
              <a:buNone/>
            </a:pPr>
            <a:r>
              <a:rPr lang="en-US" dirty="0"/>
              <a:t>What is a “context”?</a:t>
            </a:r>
          </a:p>
          <a:p>
            <a:pPr marL="0" indent="0">
              <a:buNone/>
            </a:pPr>
            <a:r>
              <a:rPr lang="en-US" b="1" dirty="0"/>
              <a:t>Threads</a:t>
            </a:r>
            <a:r>
              <a:rPr lang="en-US" dirty="0"/>
              <a:t>: share an address space. Each has own stack and registers and program counter </a:t>
            </a:r>
          </a:p>
          <a:p>
            <a:pPr marL="0" indent="0">
              <a:buNone/>
            </a:pPr>
            <a:r>
              <a:rPr lang="en-US" b="1" dirty="0"/>
              <a:t>Processes</a:t>
            </a:r>
            <a:r>
              <a:rPr lang="en-US" dirty="0"/>
              <a:t>: share an operating system. Each has own address space as well as stack, registers, and program counter</a:t>
            </a:r>
          </a:p>
          <a:p>
            <a:pPr marL="0" indent="0">
              <a:buNone/>
            </a:pPr>
            <a:r>
              <a:rPr lang="en-US" b="1" dirty="0"/>
              <a:t>Virtual machines</a:t>
            </a:r>
            <a:r>
              <a:rPr lang="en-US" dirty="0"/>
              <a:t>: share nothing. Each has own virtualized computer. </a:t>
            </a:r>
          </a:p>
          <a:p>
            <a:pPr marL="0" indent="0">
              <a:buNone/>
            </a:pPr>
            <a:endParaRPr lang="en-US" dirty="0"/>
          </a:p>
          <a:p>
            <a:pPr marL="0" indent="0">
              <a:buNone/>
            </a:pPr>
            <a:r>
              <a:rPr lang="en-US" dirty="0"/>
              <a:t>For each, when would it be useful to use?</a:t>
            </a:r>
          </a:p>
        </p:txBody>
      </p:sp>
    </p:spTree>
    <p:extLst>
      <p:ext uri="{BB962C8B-B14F-4D97-AF65-F5344CB8AC3E}">
        <p14:creationId xmlns:p14="http://schemas.microsoft.com/office/powerpoint/2010/main" val="366981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36C7-632A-4B90-B1C7-F4D60C7E0E57}"/>
              </a:ext>
            </a:extLst>
          </p:cNvPr>
          <p:cNvSpPr>
            <a:spLocks noGrp="1"/>
          </p:cNvSpPr>
          <p:nvPr>
            <p:ph type="title"/>
          </p:nvPr>
        </p:nvSpPr>
        <p:spPr/>
        <p:txBody>
          <a:bodyPr/>
          <a:lstStyle/>
          <a:p>
            <a:r>
              <a:rPr lang="en-US" dirty="0"/>
              <a:t>Threads</a:t>
            </a:r>
          </a:p>
        </p:txBody>
      </p:sp>
      <p:sp>
        <p:nvSpPr>
          <p:cNvPr id="3" name="Content Placeholder 2">
            <a:extLst>
              <a:ext uri="{FF2B5EF4-FFF2-40B4-BE49-F238E27FC236}">
                <a16:creationId xmlns:a16="http://schemas.microsoft.com/office/drawing/2014/main" id="{952823E2-4CBD-867C-71A5-D73D10B10030}"/>
              </a:ext>
            </a:extLst>
          </p:cNvPr>
          <p:cNvSpPr>
            <a:spLocks noGrp="1"/>
          </p:cNvSpPr>
          <p:nvPr>
            <p:ph idx="1"/>
          </p:nvPr>
        </p:nvSpPr>
        <p:spPr/>
        <p:txBody>
          <a:bodyPr>
            <a:normAutofit fontScale="92500" lnSpcReduction="20000"/>
          </a:bodyPr>
          <a:lstStyle/>
          <a:p>
            <a:pPr marL="0" indent="0">
              <a:buNone/>
            </a:pPr>
            <a:r>
              <a:rPr lang="en-US" dirty="0"/>
              <a:t>Multiple loci of control in a program</a:t>
            </a:r>
          </a:p>
          <a:p>
            <a:pPr marL="0" indent="0">
              <a:buNone/>
            </a:pPr>
            <a:r>
              <a:rPr lang="en-US" dirty="0"/>
              <a:t>Small context: Light weight and powerful</a:t>
            </a:r>
          </a:p>
          <a:p>
            <a:pPr marL="0" indent="0">
              <a:buNone/>
            </a:pPr>
            <a:r>
              <a:rPr lang="en-US" dirty="0"/>
              <a:t>Communication using shared memory</a:t>
            </a:r>
          </a:p>
          <a:p>
            <a:pPr marL="0" indent="0">
              <a:buNone/>
            </a:pPr>
            <a:r>
              <a:rPr lang="en-US" dirty="0"/>
              <a:t>Riace conditions:</a:t>
            </a:r>
          </a:p>
          <a:p>
            <a:pPr marL="457200" lvl="1" indent="0">
              <a:buNone/>
            </a:pPr>
            <a:r>
              <a:rPr lang="en-US" dirty="0"/>
              <a:t>	       {balance = 200}		    {balance = 200}</a:t>
            </a:r>
          </a:p>
          <a:p>
            <a:pPr marL="457200" lvl="1" indent="0">
              <a:buNone/>
            </a:pPr>
            <a:r>
              <a:rPr lang="en-US" dirty="0"/>
              <a:t>	       1: r1 = balance		4: r2 = balance</a:t>
            </a:r>
          </a:p>
          <a:p>
            <a:pPr marL="457200" lvl="1" indent="0">
              <a:buNone/>
            </a:pPr>
            <a:r>
              <a:rPr lang="en-US" dirty="0"/>
              <a:t>	       2: r1 = r1 + 1000		5</a:t>
            </a:r>
            <a:r>
              <a:rPr lang="en-US" i="1" dirty="0"/>
              <a:t>: </a:t>
            </a:r>
            <a:r>
              <a:rPr lang="en-US" dirty="0"/>
              <a:t>r2 = r2 - 100</a:t>
            </a:r>
          </a:p>
          <a:p>
            <a:pPr marL="457200" lvl="1" indent="0">
              <a:buNone/>
            </a:pPr>
            <a:r>
              <a:rPr lang="en-US" dirty="0"/>
              <a:t>	       3: balance = r1		6: balance = r2</a:t>
            </a:r>
          </a:p>
          <a:p>
            <a:pPr marL="457200" lvl="1" indent="0">
              <a:buNone/>
            </a:pPr>
            <a:r>
              <a:rPr lang="en-US" dirty="0"/>
              <a:t>					    {balance = 100}</a:t>
            </a:r>
          </a:p>
          <a:p>
            <a:pPr marL="457200" lvl="1" indent="0">
              <a:buNone/>
            </a:pPr>
            <a:r>
              <a:rPr lang="en-US" dirty="0"/>
              <a:t>The goal was for balance to be 1100, but instead is 100 </a:t>
            </a:r>
          </a:p>
          <a:p>
            <a:pPr marL="0" indent="0">
              <a:buNone/>
            </a:pPr>
            <a:r>
              <a:rPr lang="en-US" dirty="0"/>
              <a:t>Requires concurrency control (locks, semaphores, monitors, synchronized methods) </a:t>
            </a:r>
          </a:p>
        </p:txBody>
      </p:sp>
      <p:grpSp>
        <p:nvGrpSpPr>
          <p:cNvPr id="4" name="Group 3" descr="Arrows showing execution order is 4, 1 through 3, and then 5 and 6. ">
            <a:extLst>
              <a:ext uri="{FF2B5EF4-FFF2-40B4-BE49-F238E27FC236}">
                <a16:creationId xmlns:a16="http://schemas.microsoft.com/office/drawing/2014/main" id="{BC528B61-C42D-647C-6E40-8A8B067FF37F}"/>
              </a:ext>
            </a:extLst>
          </p:cNvPr>
          <p:cNvGrpSpPr/>
          <p:nvPr/>
        </p:nvGrpSpPr>
        <p:grpSpPr>
          <a:xfrm>
            <a:off x="4203290" y="3282999"/>
            <a:ext cx="1312607" cy="1230005"/>
            <a:chOff x="4203290" y="3179763"/>
            <a:chExt cx="1312607" cy="1230005"/>
          </a:xfrm>
        </p:grpSpPr>
        <p:cxnSp>
          <p:nvCxnSpPr>
            <p:cNvPr id="5" name="Straight Arrow Connector 4">
              <a:extLst>
                <a:ext uri="{FF2B5EF4-FFF2-40B4-BE49-F238E27FC236}">
                  <a16:creationId xmlns:a16="http://schemas.microsoft.com/office/drawing/2014/main" id="{F7D92786-A7BD-AFF2-F4F5-9F04CB94CF46}"/>
                </a:ext>
                <a:ext uri="{C183D7F6-B498-43B3-948B-1728B52AA6E4}">
                  <adec:decorative xmlns:adec="http://schemas.microsoft.com/office/drawing/2017/decorative" val="0"/>
                </a:ext>
              </a:extLst>
            </p:cNvPr>
            <p:cNvCxnSpPr>
              <a:cxnSpLocks/>
            </p:cNvCxnSpPr>
            <p:nvPr/>
          </p:nvCxnSpPr>
          <p:spPr>
            <a:xfrm flipH="1" flipV="1">
              <a:off x="4203290" y="3179763"/>
              <a:ext cx="1312607" cy="615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3049A5B-D570-302A-AC64-9CC3CC0F5B9E}"/>
                </a:ext>
                <a:ext uri="{C183D7F6-B498-43B3-948B-1728B52AA6E4}">
                  <adec:decorative xmlns:adec="http://schemas.microsoft.com/office/drawing/2017/decorative" val="1"/>
                </a:ext>
              </a:extLst>
            </p:cNvPr>
            <p:cNvCxnSpPr>
              <a:cxnSpLocks/>
            </p:cNvCxnSpPr>
            <p:nvPr/>
          </p:nvCxnSpPr>
          <p:spPr>
            <a:xfrm>
              <a:off x="4203290" y="3179763"/>
              <a:ext cx="0" cy="1230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D637837-DF15-C1AE-663A-D0DC6815B024}"/>
                </a:ext>
                <a:ext uri="{C183D7F6-B498-43B3-948B-1728B52AA6E4}">
                  <adec:decorative xmlns:adec="http://schemas.microsoft.com/office/drawing/2017/decorative" val="1"/>
                </a:ext>
              </a:extLst>
            </p:cNvPr>
            <p:cNvCxnSpPr>
              <a:cxnSpLocks/>
            </p:cNvCxnSpPr>
            <p:nvPr/>
          </p:nvCxnSpPr>
          <p:spPr>
            <a:xfrm flipV="1">
              <a:off x="4203290" y="3929702"/>
              <a:ext cx="1312607" cy="4800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5281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F49C-F036-8E9B-53B4-D7D407C351A4}"/>
              </a:ext>
            </a:extLst>
          </p:cNvPr>
          <p:cNvSpPr>
            <a:spLocks noGrp="1"/>
          </p:cNvSpPr>
          <p:nvPr>
            <p:ph type="title"/>
          </p:nvPr>
        </p:nvSpPr>
        <p:spPr/>
        <p:txBody>
          <a:bodyPr/>
          <a:lstStyle/>
          <a:p>
            <a:r>
              <a:rPr lang="en-US" dirty="0"/>
              <a:t>Processes</a:t>
            </a:r>
          </a:p>
        </p:txBody>
      </p:sp>
      <p:sp>
        <p:nvSpPr>
          <p:cNvPr id="3" name="Content Placeholder 2">
            <a:extLst>
              <a:ext uri="{FF2B5EF4-FFF2-40B4-BE49-F238E27FC236}">
                <a16:creationId xmlns:a16="http://schemas.microsoft.com/office/drawing/2014/main" id="{B4175E8E-4E82-89E2-4CFC-152ECDEABEA9}"/>
              </a:ext>
            </a:extLst>
          </p:cNvPr>
          <p:cNvSpPr>
            <a:spLocks noGrp="1"/>
          </p:cNvSpPr>
          <p:nvPr>
            <p:ph idx="1"/>
          </p:nvPr>
        </p:nvSpPr>
        <p:spPr/>
        <p:txBody>
          <a:bodyPr/>
          <a:lstStyle/>
          <a:p>
            <a:pPr marL="0" indent="0">
              <a:buNone/>
            </a:pPr>
            <a:r>
              <a:rPr lang="en-US" dirty="0"/>
              <a:t>A locus of control with its own address space but concurrent with other processes</a:t>
            </a:r>
          </a:p>
          <a:p>
            <a:pPr marL="0" indent="0">
              <a:buNone/>
            </a:pPr>
            <a:r>
              <a:rPr lang="en-US" dirty="0"/>
              <a:t>Useful for sharing a CPU in a safe manner</a:t>
            </a:r>
          </a:p>
          <a:p>
            <a:pPr marL="0" indent="0">
              <a:buNone/>
            </a:pPr>
            <a:r>
              <a:rPr lang="en-US" dirty="0"/>
              <a:t>A natural model for distributed computing</a:t>
            </a:r>
          </a:p>
          <a:p>
            <a:pPr marL="0" indent="0">
              <a:buNone/>
            </a:pPr>
            <a:r>
              <a:rPr lang="en-US" dirty="0"/>
              <a:t>Communication using message passing/pipes</a:t>
            </a:r>
          </a:p>
          <a:p>
            <a:pPr marL="0" indent="0">
              <a:buNone/>
            </a:pPr>
            <a:r>
              <a:rPr lang="en-US" dirty="0"/>
              <a:t>Context includes all of address space: heavier weight than threads</a:t>
            </a:r>
          </a:p>
        </p:txBody>
      </p:sp>
    </p:spTree>
    <p:extLst>
      <p:ext uri="{BB962C8B-B14F-4D97-AF65-F5344CB8AC3E}">
        <p14:creationId xmlns:p14="http://schemas.microsoft.com/office/powerpoint/2010/main" val="2531265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E2EAA-B8ED-440F-C371-410FC8E13985}"/>
              </a:ext>
            </a:extLst>
          </p:cNvPr>
          <p:cNvSpPr>
            <a:spLocks noGrp="1"/>
          </p:cNvSpPr>
          <p:nvPr>
            <p:ph type="title"/>
          </p:nvPr>
        </p:nvSpPr>
        <p:spPr/>
        <p:txBody>
          <a:bodyPr/>
          <a:lstStyle/>
          <a:p>
            <a:r>
              <a:rPr lang="en-US" dirty="0"/>
              <a:t>Virtual machines</a:t>
            </a:r>
          </a:p>
        </p:txBody>
      </p:sp>
      <p:sp>
        <p:nvSpPr>
          <p:cNvPr id="3" name="Content Placeholder 2">
            <a:extLst>
              <a:ext uri="{FF2B5EF4-FFF2-40B4-BE49-F238E27FC236}">
                <a16:creationId xmlns:a16="http://schemas.microsoft.com/office/drawing/2014/main" id="{171D1C0B-78F1-C627-7938-BBA1BB4FAB05}"/>
              </a:ext>
            </a:extLst>
          </p:cNvPr>
          <p:cNvSpPr>
            <a:spLocks noGrp="1"/>
          </p:cNvSpPr>
          <p:nvPr>
            <p:ph idx="1"/>
          </p:nvPr>
        </p:nvSpPr>
        <p:spPr/>
        <p:txBody>
          <a:bodyPr/>
          <a:lstStyle/>
          <a:p>
            <a:pPr marL="0" indent="0">
              <a:buNone/>
            </a:pPr>
            <a:r>
              <a:rPr lang="en-US" dirty="0"/>
              <a:t>A locus of control consisting of a dedicated CPU</a:t>
            </a:r>
          </a:p>
          <a:p>
            <a:pPr marL="0" indent="0">
              <a:buNone/>
            </a:pPr>
            <a:r>
              <a:rPr lang="en-US" dirty="0"/>
              <a:t>A way of multiplexing CPUs with strong isolation</a:t>
            </a:r>
          </a:p>
          <a:p>
            <a:pPr marL="0" indent="0">
              <a:buNone/>
            </a:pPr>
            <a:r>
              <a:rPr lang="en-US" dirty="0"/>
              <a:t>Context includes entire state of a virtual CPU</a:t>
            </a:r>
          </a:p>
          <a:p>
            <a:pPr marL="0" indent="0">
              <a:buNone/>
            </a:pPr>
            <a:r>
              <a:rPr lang="en-US" dirty="0"/>
              <a:t>Communication through networking, shared file systems, etc.</a:t>
            </a:r>
          </a:p>
          <a:p>
            <a:pPr marL="0" indent="0">
              <a:buNone/>
            </a:pPr>
            <a:r>
              <a:rPr lang="en-US" dirty="0"/>
              <a:t>Used for emulation, cloud computing, and for security purposes</a:t>
            </a:r>
          </a:p>
        </p:txBody>
      </p:sp>
    </p:spTree>
    <p:extLst>
      <p:ext uri="{BB962C8B-B14F-4D97-AF65-F5344CB8AC3E}">
        <p14:creationId xmlns:p14="http://schemas.microsoft.com/office/powerpoint/2010/main" val="2220307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descr="page frames in physical (main) memory">
            <a:extLst>
              <a:ext uri="{FF2B5EF4-FFF2-40B4-BE49-F238E27FC236}">
                <a16:creationId xmlns:a16="http://schemas.microsoft.com/office/drawing/2014/main" id="{570233CE-C50C-FB98-AF5B-13400557C399}"/>
              </a:ext>
            </a:extLst>
          </p:cNvPr>
          <p:cNvGrpSpPr/>
          <p:nvPr/>
        </p:nvGrpSpPr>
        <p:grpSpPr>
          <a:xfrm>
            <a:off x="6584843" y="2421228"/>
            <a:ext cx="2798330" cy="2816524"/>
            <a:chOff x="6584843" y="2421228"/>
            <a:chExt cx="2798330" cy="2816524"/>
          </a:xfrm>
        </p:grpSpPr>
        <p:sp>
          <p:nvSpPr>
            <p:cNvPr id="29" name="Rounded Rectangle 28">
              <a:extLst>
                <a:ext uri="{FF2B5EF4-FFF2-40B4-BE49-F238E27FC236}">
                  <a16:creationId xmlns:a16="http://schemas.microsoft.com/office/drawing/2014/main" id="{CD2C2D71-0F6A-62F7-5ABA-2D266C03EB0A}"/>
                </a:ext>
              </a:extLst>
            </p:cNvPr>
            <p:cNvSpPr/>
            <p:nvPr/>
          </p:nvSpPr>
          <p:spPr>
            <a:xfrm>
              <a:off x="7366716" y="2421228"/>
              <a:ext cx="1287888" cy="1751527"/>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D2DABF77-4129-5E07-73A9-1641CF1A399D}"/>
                </a:ext>
              </a:extLst>
            </p:cNvPr>
            <p:cNvCxnSpPr/>
            <p:nvPr/>
          </p:nvCxnSpPr>
          <p:spPr>
            <a:xfrm>
              <a:off x="7366716" y="2728811"/>
              <a:ext cx="12878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3722399-3B72-335C-7655-28A828721DE5}"/>
                </a:ext>
              </a:extLst>
            </p:cNvPr>
            <p:cNvCxnSpPr/>
            <p:nvPr/>
          </p:nvCxnSpPr>
          <p:spPr>
            <a:xfrm>
              <a:off x="7366716" y="3021835"/>
              <a:ext cx="12878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3289B07-08A6-2553-AB30-60B01AB7A1F1}"/>
                </a:ext>
              </a:extLst>
            </p:cNvPr>
            <p:cNvCxnSpPr/>
            <p:nvPr/>
          </p:nvCxnSpPr>
          <p:spPr>
            <a:xfrm>
              <a:off x="7366716" y="3318078"/>
              <a:ext cx="12878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AFC2599-622A-6C70-CBBB-7757B6D52749}"/>
                </a:ext>
              </a:extLst>
            </p:cNvPr>
            <p:cNvCxnSpPr/>
            <p:nvPr/>
          </p:nvCxnSpPr>
          <p:spPr>
            <a:xfrm>
              <a:off x="7366716" y="3616817"/>
              <a:ext cx="12878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8F96639-1A13-B17F-C2C4-A8D174DB4330}"/>
                </a:ext>
              </a:extLst>
            </p:cNvPr>
            <p:cNvCxnSpPr/>
            <p:nvPr/>
          </p:nvCxnSpPr>
          <p:spPr>
            <a:xfrm>
              <a:off x="7366716" y="3880486"/>
              <a:ext cx="12878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592B99D-BF39-6CE4-EF2A-CAD37BDCAAEA}"/>
                </a:ext>
              </a:extLst>
            </p:cNvPr>
            <p:cNvCxnSpPr/>
            <p:nvPr/>
          </p:nvCxnSpPr>
          <p:spPr>
            <a:xfrm>
              <a:off x="7701566" y="2421228"/>
              <a:ext cx="0" cy="17515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027D696-342B-ADD1-B9EF-FFABE9F56866}"/>
                </a:ext>
              </a:extLst>
            </p:cNvPr>
            <p:cNvCxnSpPr/>
            <p:nvPr/>
          </p:nvCxnSpPr>
          <p:spPr>
            <a:xfrm>
              <a:off x="8021391" y="2421228"/>
              <a:ext cx="0" cy="175152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02A2C4F-1982-F078-A6E1-E23A37393E0A}"/>
                </a:ext>
              </a:extLst>
            </p:cNvPr>
            <p:cNvCxnSpPr/>
            <p:nvPr/>
          </p:nvCxnSpPr>
          <p:spPr>
            <a:xfrm>
              <a:off x="8341217" y="2421228"/>
              <a:ext cx="0" cy="1751527"/>
            </a:xfrm>
            <a:prstGeom prst="line">
              <a:avLst/>
            </a:prstGeom>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6E09A09E-8860-FBA4-D36E-5BCD5F294A91}"/>
                </a:ext>
              </a:extLst>
            </p:cNvPr>
            <p:cNvSpPr txBox="1"/>
            <p:nvPr/>
          </p:nvSpPr>
          <p:spPr>
            <a:xfrm>
              <a:off x="6584843" y="4314422"/>
              <a:ext cx="2798330" cy="923330"/>
            </a:xfrm>
            <a:prstGeom prst="rect">
              <a:avLst/>
            </a:prstGeom>
            <a:noFill/>
          </p:spPr>
          <p:txBody>
            <a:bodyPr wrap="none" rtlCol="0">
              <a:spAutoFit/>
            </a:bodyPr>
            <a:lstStyle/>
            <a:p>
              <a:pPr algn="ctr"/>
              <a:r>
                <a:rPr lang="en-US" dirty="0"/>
                <a:t>page frames</a:t>
              </a:r>
              <a:br>
                <a:rPr lang="en-US" dirty="0"/>
              </a:br>
              <a:r>
                <a:rPr lang="en-US" dirty="0"/>
                <a:t>in physical (main) memory</a:t>
              </a:r>
              <a:br>
                <a:rPr lang="en-US" dirty="0"/>
              </a:br>
              <a:r>
                <a:rPr lang="en-US" dirty="0"/>
                <a:t>on computer</a:t>
              </a:r>
            </a:p>
          </p:txBody>
        </p:sp>
      </p:grpSp>
      <p:grpSp>
        <p:nvGrpSpPr>
          <p:cNvPr id="2" name="Group 1" descr="virtual pages on backing store">
            <a:extLst>
              <a:ext uri="{FF2B5EF4-FFF2-40B4-BE49-F238E27FC236}">
                <a16:creationId xmlns:a16="http://schemas.microsoft.com/office/drawing/2014/main" id="{9FEF2A87-7C07-52E9-88C5-61552336B43D}"/>
              </a:ext>
            </a:extLst>
          </p:cNvPr>
          <p:cNvGrpSpPr/>
          <p:nvPr/>
        </p:nvGrpSpPr>
        <p:grpSpPr>
          <a:xfrm>
            <a:off x="9097733" y="788499"/>
            <a:ext cx="2256067" cy="5245593"/>
            <a:chOff x="9097733" y="788499"/>
            <a:chExt cx="2256067" cy="5245593"/>
          </a:xfrm>
        </p:grpSpPr>
        <p:sp>
          <p:nvSpPr>
            <p:cNvPr id="28" name="Can 27">
              <a:extLst>
                <a:ext uri="{FF2B5EF4-FFF2-40B4-BE49-F238E27FC236}">
                  <a16:creationId xmlns:a16="http://schemas.microsoft.com/office/drawing/2014/main" id="{000DE9F8-C548-0935-0B52-6A49BB521B3B}"/>
                </a:ext>
              </a:extLst>
            </p:cNvPr>
            <p:cNvSpPr/>
            <p:nvPr/>
          </p:nvSpPr>
          <p:spPr>
            <a:xfrm>
              <a:off x="9344696" y="1616298"/>
              <a:ext cx="2009104" cy="3361386"/>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EE82B54D-0B1F-1C82-8CCD-454AFC9A56E5}"/>
                </a:ext>
              </a:extLst>
            </p:cNvPr>
            <p:cNvCxnSpPr>
              <a:cxnSpLocks/>
            </p:cNvCxnSpPr>
            <p:nvPr/>
          </p:nvCxnSpPr>
          <p:spPr>
            <a:xfrm>
              <a:off x="9528220" y="2889449"/>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4C8784B-E0F5-741A-34B3-0262AA72469C}"/>
                </a:ext>
              </a:extLst>
            </p:cNvPr>
            <p:cNvCxnSpPr>
              <a:cxnSpLocks/>
            </p:cNvCxnSpPr>
            <p:nvPr/>
          </p:nvCxnSpPr>
          <p:spPr>
            <a:xfrm>
              <a:off x="9528220" y="3190711"/>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2C4E003-96C1-3B3E-FED8-BC2562F871BF}"/>
                </a:ext>
              </a:extLst>
            </p:cNvPr>
            <p:cNvCxnSpPr>
              <a:cxnSpLocks/>
            </p:cNvCxnSpPr>
            <p:nvPr/>
          </p:nvCxnSpPr>
          <p:spPr>
            <a:xfrm>
              <a:off x="9528220" y="3470478"/>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D9C1F9C-EAE9-185D-C6CC-853774AB7293}"/>
                </a:ext>
              </a:extLst>
            </p:cNvPr>
            <p:cNvCxnSpPr>
              <a:cxnSpLocks/>
            </p:cNvCxnSpPr>
            <p:nvPr/>
          </p:nvCxnSpPr>
          <p:spPr>
            <a:xfrm>
              <a:off x="9528220" y="3752741"/>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68FC2A4-CC4D-60BC-17E9-B43B1F692C44}"/>
                </a:ext>
              </a:extLst>
            </p:cNvPr>
            <p:cNvCxnSpPr>
              <a:cxnSpLocks/>
            </p:cNvCxnSpPr>
            <p:nvPr/>
          </p:nvCxnSpPr>
          <p:spPr>
            <a:xfrm>
              <a:off x="9528220" y="4024648"/>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7810F3A-9E6A-CD95-414C-BA01FFBB00E6}"/>
                </a:ext>
              </a:extLst>
            </p:cNvPr>
            <p:cNvCxnSpPr>
              <a:cxnSpLocks/>
            </p:cNvCxnSpPr>
            <p:nvPr/>
          </p:nvCxnSpPr>
          <p:spPr>
            <a:xfrm>
              <a:off x="9863070" y="2275267"/>
              <a:ext cx="0" cy="2369713"/>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AF743FA-F0F0-E9C4-483E-F12A3370EAA3}"/>
                </a:ext>
              </a:extLst>
            </p:cNvPr>
            <p:cNvCxnSpPr>
              <a:cxnSpLocks/>
            </p:cNvCxnSpPr>
            <p:nvPr/>
          </p:nvCxnSpPr>
          <p:spPr>
            <a:xfrm>
              <a:off x="10172164" y="2275267"/>
              <a:ext cx="10731" cy="2369713"/>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AA516550-BC36-3986-5242-31718F246C90}"/>
                </a:ext>
              </a:extLst>
            </p:cNvPr>
            <p:cNvCxnSpPr>
              <a:cxnSpLocks/>
            </p:cNvCxnSpPr>
            <p:nvPr/>
          </p:nvCxnSpPr>
          <p:spPr>
            <a:xfrm>
              <a:off x="10515600" y="2275267"/>
              <a:ext cx="0" cy="2369713"/>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461998A-80ED-39B2-E763-055BE5A6B6F4}"/>
                </a:ext>
              </a:extLst>
            </p:cNvPr>
            <p:cNvCxnSpPr>
              <a:cxnSpLocks/>
            </p:cNvCxnSpPr>
            <p:nvPr/>
          </p:nvCxnSpPr>
          <p:spPr>
            <a:xfrm>
              <a:off x="9528220" y="2573628"/>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C0BDA72A-06BB-6E84-DB0E-F3CC74CBE103}"/>
                </a:ext>
              </a:extLst>
            </p:cNvPr>
            <p:cNvCxnSpPr>
              <a:cxnSpLocks/>
            </p:cNvCxnSpPr>
            <p:nvPr/>
          </p:nvCxnSpPr>
          <p:spPr>
            <a:xfrm>
              <a:off x="9538951" y="4325155"/>
              <a:ext cx="15841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E03EFA3-1C58-A133-FB29-20752F9EFBCC}"/>
                </a:ext>
              </a:extLst>
            </p:cNvPr>
            <p:cNvCxnSpPr>
              <a:cxnSpLocks/>
            </p:cNvCxnSpPr>
            <p:nvPr/>
          </p:nvCxnSpPr>
          <p:spPr>
            <a:xfrm>
              <a:off x="9538951" y="4644980"/>
              <a:ext cx="158410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7590A06-5519-4CFC-4E18-36263547E047}"/>
                </a:ext>
              </a:extLst>
            </p:cNvPr>
            <p:cNvCxnSpPr>
              <a:cxnSpLocks/>
            </p:cNvCxnSpPr>
            <p:nvPr/>
          </p:nvCxnSpPr>
          <p:spPr>
            <a:xfrm>
              <a:off x="9528220" y="2275267"/>
              <a:ext cx="1594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EF6F7A6F-D2F6-5DE2-4533-7BD517192C4B}"/>
                </a:ext>
              </a:extLst>
            </p:cNvPr>
            <p:cNvCxnSpPr>
              <a:cxnSpLocks/>
            </p:cNvCxnSpPr>
            <p:nvPr/>
          </p:nvCxnSpPr>
          <p:spPr>
            <a:xfrm>
              <a:off x="10816108" y="2275267"/>
              <a:ext cx="0" cy="2369713"/>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7FB38A0D-E3D7-8705-27E5-80B0F32813FD}"/>
                </a:ext>
              </a:extLst>
            </p:cNvPr>
            <p:cNvCxnSpPr>
              <a:cxnSpLocks/>
            </p:cNvCxnSpPr>
            <p:nvPr/>
          </p:nvCxnSpPr>
          <p:spPr>
            <a:xfrm>
              <a:off x="9538951" y="2275267"/>
              <a:ext cx="0" cy="2346102"/>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F29FF69C-F709-FE63-1907-CB141CF0427D}"/>
                </a:ext>
              </a:extLst>
            </p:cNvPr>
            <p:cNvCxnSpPr>
              <a:cxnSpLocks/>
            </p:cNvCxnSpPr>
            <p:nvPr/>
          </p:nvCxnSpPr>
          <p:spPr>
            <a:xfrm>
              <a:off x="11123056" y="2279210"/>
              <a:ext cx="0" cy="2346102"/>
            </a:xfrm>
            <a:prstGeom prst="line">
              <a:avLst/>
            </a:prstGeom>
          </p:spPr>
          <p:style>
            <a:lnRef idx="2">
              <a:schemeClr val="accent1"/>
            </a:lnRef>
            <a:fillRef idx="0">
              <a:schemeClr val="accent1"/>
            </a:fillRef>
            <a:effectRef idx="1">
              <a:schemeClr val="accent1"/>
            </a:effectRef>
            <a:fontRef idx="minor">
              <a:schemeClr val="tx1"/>
            </a:fontRef>
          </p:style>
        </p:cxnSp>
        <p:sp>
          <p:nvSpPr>
            <p:cNvPr id="99" name="Rectangle 98">
              <a:extLst>
                <a:ext uri="{FF2B5EF4-FFF2-40B4-BE49-F238E27FC236}">
                  <a16:creationId xmlns:a16="http://schemas.microsoft.com/office/drawing/2014/main" id="{AF3B8A17-D875-8041-683A-40EEBEAFCEFF}"/>
                </a:ext>
              </a:extLst>
            </p:cNvPr>
            <p:cNvSpPr/>
            <p:nvPr/>
          </p:nvSpPr>
          <p:spPr>
            <a:xfrm>
              <a:off x="9549683" y="2275267"/>
              <a:ext cx="1260333" cy="298361"/>
            </a:xfrm>
            <a:prstGeom prst="rect">
              <a:avLst/>
            </a:prstGeom>
            <a:solidFill>
              <a:srgbClr val="FF0000">
                <a:alpha val="2882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F5270E37-FE04-24FA-0345-3CBAB3E2FE9D}"/>
                </a:ext>
              </a:extLst>
            </p:cNvPr>
            <p:cNvSpPr txBox="1"/>
            <p:nvPr/>
          </p:nvSpPr>
          <p:spPr>
            <a:xfrm>
              <a:off x="9423257" y="5110762"/>
              <a:ext cx="1908151" cy="923330"/>
            </a:xfrm>
            <a:prstGeom prst="rect">
              <a:avLst/>
            </a:prstGeom>
            <a:noFill/>
          </p:spPr>
          <p:txBody>
            <a:bodyPr wrap="none" rtlCol="0">
              <a:spAutoFit/>
            </a:bodyPr>
            <a:lstStyle/>
            <a:p>
              <a:pPr algn="ctr"/>
              <a:r>
                <a:rPr lang="en-US" dirty="0"/>
                <a:t>pages</a:t>
              </a:r>
              <a:br>
                <a:rPr lang="en-US" dirty="0"/>
              </a:br>
              <a:r>
                <a:rPr lang="en-US" dirty="0"/>
                <a:t>in virtual memory</a:t>
              </a:r>
            </a:p>
            <a:p>
              <a:pPr algn="ctr"/>
              <a:r>
                <a:rPr lang="en-US" dirty="0"/>
                <a:t>on backing store</a:t>
              </a:r>
            </a:p>
          </p:txBody>
        </p:sp>
        <p:sp>
          <p:nvSpPr>
            <p:cNvPr id="107" name="Left Brace 106">
              <a:extLst>
                <a:ext uri="{FF2B5EF4-FFF2-40B4-BE49-F238E27FC236}">
                  <a16:creationId xmlns:a16="http://schemas.microsoft.com/office/drawing/2014/main" id="{B4CEFBC3-D7DC-C9D0-2016-5ECB75A65860}"/>
                </a:ext>
              </a:extLst>
            </p:cNvPr>
            <p:cNvSpPr/>
            <p:nvPr/>
          </p:nvSpPr>
          <p:spPr>
            <a:xfrm rot="5400000">
              <a:off x="9780341" y="1159999"/>
              <a:ext cx="799012" cy="1260329"/>
            </a:xfrm>
            <a:prstGeom prst="leftBrace">
              <a:avLst/>
            </a:prstGeom>
            <a:ln w="317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8" name="TextBox 107">
              <a:extLst>
                <a:ext uri="{FF2B5EF4-FFF2-40B4-BE49-F238E27FC236}">
                  <a16:creationId xmlns:a16="http://schemas.microsoft.com/office/drawing/2014/main" id="{CE512B3A-3393-CCB3-F2AE-C97C785C187F}"/>
                </a:ext>
              </a:extLst>
            </p:cNvPr>
            <p:cNvSpPr txBox="1"/>
            <p:nvPr/>
          </p:nvSpPr>
          <p:spPr>
            <a:xfrm>
              <a:off x="9097733" y="788499"/>
              <a:ext cx="2201308" cy="646331"/>
            </a:xfrm>
            <a:prstGeom prst="rect">
              <a:avLst/>
            </a:prstGeom>
            <a:noFill/>
          </p:spPr>
          <p:txBody>
            <a:bodyPr wrap="none" rtlCol="0">
              <a:spAutoFit/>
            </a:bodyPr>
            <a:lstStyle/>
            <a:p>
              <a:pPr algn="ctr"/>
              <a:r>
                <a:rPr lang="en-US" dirty="0"/>
                <a:t>contiguous region of</a:t>
              </a:r>
              <a:br>
                <a:rPr lang="en-US" dirty="0"/>
              </a:br>
              <a:r>
                <a:rPr lang="en-US" dirty="0"/>
                <a:t>virtual memory</a:t>
              </a:r>
            </a:p>
          </p:txBody>
        </p:sp>
      </p:grpSp>
      <p:sp>
        <p:nvSpPr>
          <p:cNvPr id="26" name="Content Placeholder 5">
            <a:extLst>
              <a:ext uri="{FF2B5EF4-FFF2-40B4-BE49-F238E27FC236}">
                <a16:creationId xmlns:a16="http://schemas.microsoft.com/office/drawing/2014/main" id="{C18AA5A1-9D08-543A-8795-D65401064C74}"/>
              </a:ext>
            </a:extLst>
          </p:cNvPr>
          <p:cNvSpPr txBox="1">
            <a:spLocks/>
          </p:cNvSpPr>
          <p:nvPr/>
        </p:nvSpPr>
        <p:spPr>
          <a:xfrm>
            <a:off x="78680" y="1690688"/>
            <a:ext cx="6987527" cy="489835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Virtual memory</a:t>
            </a:r>
            <a:r>
              <a:rPr lang="en-US" dirty="0"/>
              <a:t>: the full amount of addressable memory</a:t>
            </a:r>
          </a:p>
          <a:p>
            <a:pPr marL="0" indent="0">
              <a:buFont typeface="Arial" panose="020B0604020202020204" pitchFamily="34" charset="0"/>
              <a:buNone/>
            </a:pPr>
            <a:r>
              <a:rPr lang="en-US" b="1" dirty="0"/>
              <a:t>Physical memory</a:t>
            </a:r>
            <a:r>
              <a:rPr lang="en-US" dirty="0"/>
              <a:t>: the </a:t>
            </a:r>
            <a:r>
              <a:rPr lang="en-US" b="1" dirty="0"/>
              <a:t>main memory </a:t>
            </a:r>
            <a:r>
              <a:rPr lang="en-US" dirty="0"/>
              <a:t>the computer possesses</a:t>
            </a:r>
          </a:p>
          <a:p>
            <a:pPr>
              <a:spcBef>
                <a:spcPts val="600"/>
              </a:spcBef>
            </a:pPr>
            <a:r>
              <a:rPr lang="en-US" dirty="0"/>
              <a:t>The memory is tiled into </a:t>
            </a:r>
            <a:r>
              <a:rPr lang="en-US" b="1" dirty="0"/>
              <a:t>pages</a:t>
            </a:r>
            <a:r>
              <a:rPr lang="en-US" dirty="0"/>
              <a:t> (of virtual memory) and </a:t>
            </a:r>
            <a:r>
              <a:rPr lang="en-US" b="1" dirty="0"/>
              <a:t>page frames</a:t>
            </a:r>
            <a:r>
              <a:rPr lang="en-US" dirty="0"/>
              <a:t> (of physical memory)</a:t>
            </a:r>
          </a:p>
          <a:p>
            <a:pPr>
              <a:spcBef>
                <a:spcPts val="600"/>
              </a:spcBef>
            </a:pPr>
            <a:r>
              <a:rPr lang="en-US" dirty="0"/>
              <a:t>Virtual memory exists on </a:t>
            </a:r>
            <a:r>
              <a:rPr lang="en-US" b="1" dirty="0"/>
              <a:t>backing store</a:t>
            </a:r>
          </a:p>
          <a:p>
            <a:pPr>
              <a:spcBef>
                <a:spcPts val="600"/>
              </a:spcBef>
            </a:pPr>
            <a:r>
              <a:rPr lang="en-US" dirty="0"/>
              <a:t>Hardware memory manager facilitates:</a:t>
            </a:r>
          </a:p>
          <a:p>
            <a:pPr lvl="1">
              <a:spcBef>
                <a:spcPts val="600"/>
              </a:spcBef>
            </a:pPr>
            <a:r>
              <a:rPr lang="en-US" dirty="0"/>
              <a:t>the translation of virtual addresses to physical addresses</a:t>
            </a:r>
          </a:p>
          <a:p>
            <a:pPr lvl="1">
              <a:spcBef>
                <a:spcPts val="600"/>
              </a:spcBef>
            </a:pPr>
            <a:r>
              <a:rPr lang="en-US" dirty="0"/>
              <a:t>transferring of pages between backing store and physical memory</a:t>
            </a:r>
          </a:p>
        </p:txBody>
      </p:sp>
      <p:sp>
        <p:nvSpPr>
          <p:cNvPr id="7" name="Title 6">
            <a:extLst>
              <a:ext uri="{FF2B5EF4-FFF2-40B4-BE49-F238E27FC236}">
                <a16:creationId xmlns:a16="http://schemas.microsoft.com/office/drawing/2014/main" id="{A598FBC2-B238-137D-8535-4C7B5E31600A}"/>
              </a:ext>
            </a:extLst>
          </p:cNvPr>
          <p:cNvSpPr>
            <a:spLocks noGrp="1"/>
          </p:cNvSpPr>
          <p:nvPr>
            <p:ph type="title"/>
          </p:nvPr>
        </p:nvSpPr>
        <p:spPr/>
        <p:txBody>
          <a:bodyPr/>
          <a:lstStyle/>
          <a:p>
            <a:r>
              <a:rPr lang="en-US" dirty="0"/>
              <a:t>Virtual memory</a:t>
            </a:r>
          </a:p>
        </p:txBody>
      </p:sp>
      <p:grpSp>
        <p:nvGrpSpPr>
          <p:cNvPr id="6" name="Group 5" descr="Mapping between pages (virtual memory) and page frames (physical memory)">
            <a:extLst>
              <a:ext uri="{FF2B5EF4-FFF2-40B4-BE49-F238E27FC236}">
                <a16:creationId xmlns:a16="http://schemas.microsoft.com/office/drawing/2014/main" id="{25E3A669-35EC-A1C8-4720-B3ED3DAD4C06}"/>
              </a:ext>
            </a:extLst>
          </p:cNvPr>
          <p:cNvGrpSpPr/>
          <p:nvPr/>
        </p:nvGrpSpPr>
        <p:grpSpPr>
          <a:xfrm>
            <a:off x="7551312" y="2419642"/>
            <a:ext cx="3108450" cy="1605006"/>
            <a:chOff x="7551312" y="2419642"/>
            <a:chExt cx="3108450" cy="1605006"/>
          </a:xfrm>
        </p:grpSpPr>
        <p:cxnSp>
          <p:nvCxnSpPr>
            <p:cNvPr id="91" name="Straight Arrow Connector 90">
              <a:extLst>
                <a:ext uri="{FF2B5EF4-FFF2-40B4-BE49-F238E27FC236}">
                  <a16:creationId xmlns:a16="http://schemas.microsoft.com/office/drawing/2014/main" id="{070676FF-C9D8-7552-646B-306FBA25E245}"/>
                </a:ext>
              </a:extLst>
            </p:cNvPr>
            <p:cNvCxnSpPr>
              <a:cxnSpLocks/>
            </p:cNvCxnSpPr>
            <p:nvPr/>
          </p:nvCxnSpPr>
          <p:spPr>
            <a:xfrm flipV="1">
              <a:off x="7857913" y="2419642"/>
              <a:ext cx="1882084" cy="1605006"/>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E7A815B6-0CFC-4C4F-79C5-3C6C2AFBCF16}"/>
                </a:ext>
              </a:extLst>
            </p:cNvPr>
            <p:cNvCxnSpPr>
              <a:cxnSpLocks/>
            </p:cNvCxnSpPr>
            <p:nvPr/>
          </p:nvCxnSpPr>
          <p:spPr>
            <a:xfrm flipV="1">
              <a:off x="7551312" y="2454220"/>
              <a:ext cx="2784330" cy="119408"/>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1B3365E7-BA41-0E5D-CB5D-5D06B1683850}"/>
                </a:ext>
              </a:extLst>
            </p:cNvPr>
            <p:cNvCxnSpPr>
              <a:cxnSpLocks/>
            </p:cNvCxnSpPr>
            <p:nvPr/>
          </p:nvCxnSpPr>
          <p:spPr>
            <a:xfrm flipV="1">
              <a:off x="7551312" y="2456368"/>
              <a:ext cx="3108450" cy="717897"/>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8D15F729-85C4-8D89-70A4-FB1238F02A86}"/>
                </a:ext>
              </a:extLst>
            </p:cNvPr>
            <p:cNvCxnSpPr>
              <a:cxnSpLocks/>
            </p:cNvCxnSpPr>
            <p:nvPr/>
          </p:nvCxnSpPr>
          <p:spPr>
            <a:xfrm flipV="1">
              <a:off x="8159172" y="2436119"/>
              <a:ext cx="1862738" cy="1060004"/>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58734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E34D9-52FC-75BF-C2D9-DB7F984B456B}"/>
              </a:ext>
            </a:extLst>
          </p:cNvPr>
          <p:cNvSpPr>
            <a:spLocks noGrp="1"/>
          </p:cNvSpPr>
          <p:nvPr>
            <p:ph type="title"/>
          </p:nvPr>
        </p:nvSpPr>
        <p:spPr/>
        <p:txBody>
          <a:bodyPr/>
          <a:lstStyle/>
          <a:p>
            <a:r>
              <a:rPr lang="en-US" dirty="0"/>
              <a:t>Why is virtual memory useful?</a:t>
            </a:r>
          </a:p>
        </p:txBody>
      </p:sp>
      <p:sp>
        <p:nvSpPr>
          <p:cNvPr id="3" name="Content Placeholder 2">
            <a:extLst>
              <a:ext uri="{FF2B5EF4-FFF2-40B4-BE49-F238E27FC236}">
                <a16:creationId xmlns:a16="http://schemas.microsoft.com/office/drawing/2014/main" id="{58DB5D19-C291-8D24-D84B-A627FC724C68}"/>
              </a:ext>
            </a:extLst>
          </p:cNvPr>
          <p:cNvSpPr>
            <a:spLocks noGrp="1"/>
          </p:cNvSpPr>
          <p:nvPr>
            <p:ph sz="half" idx="1"/>
          </p:nvPr>
        </p:nvSpPr>
        <p:spPr/>
        <p:txBody>
          <a:bodyPr>
            <a:normAutofit fontScale="92500" lnSpcReduction="10000"/>
          </a:bodyPr>
          <a:lstStyle/>
          <a:p>
            <a:pPr marL="0" indent="0">
              <a:buNone/>
            </a:pPr>
            <a:r>
              <a:rPr lang="en-US" dirty="0"/>
              <a:t>Virtual memory:</a:t>
            </a:r>
          </a:p>
          <a:p>
            <a:r>
              <a:rPr lang="en-US" dirty="0"/>
              <a:t>Shares a limited resource through time multiplexing</a:t>
            </a:r>
          </a:p>
          <a:p>
            <a:r>
              <a:rPr lang="en-US" dirty="0"/>
              <a:t>Implements a memory firewall that isolates processes (and virtual machines) from each other</a:t>
            </a:r>
          </a:p>
          <a:p>
            <a:r>
              <a:rPr lang="en-US" dirty="0"/>
              <a:t>Also provides a way to implement </a:t>
            </a:r>
            <a:r>
              <a:rPr lang="en-US" i="1" dirty="0"/>
              <a:t>memory mapped file </a:t>
            </a:r>
            <a:r>
              <a:rPr lang="en-US" dirty="0"/>
              <a:t>access</a:t>
            </a:r>
          </a:p>
          <a:p>
            <a:pPr lvl="1"/>
            <a:r>
              <a:rPr lang="en-US" dirty="0"/>
              <a:t>A segment of a file is associated with a range of virtual memory addresses</a:t>
            </a:r>
          </a:p>
        </p:txBody>
      </p:sp>
      <p:sp>
        <p:nvSpPr>
          <p:cNvPr id="4" name="Content Placeholder 3">
            <a:extLst>
              <a:ext uri="{FF2B5EF4-FFF2-40B4-BE49-F238E27FC236}">
                <a16:creationId xmlns:a16="http://schemas.microsoft.com/office/drawing/2014/main" id="{ABD9C52C-E98F-E75A-2BFF-BAC45D61DB88}"/>
              </a:ext>
            </a:extLst>
          </p:cNvPr>
          <p:cNvSpPr>
            <a:spLocks noGrp="1"/>
          </p:cNvSpPr>
          <p:nvPr>
            <p:ph sz="half" idx="2"/>
          </p:nvPr>
        </p:nvSpPr>
        <p:spPr/>
        <p:txBody>
          <a:bodyPr>
            <a:normAutofit fontScale="92500" lnSpcReduction="10000"/>
          </a:bodyPr>
          <a:lstStyle/>
          <a:p>
            <a:pPr marL="0" indent="0">
              <a:buNone/>
            </a:pPr>
            <a:r>
              <a:rPr lang="en-US" dirty="0"/>
              <a:t>Assuming an address refers to a byte:</a:t>
            </a:r>
          </a:p>
          <a:p>
            <a:r>
              <a:rPr lang="en-US" dirty="0"/>
              <a:t>32-bit address: 4GB</a:t>
            </a:r>
          </a:p>
          <a:p>
            <a:r>
              <a:rPr lang="en-US" dirty="0"/>
              <a:t>64-bit address: 16EB</a:t>
            </a:r>
          </a:p>
          <a:p>
            <a:pPr marL="0" indent="0">
              <a:buNone/>
            </a:pPr>
            <a:r>
              <a:rPr lang="en-US" dirty="0"/>
              <a:t>Main memory for my devices:</a:t>
            </a:r>
          </a:p>
          <a:p>
            <a:r>
              <a:rPr lang="en-US" dirty="0"/>
              <a:t>Apple watch: 1GB</a:t>
            </a:r>
          </a:p>
          <a:p>
            <a:r>
              <a:rPr lang="en-US" dirty="0"/>
              <a:t>iPhone: 8GB</a:t>
            </a:r>
          </a:p>
          <a:p>
            <a:r>
              <a:rPr lang="en-US" dirty="0"/>
              <a:t>personal Mac laptop: 24GB</a:t>
            </a:r>
          </a:p>
          <a:p>
            <a:r>
              <a:rPr lang="en-US" dirty="0"/>
              <a:t>University PC laptop: 16G</a:t>
            </a:r>
          </a:p>
          <a:p>
            <a:r>
              <a:rPr lang="en-US" dirty="0"/>
              <a:t>University Mac laptop: 32GB</a:t>
            </a:r>
          </a:p>
        </p:txBody>
      </p:sp>
      <p:sp>
        <p:nvSpPr>
          <p:cNvPr id="5" name="TextBox 4">
            <a:extLst>
              <a:ext uri="{FF2B5EF4-FFF2-40B4-BE49-F238E27FC236}">
                <a16:creationId xmlns:a16="http://schemas.microsoft.com/office/drawing/2014/main" id="{703918F4-0E4B-07AD-A263-20718A16B0C5}"/>
              </a:ext>
            </a:extLst>
          </p:cNvPr>
          <p:cNvSpPr txBox="1"/>
          <p:nvPr/>
        </p:nvSpPr>
        <p:spPr>
          <a:xfrm>
            <a:off x="6019800" y="6334780"/>
            <a:ext cx="6172200" cy="523220"/>
          </a:xfrm>
          <a:prstGeom prst="rect">
            <a:avLst/>
          </a:prstGeom>
          <a:solidFill>
            <a:schemeClr val="accent6">
              <a:lumMod val="20000"/>
              <a:lumOff val="80000"/>
            </a:schemeClr>
          </a:solidFill>
        </p:spPr>
        <p:txBody>
          <a:bodyPr wrap="square" rtlCol="0">
            <a:spAutoFit/>
          </a:bodyPr>
          <a:lstStyle/>
          <a:p>
            <a:r>
              <a:rPr lang="en-US" sz="1400" dirty="0">
                <a:hlinkClick r:id="rId2"/>
              </a:rPr>
              <a:t>Virtual memory originated</a:t>
            </a:r>
            <a:r>
              <a:rPr lang="en-US" sz="1400" dirty="0"/>
              <a:t> with the University of Manchester’s Atlas Computer project of the late 1950a.</a:t>
            </a:r>
          </a:p>
        </p:txBody>
      </p:sp>
    </p:spTree>
    <p:extLst>
      <p:ext uri="{BB962C8B-B14F-4D97-AF65-F5344CB8AC3E}">
        <p14:creationId xmlns:p14="http://schemas.microsoft.com/office/powerpoint/2010/main" val="2051788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7123C-52F2-0931-D0E8-8466B06CC9A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29AF73-E1AD-B3E3-0663-032CA89BF54D}"/>
              </a:ext>
            </a:extLst>
          </p:cNvPr>
          <p:cNvSpPr>
            <a:spLocks noGrp="1"/>
          </p:cNvSpPr>
          <p:nvPr>
            <p:ph type="title"/>
          </p:nvPr>
        </p:nvSpPr>
        <p:spPr/>
        <p:txBody>
          <a:bodyPr/>
          <a:lstStyle/>
          <a:p>
            <a:r>
              <a:rPr lang="en-US" dirty="0"/>
              <a:t>Old-school virtual memory example</a:t>
            </a:r>
          </a:p>
        </p:txBody>
      </p:sp>
      <p:sp>
        <p:nvSpPr>
          <p:cNvPr id="2" name="Content Placeholder 1">
            <a:extLst>
              <a:ext uri="{FF2B5EF4-FFF2-40B4-BE49-F238E27FC236}">
                <a16:creationId xmlns:a16="http://schemas.microsoft.com/office/drawing/2014/main" id="{97E4BB1B-3B5C-67BF-4F2B-800BC5349EBB}"/>
              </a:ext>
            </a:extLst>
          </p:cNvPr>
          <p:cNvSpPr>
            <a:spLocks noGrp="1"/>
          </p:cNvSpPr>
          <p:nvPr>
            <p:ph idx="1"/>
          </p:nvPr>
        </p:nvSpPr>
        <p:spPr/>
        <p:txBody>
          <a:bodyPr/>
          <a:lstStyle/>
          <a:p>
            <a:pPr marL="0" indent="0">
              <a:buNone/>
            </a:pPr>
            <a:r>
              <a:rPr lang="en-US" dirty="0"/>
              <a:t>Assume:</a:t>
            </a:r>
          </a:p>
          <a:p>
            <a:pPr>
              <a:spcBef>
                <a:spcPts val="0"/>
              </a:spcBef>
            </a:pPr>
            <a:r>
              <a:rPr lang="en-US" dirty="0"/>
              <a:t>Byte-addressable memory</a:t>
            </a:r>
          </a:p>
          <a:p>
            <a:pPr>
              <a:spcBef>
                <a:spcPts val="0"/>
              </a:spcBef>
            </a:pPr>
            <a:r>
              <a:rPr lang="en-US" dirty="0"/>
              <a:t>32-bit addresses</a:t>
            </a:r>
          </a:p>
          <a:p>
            <a:pPr lvl="1">
              <a:spcBef>
                <a:spcPts val="0"/>
              </a:spcBef>
            </a:pPr>
            <a:r>
              <a:rPr lang="en-US" dirty="0"/>
              <a:t>Virtual memory address can span up to 4GB (0 – 0xFFFFFFFF)</a:t>
            </a:r>
          </a:p>
          <a:p>
            <a:pPr>
              <a:spcBef>
                <a:spcPts val="0"/>
              </a:spcBef>
            </a:pPr>
            <a:r>
              <a:rPr lang="en-US" dirty="0"/>
              <a:t>128MB of physical memory (0 – 0x7FFFFFF)</a:t>
            </a:r>
          </a:p>
          <a:p>
            <a:pPr>
              <a:spcBef>
                <a:spcPts val="0"/>
              </a:spcBef>
            </a:pPr>
            <a:r>
              <a:rPr lang="en-US" dirty="0"/>
              <a:t>Page size of 4KB</a:t>
            </a:r>
          </a:p>
          <a:p>
            <a:pPr lvl="1">
              <a:spcBef>
                <a:spcPts val="0"/>
              </a:spcBef>
            </a:pPr>
            <a:r>
              <a:rPr lang="en-US" dirty="0"/>
              <a:t>Virtual memory has up to 1M pages</a:t>
            </a:r>
            <a:endParaRPr lang="en-US" b="1" dirty="0"/>
          </a:p>
          <a:p>
            <a:pPr lvl="1">
              <a:spcBef>
                <a:spcPts val="0"/>
              </a:spcBef>
            </a:pPr>
            <a:r>
              <a:rPr lang="en-US" dirty="0"/>
              <a:t>Physical memory has 32K page frames</a:t>
            </a:r>
          </a:p>
          <a:p>
            <a:pPr marL="0" indent="0">
              <a:spcBef>
                <a:spcPts val="0"/>
              </a:spcBef>
              <a:buNone/>
            </a:pPr>
            <a:r>
              <a:rPr lang="en-US" dirty="0"/>
              <a:t>Translating from page to page frame is done by hardware (memory management unit) that references a </a:t>
            </a:r>
            <a:r>
              <a:rPr lang="en-US" i="1" dirty="0"/>
              <a:t>page table</a:t>
            </a:r>
            <a:endParaRPr lang="en-US" dirty="0"/>
          </a:p>
          <a:p>
            <a:pPr marL="0" indent="0">
              <a:spcBef>
                <a:spcPts val="0"/>
              </a:spcBef>
              <a:buNone/>
            </a:pPr>
            <a:endParaRPr lang="en-US" dirty="0"/>
          </a:p>
          <a:p>
            <a:pPr marL="0" indent="0">
              <a:buNone/>
            </a:pPr>
            <a:endParaRPr lang="en-US" dirty="0"/>
          </a:p>
        </p:txBody>
      </p:sp>
      <p:grpSp>
        <p:nvGrpSpPr>
          <p:cNvPr id="25" name="Group 24" descr="32 bit address consists of the first 20 bits (page number) and last 12 bits (offset in page)">
            <a:extLst>
              <a:ext uri="{FF2B5EF4-FFF2-40B4-BE49-F238E27FC236}">
                <a16:creationId xmlns:a16="http://schemas.microsoft.com/office/drawing/2014/main" id="{DF2F308C-5D78-11D6-1BFE-EE67C7365C79}"/>
              </a:ext>
            </a:extLst>
          </p:cNvPr>
          <p:cNvGrpSpPr/>
          <p:nvPr/>
        </p:nvGrpSpPr>
        <p:grpSpPr>
          <a:xfrm>
            <a:off x="7155875" y="1227121"/>
            <a:ext cx="4798359" cy="1302890"/>
            <a:chOff x="1297641" y="3797259"/>
            <a:chExt cx="4798359" cy="1302890"/>
          </a:xfrm>
        </p:grpSpPr>
        <p:sp>
          <p:nvSpPr>
            <p:cNvPr id="8" name="Rectangle 7">
              <a:extLst>
                <a:ext uri="{FF2B5EF4-FFF2-40B4-BE49-F238E27FC236}">
                  <a16:creationId xmlns:a16="http://schemas.microsoft.com/office/drawing/2014/main" id="{4DFCE543-F99F-C174-5089-89669A252E0C}"/>
                </a:ext>
              </a:extLst>
            </p:cNvPr>
            <p:cNvSpPr/>
            <p:nvPr/>
          </p:nvSpPr>
          <p:spPr>
            <a:xfrm>
              <a:off x="1314450" y="4185634"/>
              <a:ext cx="2785056" cy="5151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page</a:t>
              </a:r>
              <a:endParaRPr lang="en-US" sz="1600" dirty="0">
                <a:solidFill>
                  <a:schemeClr val="tx1"/>
                </a:solidFill>
              </a:endParaRPr>
            </a:p>
          </p:txBody>
        </p:sp>
        <p:sp>
          <p:nvSpPr>
            <p:cNvPr id="9" name="Rectangle 8">
              <a:extLst>
                <a:ext uri="{FF2B5EF4-FFF2-40B4-BE49-F238E27FC236}">
                  <a16:creationId xmlns:a16="http://schemas.microsoft.com/office/drawing/2014/main" id="{F8A74C67-C690-B286-0F80-0DAD979A299D}"/>
                </a:ext>
              </a:extLst>
            </p:cNvPr>
            <p:cNvSpPr/>
            <p:nvPr/>
          </p:nvSpPr>
          <p:spPr>
            <a:xfrm>
              <a:off x="4099506" y="4185634"/>
              <a:ext cx="1996494" cy="5151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offset</a:t>
              </a:r>
              <a:endParaRPr lang="en-US" dirty="0">
                <a:solidFill>
                  <a:schemeClr val="tx1"/>
                </a:solidFill>
              </a:endParaRPr>
            </a:p>
          </p:txBody>
        </p:sp>
        <p:cxnSp>
          <p:nvCxnSpPr>
            <p:cNvPr id="13" name="Straight Arrow Connector 12">
              <a:extLst>
                <a:ext uri="{FF2B5EF4-FFF2-40B4-BE49-F238E27FC236}">
                  <a16:creationId xmlns:a16="http://schemas.microsoft.com/office/drawing/2014/main" id="{019DC3D1-5C48-52D1-5EF9-6D6659A52954}"/>
                </a:ext>
              </a:extLst>
            </p:cNvPr>
            <p:cNvCxnSpPr>
              <a:cxnSpLocks/>
            </p:cNvCxnSpPr>
            <p:nvPr/>
          </p:nvCxnSpPr>
          <p:spPr>
            <a:xfrm>
              <a:off x="1297641" y="4022019"/>
              <a:ext cx="2785056" cy="0"/>
            </a:xfrm>
            <a:prstGeom prst="straightConnector1">
              <a:avLst/>
            </a:prstGeom>
            <a:ln w="3492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8FD1CCC-CA90-6458-4756-3AFDCC224883}"/>
                </a:ext>
              </a:extLst>
            </p:cNvPr>
            <p:cNvCxnSpPr>
              <a:cxnSpLocks/>
            </p:cNvCxnSpPr>
            <p:nvPr/>
          </p:nvCxnSpPr>
          <p:spPr>
            <a:xfrm flipV="1">
              <a:off x="4082697" y="4022019"/>
              <a:ext cx="2013303" cy="7397"/>
            </a:xfrm>
            <a:prstGeom prst="straightConnector1">
              <a:avLst/>
            </a:prstGeom>
            <a:ln w="3492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8183500-7E54-8C29-5F08-EFC9220CF31C}"/>
                </a:ext>
              </a:extLst>
            </p:cNvPr>
            <p:cNvSpPr txBox="1"/>
            <p:nvPr/>
          </p:nvSpPr>
          <p:spPr>
            <a:xfrm>
              <a:off x="2286586" y="3797259"/>
              <a:ext cx="849014" cy="369332"/>
            </a:xfrm>
            <a:prstGeom prst="rect">
              <a:avLst/>
            </a:prstGeom>
            <a:solidFill>
              <a:schemeClr val="bg1"/>
            </a:solidFill>
          </p:spPr>
          <p:txBody>
            <a:bodyPr wrap="none" rtlCol="0">
              <a:spAutoFit/>
            </a:bodyPr>
            <a:lstStyle/>
            <a:p>
              <a:pPr algn="ctr"/>
              <a:r>
                <a:rPr lang="en-US" dirty="0"/>
                <a:t>20 bits</a:t>
              </a:r>
            </a:p>
          </p:txBody>
        </p:sp>
        <p:sp>
          <p:nvSpPr>
            <p:cNvPr id="11" name="TextBox 10">
              <a:extLst>
                <a:ext uri="{FF2B5EF4-FFF2-40B4-BE49-F238E27FC236}">
                  <a16:creationId xmlns:a16="http://schemas.microsoft.com/office/drawing/2014/main" id="{6493280D-EC16-8F7A-6982-FF6549739DB8}"/>
                </a:ext>
              </a:extLst>
            </p:cNvPr>
            <p:cNvSpPr txBox="1"/>
            <p:nvPr/>
          </p:nvSpPr>
          <p:spPr>
            <a:xfrm>
              <a:off x="4671414" y="3799153"/>
              <a:ext cx="849015" cy="369332"/>
            </a:xfrm>
            <a:prstGeom prst="rect">
              <a:avLst/>
            </a:prstGeom>
            <a:solidFill>
              <a:schemeClr val="bg1"/>
            </a:solidFill>
          </p:spPr>
          <p:txBody>
            <a:bodyPr wrap="none" rtlCol="0">
              <a:spAutoFit/>
            </a:bodyPr>
            <a:lstStyle/>
            <a:p>
              <a:pPr algn="ctr"/>
              <a:r>
                <a:rPr lang="en-US" dirty="0"/>
                <a:t>12 bits</a:t>
              </a:r>
            </a:p>
          </p:txBody>
        </p:sp>
        <p:cxnSp>
          <p:nvCxnSpPr>
            <p:cNvPr id="22" name="Straight Arrow Connector 21">
              <a:extLst>
                <a:ext uri="{FF2B5EF4-FFF2-40B4-BE49-F238E27FC236}">
                  <a16:creationId xmlns:a16="http://schemas.microsoft.com/office/drawing/2014/main" id="{7A18B11C-2604-166A-9294-7FC03945DF86}"/>
                </a:ext>
              </a:extLst>
            </p:cNvPr>
            <p:cNvCxnSpPr>
              <a:cxnSpLocks/>
            </p:cNvCxnSpPr>
            <p:nvPr/>
          </p:nvCxnSpPr>
          <p:spPr>
            <a:xfrm>
              <a:off x="1308372" y="4947152"/>
              <a:ext cx="4787628" cy="0"/>
            </a:xfrm>
            <a:prstGeom prst="straightConnector1">
              <a:avLst/>
            </a:prstGeom>
            <a:ln w="3492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14B0434C-8E05-476B-DAD0-3E09777426CB}"/>
                </a:ext>
              </a:extLst>
            </p:cNvPr>
            <p:cNvSpPr txBox="1"/>
            <p:nvPr/>
          </p:nvSpPr>
          <p:spPr>
            <a:xfrm>
              <a:off x="3430657" y="4730817"/>
              <a:ext cx="849014" cy="369332"/>
            </a:xfrm>
            <a:prstGeom prst="rect">
              <a:avLst/>
            </a:prstGeom>
            <a:solidFill>
              <a:schemeClr val="bg1"/>
            </a:solidFill>
          </p:spPr>
          <p:txBody>
            <a:bodyPr wrap="square" rtlCol="0">
              <a:spAutoFit/>
            </a:bodyPr>
            <a:lstStyle/>
            <a:p>
              <a:pPr algn="ctr"/>
              <a:r>
                <a:rPr lang="en-US" dirty="0"/>
                <a:t>32 bits</a:t>
              </a:r>
            </a:p>
          </p:txBody>
        </p:sp>
      </p:grpSp>
      <p:sp>
        <p:nvSpPr>
          <p:cNvPr id="5" name="TextBox 4">
            <a:extLst>
              <a:ext uri="{FF2B5EF4-FFF2-40B4-BE49-F238E27FC236}">
                <a16:creationId xmlns:a16="http://schemas.microsoft.com/office/drawing/2014/main" id="{6B9906DA-865A-4B29-E0C5-A8793A7B081A}"/>
              </a:ext>
            </a:extLst>
          </p:cNvPr>
          <p:cNvSpPr txBox="1"/>
          <p:nvPr/>
        </p:nvSpPr>
        <p:spPr>
          <a:xfrm>
            <a:off x="6308035" y="5931481"/>
            <a:ext cx="5883965" cy="923330"/>
          </a:xfrm>
          <a:prstGeom prst="rect">
            <a:avLst/>
          </a:prstGeom>
          <a:solidFill>
            <a:schemeClr val="accent6">
              <a:lumMod val="20000"/>
              <a:lumOff val="80000"/>
            </a:schemeClr>
          </a:solidFill>
        </p:spPr>
        <p:txBody>
          <a:bodyPr wrap="square" rtlCol="0">
            <a:spAutoFit/>
          </a:bodyPr>
          <a:lstStyle/>
          <a:p>
            <a:pPr marL="0" indent="0">
              <a:buNone/>
            </a:pPr>
            <a:r>
              <a:rPr lang="en-US" dirty="0"/>
              <a:t>Two videos on virtual memory and page fault processing:</a:t>
            </a:r>
          </a:p>
          <a:p>
            <a:pPr marL="0" indent="0">
              <a:buNone/>
            </a:pPr>
            <a:r>
              <a:rPr lang="en-US" dirty="0">
                <a:hlinkClick r:id="rId3"/>
              </a:rPr>
              <a:t>https://</a:t>
            </a:r>
            <a:r>
              <a:rPr lang="en-US" dirty="0" err="1">
                <a:hlinkClick r:id="rId3"/>
              </a:rPr>
              <a:t>www.youtube.com</a:t>
            </a:r>
            <a:r>
              <a:rPr lang="en-US" dirty="0">
                <a:hlinkClick r:id="rId3"/>
              </a:rPr>
              <a:t>/</a:t>
            </a:r>
            <a:r>
              <a:rPr lang="en-US" dirty="0" err="1">
                <a:hlinkClick r:id="rId3"/>
              </a:rPr>
              <a:t>watch?v</a:t>
            </a:r>
            <a:r>
              <a:rPr lang="en-US" dirty="0">
                <a:hlinkClick r:id="rId3"/>
              </a:rPr>
              <a:t>=</a:t>
            </a:r>
            <a:r>
              <a:rPr lang="en-US" dirty="0" err="1">
                <a:hlinkClick r:id="rId3"/>
              </a:rPr>
              <a:t>LKYKp_ZzlvM</a:t>
            </a:r>
            <a:endParaRPr lang="en-US" dirty="0"/>
          </a:p>
          <a:p>
            <a:pPr marL="0" indent="0">
              <a:buNone/>
            </a:pPr>
            <a:r>
              <a:rPr lang="en-US" dirty="0">
                <a:hlinkClick r:id="rId4"/>
              </a:rPr>
              <a:t>https://</a:t>
            </a:r>
            <a:r>
              <a:rPr lang="en-US" dirty="0" err="1">
                <a:hlinkClick r:id="rId4"/>
              </a:rPr>
              <a:t>www.youtube.com</a:t>
            </a:r>
            <a:r>
              <a:rPr lang="en-US" dirty="0">
                <a:hlinkClick r:id="rId4"/>
              </a:rPr>
              <a:t>/</a:t>
            </a:r>
            <a:r>
              <a:rPr lang="en-US" dirty="0" err="1">
                <a:hlinkClick r:id="rId4"/>
              </a:rPr>
              <a:t>watch?v</a:t>
            </a:r>
            <a:r>
              <a:rPr lang="en-US" dirty="0">
                <a:hlinkClick r:id="rId4"/>
              </a:rPr>
              <a:t>=lY44D2u21Vg</a:t>
            </a:r>
            <a:endParaRPr lang="en-US" dirty="0"/>
          </a:p>
        </p:txBody>
      </p:sp>
    </p:spTree>
    <p:extLst>
      <p:ext uri="{BB962C8B-B14F-4D97-AF65-F5344CB8AC3E}">
        <p14:creationId xmlns:p14="http://schemas.microsoft.com/office/powerpoint/2010/main" val="540570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2587B-A5BA-BD77-58BB-61C18D2D4B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F0BE0-4668-97C7-C438-A66209B82086}"/>
              </a:ext>
            </a:extLst>
          </p:cNvPr>
          <p:cNvSpPr>
            <a:spLocks noGrp="1"/>
          </p:cNvSpPr>
          <p:nvPr>
            <p:ph type="title"/>
          </p:nvPr>
        </p:nvSpPr>
        <p:spPr>
          <a:xfrm>
            <a:off x="838200" y="197698"/>
            <a:ext cx="10515600" cy="1325563"/>
          </a:xfrm>
        </p:spPr>
        <p:txBody>
          <a:bodyPr/>
          <a:lstStyle/>
          <a:p>
            <a:r>
              <a:rPr lang="en-US" dirty="0"/>
              <a:t>Translating virtual addresses to physical addresses: Page table</a:t>
            </a:r>
          </a:p>
        </p:txBody>
      </p:sp>
      <p:grpSp>
        <p:nvGrpSpPr>
          <p:cNvPr id="26" name="Group 25" descr="Page table entry: 20 bits for page frame and 12 bits for flags (not all used, most likely). Some important flags are resident/vacant, referenced, dirty">
            <a:extLst>
              <a:ext uri="{FF2B5EF4-FFF2-40B4-BE49-F238E27FC236}">
                <a16:creationId xmlns:a16="http://schemas.microsoft.com/office/drawing/2014/main" id="{C7AE1395-7021-950C-068C-9DFE690DA7A0}"/>
              </a:ext>
            </a:extLst>
          </p:cNvPr>
          <p:cNvGrpSpPr/>
          <p:nvPr/>
        </p:nvGrpSpPr>
        <p:grpSpPr>
          <a:xfrm>
            <a:off x="6682552" y="1931776"/>
            <a:ext cx="4798359" cy="3758536"/>
            <a:chOff x="367096" y="2440320"/>
            <a:chExt cx="4798359" cy="3758536"/>
          </a:xfrm>
        </p:grpSpPr>
        <p:grpSp>
          <p:nvGrpSpPr>
            <p:cNvPr id="15" name="Group 14">
              <a:extLst>
                <a:ext uri="{FF2B5EF4-FFF2-40B4-BE49-F238E27FC236}">
                  <a16:creationId xmlns:a16="http://schemas.microsoft.com/office/drawing/2014/main" id="{25D172C0-5D60-2208-4BBE-21C3429CFD54}"/>
                </a:ext>
              </a:extLst>
            </p:cNvPr>
            <p:cNvGrpSpPr/>
            <p:nvPr/>
          </p:nvGrpSpPr>
          <p:grpSpPr>
            <a:xfrm>
              <a:off x="367096" y="2440320"/>
              <a:ext cx="4798359" cy="3163272"/>
              <a:chOff x="6653596" y="2496722"/>
              <a:chExt cx="4798359" cy="3163272"/>
            </a:xfrm>
          </p:grpSpPr>
          <p:sp>
            <p:nvSpPr>
              <p:cNvPr id="5" name="Rectangle 4">
                <a:extLst>
                  <a:ext uri="{FF2B5EF4-FFF2-40B4-BE49-F238E27FC236}">
                    <a16:creationId xmlns:a16="http://schemas.microsoft.com/office/drawing/2014/main" id="{C4A29AB1-1EC2-4E98-20D3-40CFE0927A96}"/>
                  </a:ext>
                </a:extLst>
              </p:cNvPr>
              <p:cNvSpPr/>
              <p:nvPr/>
            </p:nvSpPr>
            <p:spPr>
              <a:xfrm>
                <a:off x="6670405" y="4745479"/>
                <a:ext cx="2785056" cy="5151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page frame</a:t>
                </a:r>
                <a:endParaRPr lang="en-US" sz="1600" dirty="0">
                  <a:solidFill>
                    <a:schemeClr val="tx1"/>
                  </a:solidFill>
                </a:endParaRPr>
              </a:p>
            </p:txBody>
          </p:sp>
          <p:sp>
            <p:nvSpPr>
              <p:cNvPr id="6" name="Rectangle 5">
                <a:extLst>
                  <a:ext uri="{FF2B5EF4-FFF2-40B4-BE49-F238E27FC236}">
                    <a16:creationId xmlns:a16="http://schemas.microsoft.com/office/drawing/2014/main" id="{27865F80-2EC6-B4B0-9B21-52F45FA873E6}"/>
                  </a:ext>
                </a:extLst>
              </p:cNvPr>
              <p:cNvSpPr/>
              <p:nvPr/>
            </p:nvSpPr>
            <p:spPr>
              <a:xfrm>
                <a:off x="9455461" y="4745479"/>
                <a:ext cx="1996494" cy="5151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flags</a:t>
                </a:r>
                <a:endParaRPr lang="en-US" dirty="0">
                  <a:solidFill>
                    <a:schemeClr val="tx1"/>
                  </a:solidFill>
                </a:endParaRPr>
              </a:p>
            </p:txBody>
          </p:sp>
          <p:cxnSp>
            <p:nvCxnSpPr>
              <p:cNvPr id="7" name="Straight Arrow Connector 6">
                <a:extLst>
                  <a:ext uri="{FF2B5EF4-FFF2-40B4-BE49-F238E27FC236}">
                    <a16:creationId xmlns:a16="http://schemas.microsoft.com/office/drawing/2014/main" id="{407768DA-7334-2ADA-F12F-B9EA0B103167}"/>
                  </a:ext>
                </a:extLst>
              </p:cNvPr>
              <p:cNvCxnSpPr>
                <a:cxnSpLocks/>
              </p:cNvCxnSpPr>
              <p:nvPr/>
            </p:nvCxnSpPr>
            <p:spPr>
              <a:xfrm>
                <a:off x="6653596" y="4581864"/>
                <a:ext cx="2785056" cy="0"/>
              </a:xfrm>
              <a:prstGeom prst="straightConnector1">
                <a:avLst/>
              </a:prstGeom>
              <a:ln w="3492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7D9BCEC-6491-9C25-E3F6-8F7CFE52FC95}"/>
                  </a:ext>
                </a:extLst>
              </p:cNvPr>
              <p:cNvCxnSpPr>
                <a:cxnSpLocks/>
              </p:cNvCxnSpPr>
              <p:nvPr/>
            </p:nvCxnSpPr>
            <p:spPr>
              <a:xfrm flipV="1">
                <a:off x="9438652" y="4581864"/>
                <a:ext cx="2013303" cy="7397"/>
              </a:xfrm>
              <a:prstGeom prst="straightConnector1">
                <a:avLst/>
              </a:prstGeom>
              <a:ln w="3492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A359874-7D71-877C-016E-B8905BD1094C}"/>
                  </a:ext>
                </a:extLst>
              </p:cNvPr>
              <p:cNvSpPr txBox="1"/>
              <p:nvPr/>
            </p:nvSpPr>
            <p:spPr>
              <a:xfrm>
                <a:off x="7642541" y="4357104"/>
                <a:ext cx="849014" cy="369332"/>
              </a:xfrm>
              <a:prstGeom prst="rect">
                <a:avLst/>
              </a:prstGeom>
              <a:solidFill>
                <a:schemeClr val="bg1"/>
              </a:solidFill>
            </p:spPr>
            <p:txBody>
              <a:bodyPr wrap="none" rtlCol="0">
                <a:spAutoFit/>
              </a:bodyPr>
              <a:lstStyle/>
              <a:p>
                <a:pPr algn="ctr"/>
                <a:r>
                  <a:rPr lang="en-US" dirty="0"/>
                  <a:t>20 bits</a:t>
                </a:r>
              </a:p>
            </p:txBody>
          </p:sp>
          <p:sp>
            <p:nvSpPr>
              <p:cNvPr id="10" name="TextBox 9">
                <a:extLst>
                  <a:ext uri="{FF2B5EF4-FFF2-40B4-BE49-F238E27FC236}">
                    <a16:creationId xmlns:a16="http://schemas.microsoft.com/office/drawing/2014/main" id="{2D807FFB-002B-BBDB-A23C-CCDAE027537E}"/>
                  </a:ext>
                </a:extLst>
              </p:cNvPr>
              <p:cNvSpPr txBox="1"/>
              <p:nvPr/>
            </p:nvSpPr>
            <p:spPr>
              <a:xfrm>
                <a:off x="10027369" y="4358998"/>
                <a:ext cx="849015" cy="369332"/>
              </a:xfrm>
              <a:prstGeom prst="rect">
                <a:avLst/>
              </a:prstGeom>
              <a:solidFill>
                <a:schemeClr val="bg1"/>
              </a:solidFill>
            </p:spPr>
            <p:txBody>
              <a:bodyPr wrap="none" rtlCol="0">
                <a:spAutoFit/>
              </a:bodyPr>
              <a:lstStyle/>
              <a:p>
                <a:pPr algn="ctr"/>
                <a:r>
                  <a:rPr lang="en-US" dirty="0"/>
                  <a:t>12 bits</a:t>
                </a:r>
              </a:p>
            </p:txBody>
          </p:sp>
          <p:cxnSp>
            <p:nvCxnSpPr>
              <p:cNvPr id="11" name="Straight Arrow Connector 10">
                <a:extLst>
                  <a:ext uri="{FF2B5EF4-FFF2-40B4-BE49-F238E27FC236}">
                    <a16:creationId xmlns:a16="http://schemas.microsoft.com/office/drawing/2014/main" id="{6BA195F3-CF4C-C97C-7613-576E6C1AF63F}"/>
                  </a:ext>
                </a:extLst>
              </p:cNvPr>
              <p:cNvCxnSpPr>
                <a:cxnSpLocks/>
              </p:cNvCxnSpPr>
              <p:nvPr/>
            </p:nvCxnSpPr>
            <p:spPr>
              <a:xfrm>
                <a:off x="6664327" y="5506997"/>
                <a:ext cx="4787628" cy="0"/>
              </a:xfrm>
              <a:prstGeom prst="straightConnector1">
                <a:avLst/>
              </a:prstGeom>
              <a:ln w="3492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4CB6E93-529F-7F2D-6656-2001257D8B5F}"/>
                  </a:ext>
                </a:extLst>
              </p:cNvPr>
              <p:cNvSpPr txBox="1"/>
              <p:nvPr/>
            </p:nvSpPr>
            <p:spPr>
              <a:xfrm>
                <a:off x="8786612" y="5290662"/>
                <a:ext cx="849014" cy="369332"/>
              </a:xfrm>
              <a:prstGeom prst="rect">
                <a:avLst/>
              </a:prstGeom>
              <a:solidFill>
                <a:schemeClr val="bg1"/>
              </a:solidFill>
            </p:spPr>
            <p:txBody>
              <a:bodyPr wrap="square" rtlCol="0">
                <a:spAutoFit/>
              </a:bodyPr>
              <a:lstStyle/>
              <a:p>
                <a:pPr algn="ctr"/>
                <a:r>
                  <a:rPr lang="en-US" dirty="0"/>
                  <a:t>32 bits</a:t>
                </a:r>
              </a:p>
            </p:txBody>
          </p:sp>
          <p:sp>
            <p:nvSpPr>
              <p:cNvPr id="13" name="Left Brace 12">
                <a:extLst>
                  <a:ext uri="{FF2B5EF4-FFF2-40B4-BE49-F238E27FC236}">
                    <a16:creationId xmlns:a16="http://schemas.microsoft.com/office/drawing/2014/main" id="{82F71589-6750-B238-9D88-F07DC3AC91FD}"/>
                  </a:ext>
                </a:extLst>
              </p:cNvPr>
              <p:cNvSpPr/>
              <p:nvPr/>
            </p:nvSpPr>
            <p:spPr>
              <a:xfrm rot="5400000">
                <a:off x="10269042" y="3242735"/>
                <a:ext cx="369331" cy="1996495"/>
              </a:xfrm>
              <a:prstGeom prst="leftBrace">
                <a:avLst>
                  <a:gd name="adj1" fmla="val 0"/>
                  <a:gd name="adj2" fmla="val 50000"/>
                </a:avLst>
              </a:prstGeom>
              <a:ln w="317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05E3F39B-6BF5-D963-61E7-2345A5F0D1B0}"/>
                  </a:ext>
                </a:extLst>
              </p:cNvPr>
              <p:cNvSpPr txBox="1"/>
              <p:nvPr/>
            </p:nvSpPr>
            <p:spPr>
              <a:xfrm>
                <a:off x="9582159" y="2496722"/>
                <a:ext cx="1750672" cy="1631216"/>
              </a:xfrm>
              <a:prstGeom prst="rect">
                <a:avLst/>
              </a:prstGeom>
              <a:noFill/>
            </p:spPr>
            <p:txBody>
              <a:bodyPr wrap="none" rtlCol="0">
                <a:spAutoFit/>
              </a:bodyPr>
              <a:lstStyle/>
              <a:p>
                <a:r>
                  <a:rPr lang="en-US" sz="1600" dirty="0"/>
                  <a:t>resident/vacant</a:t>
                </a:r>
              </a:p>
              <a:p>
                <a:r>
                  <a:rPr lang="en-US" sz="1600" dirty="0"/>
                  <a:t>referenced</a:t>
                </a:r>
              </a:p>
              <a:p>
                <a:r>
                  <a:rPr lang="en-US" sz="1600" dirty="0"/>
                  <a:t>dirty</a:t>
                </a:r>
              </a:p>
              <a:p>
                <a:r>
                  <a:rPr lang="en-US" sz="1600" dirty="0"/>
                  <a:t>permissions (</a:t>
                </a:r>
                <a:r>
                  <a:rPr lang="en-US" sz="1600" dirty="0" err="1"/>
                  <a:t>rwx</a:t>
                </a:r>
                <a:r>
                  <a:rPr lang="en-US" sz="1600" dirty="0"/>
                  <a:t>)</a:t>
                </a:r>
              </a:p>
              <a:p>
                <a:r>
                  <a:rPr lang="en-US" sz="1600" dirty="0"/>
                  <a:t>process ID</a:t>
                </a:r>
              </a:p>
              <a:p>
                <a:r>
                  <a:rPr lang="en-US" sz="1600" dirty="0"/>
                  <a:t>…</a:t>
                </a:r>
              </a:p>
            </p:txBody>
          </p:sp>
        </p:grpSp>
        <p:sp>
          <p:nvSpPr>
            <p:cNvPr id="25" name="TextBox 24">
              <a:extLst>
                <a:ext uri="{FF2B5EF4-FFF2-40B4-BE49-F238E27FC236}">
                  <a16:creationId xmlns:a16="http://schemas.microsoft.com/office/drawing/2014/main" id="{2C844A0B-C931-AE9E-FCF0-CED256B39797}"/>
                </a:ext>
              </a:extLst>
            </p:cNvPr>
            <p:cNvSpPr txBox="1"/>
            <p:nvPr/>
          </p:nvSpPr>
          <p:spPr>
            <a:xfrm>
              <a:off x="1759624" y="5737191"/>
              <a:ext cx="2309863" cy="461665"/>
            </a:xfrm>
            <a:prstGeom prst="rect">
              <a:avLst/>
            </a:prstGeom>
            <a:noFill/>
          </p:spPr>
          <p:txBody>
            <a:bodyPr wrap="none" rtlCol="0">
              <a:spAutoFit/>
            </a:bodyPr>
            <a:lstStyle/>
            <a:p>
              <a:r>
                <a:rPr lang="en-US" sz="2400" dirty="0"/>
                <a:t>page table entry</a:t>
              </a:r>
              <a:endParaRPr lang="en-US" dirty="0"/>
            </a:p>
          </p:txBody>
        </p:sp>
      </p:grpSp>
      <p:sp>
        <p:nvSpPr>
          <p:cNvPr id="83" name="TextBox 82">
            <a:extLst>
              <a:ext uri="{FF2B5EF4-FFF2-40B4-BE49-F238E27FC236}">
                <a16:creationId xmlns:a16="http://schemas.microsoft.com/office/drawing/2014/main" id="{D66A419D-B4AF-2F23-698E-12B0CC9367BA}"/>
              </a:ext>
            </a:extLst>
          </p:cNvPr>
          <p:cNvSpPr txBox="1"/>
          <p:nvPr/>
        </p:nvSpPr>
        <p:spPr>
          <a:xfrm>
            <a:off x="624011" y="5638570"/>
            <a:ext cx="5985421" cy="461665"/>
          </a:xfrm>
          <a:prstGeom prst="rect">
            <a:avLst/>
          </a:prstGeom>
          <a:solidFill>
            <a:schemeClr val="tx2">
              <a:lumMod val="10000"/>
              <a:lumOff val="90000"/>
            </a:schemeClr>
          </a:solidFill>
          <a:ln>
            <a:solidFill>
              <a:schemeClr val="tx1"/>
            </a:solidFill>
          </a:ln>
        </p:spPr>
        <p:txBody>
          <a:bodyPr wrap="none" rtlCol="0">
            <a:spAutoFit/>
          </a:bodyPr>
          <a:lstStyle/>
          <a:p>
            <a:r>
              <a:rPr lang="en-US" sz="2400" dirty="0"/>
              <a:t>1M page table entries = 4MB long page table</a:t>
            </a:r>
          </a:p>
        </p:txBody>
      </p:sp>
      <p:sp>
        <p:nvSpPr>
          <p:cNvPr id="86" name="TextBox 85">
            <a:extLst>
              <a:ext uri="{FF2B5EF4-FFF2-40B4-BE49-F238E27FC236}">
                <a16:creationId xmlns:a16="http://schemas.microsoft.com/office/drawing/2014/main" id="{E8D3E144-C2C0-185A-A7AE-EF677573CEA7}"/>
              </a:ext>
            </a:extLst>
          </p:cNvPr>
          <p:cNvSpPr txBox="1"/>
          <p:nvPr/>
        </p:nvSpPr>
        <p:spPr>
          <a:xfrm>
            <a:off x="92784" y="1563994"/>
            <a:ext cx="6259248" cy="3970318"/>
          </a:xfrm>
          <a:prstGeom prst="rect">
            <a:avLst/>
          </a:prstGeom>
          <a:solidFill>
            <a:schemeClr val="bg1">
              <a:alpha val="0"/>
            </a:schemeClr>
          </a:solidFill>
          <a:ln>
            <a:noFill/>
          </a:ln>
        </p:spPr>
        <p:txBody>
          <a:bodyPr wrap="square" rtlCol="0">
            <a:spAutoFit/>
          </a:bodyPr>
          <a:lstStyle/>
          <a:p>
            <a:r>
              <a:rPr lang="en-US" sz="2800" dirty="0"/>
              <a:t>The page table has a 4-byte entry per page </a:t>
            </a:r>
          </a:p>
          <a:p>
            <a:endParaRPr lang="en-US" sz="2800" dirty="0"/>
          </a:p>
          <a:p>
            <a:r>
              <a:rPr lang="en-US" sz="2800" dirty="0"/>
              <a:t>Each entry contains the page frame number the page occupies and some flags</a:t>
            </a:r>
          </a:p>
          <a:p>
            <a:endParaRPr lang="en-US" sz="2800" dirty="0"/>
          </a:p>
          <a:p>
            <a:r>
              <a:rPr lang="en-US" sz="2800" dirty="0"/>
              <a:t>The page table resides in physical memory (why?)</a:t>
            </a:r>
          </a:p>
        </p:txBody>
      </p:sp>
    </p:spTree>
    <p:extLst>
      <p:ext uri="{BB962C8B-B14F-4D97-AF65-F5344CB8AC3E}">
        <p14:creationId xmlns:p14="http://schemas.microsoft.com/office/powerpoint/2010/main" val="374458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75E4D-8C69-C577-3F33-02B498DB9F25}"/>
              </a:ext>
            </a:extLst>
          </p:cNvPr>
          <p:cNvSpPr>
            <a:spLocks noGrp="1"/>
          </p:cNvSpPr>
          <p:nvPr>
            <p:ph type="title"/>
          </p:nvPr>
        </p:nvSpPr>
        <p:spPr>
          <a:xfrm>
            <a:off x="838200" y="197698"/>
            <a:ext cx="10515600" cy="1325563"/>
          </a:xfrm>
        </p:spPr>
        <p:txBody>
          <a:bodyPr/>
          <a:lstStyle/>
          <a:p>
            <a:r>
              <a:rPr lang="en-US" dirty="0"/>
              <a:t>Translating virtual addresses to physical addresses: Page table (1)</a:t>
            </a:r>
          </a:p>
        </p:txBody>
      </p:sp>
      <p:sp>
        <p:nvSpPr>
          <p:cNvPr id="57" name="TextBox 56">
            <a:extLst>
              <a:ext uri="{FF2B5EF4-FFF2-40B4-BE49-F238E27FC236}">
                <a16:creationId xmlns:a16="http://schemas.microsoft.com/office/drawing/2014/main" id="{9E9ED576-48B2-DC4E-79BD-885F2D819B2C}"/>
              </a:ext>
            </a:extLst>
          </p:cNvPr>
          <p:cNvSpPr txBox="1"/>
          <p:nvPr/>
        </p:nvSpPr>
        <p:spPr>
          <a:xfrm>
            <a:off x="512448" y="1839589"/>
            <a:ext cx="3519873" cy="461665"/>
          </a:xfrm>
          <a:prstGeom prst="rect">
            <a:avLst/>
          </a:prstGeom>
          <a:noFill/>
        </p:spPr>
        <p:txBody>
          <a:bodyPr wrap="none" rtlCol="0">
            <a:spAutoFit/>
          </a:bodyPr>
          <a:lstStyle/>
          <a:p>
            <a:r>
              <a:rPr lang="en-US" dirty="0">
                <a:cs typeface="Consolas" panose="020B0609020204030204" pitchFamily="49" charset="0"/>
              </a:rPr>
              <a:t>write to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1274A05C</a:t>
            </a:r>
          </a:p>
        </p:txBody>
      </p:sp>
      <p:sp>
        <p:nvSpPr>
          <p:cNvPr id="91" name="TextBox 90">
            <a:extLst>
              <a:ext uri="{FF2B5EF4-FFF2-40B4-BE49-F238E27FC236}">
                <a16:creationId xmlns:a16="http://schemas.microsoft.com/office/drawing/2014/main" id="{92B7EFBC-DA5B-064C-86AE-4296916986CF}"/>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grpSp>
        <p:nvGrpSpPr>
          <p:cNvPr id="3" name="Group 2" descr="Slice of the page table. ">
            <a:extLst>
              <a:ext uri="{FF2B5EF4-FFF2-40B4-BE49-F238E27FC236}">
                <a16:creationId xmlns:a16="http://schemas.microsoft.com/office/drawing/2014/main" id="{2CC46206-9578-4F12-BF5B-A19333DCB157}"/>
              </a:ext>
            </a:extLst>
          </p:cNvPr>
          <p:cNvGrpSpPr/>
          <p:nvPr/>
        </p:nvGrpSpPr>
        <p:grpSpPr>
          <a:xfrm>
            <a:off x="4525143" y="2886470"/>
            <a:ext cx="4051361" cy="3516244"/>
            <a:chOff x="4525143" y="2886470"/>
            <a:chExt cx="4051361" cy="3516244"/>
          </a:xfrm>
        </p:grpSpPr>
        <p:sp>
          <p:nvSpPr>
            <p:cNvPr id="17" name="Rectangle 16">
              <a:extLst>
                <a:ext uri="{FF2B5EF4-FFF2-40B4-BE49-F238E27FC236}">
                  <a16:creationId xmlns:a16="http://schemas.microsoft.com/office/drawing/2014/main" id="{BE7F0CC5-0F0D-B54E-49FA-F30DDF708E03}"/>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922FFBE0-EF2A-DAA3-703F-80D3C84B847E}"/>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3184657B-A7C2-4F69-95E1-4146F2607591}"/>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6476710B-52FC-5320-F105-E86DBF1BC28A}"/>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97A03D9A-C624-D35D-906D-51B6E49AD5F9}"/>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F6AD6EAE-CB96-E1FE-BD0B-859ECA7A9EDC}"/>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C1FE9D97-770E-4704-CF6D-96FA42E66C67}"/>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C480F9FC-D5FB-72C7-5EEF-A8DC83587EAC}"/>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6B190E62-2DEF-5D4E-216A-626B8E57E49F}"/>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0FD3082D-AD6E-944F-F4AF-63DA35E6F65D}"/>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CCF0E7D9-FF39-6BF6-9C44-6929BBA51065}"/>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A019A4F9-3F65-C72F-9DAC-D59DE5FFC1E7}"/>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FC3F8F60-4F6F-EBDE-017C-7D2A8765B12F}"/>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53A72BBA-B1AE-A09A-6F90-36061D5A0344}"/>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E2F5B80E-E7EA-F9E5-2AC8-A1BA227B7177}"/>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3DCEF9BD-E1A7-715B-D7B7-06A37F436D27}"/>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02384E56-8D88-EF6D-1E33-9D1863E54746}"/>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1B1CA587-4F1A-806F-84A3-4DC118EDBEE1}"/>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B7E1B3BB-B4ED-85C6-CE83-B4C5E89F7691}"/>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ECE51D56-12B1-19D4-E544-68E0BEF00831}"/>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EEA8FDAF-A2B1-C549-187D-E90160F28E00}"/>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325B7175-5683-64CC-9A30-6715278BE143}"/>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B5093898-C894-B2E7-AE65-0B61C7148173}"/>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BB01C124-3AC8-F520-6C89-D4CEDD59CD0A}"/>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2" name="TextBox 91">
              <a:extLst>
                <a:ext uri="{FF2B5EF4-FFF2-40B4-BE49-F238E27FC236}">
                  <a16:creationId xmlns:a16="http://schemas.microsoft.com/office/drawing/2014/main" id="{7F53F5F7-DBE4-1101-B121-19C0C0930C3A}"/>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BBBD9B7D-7FCB-C945-3148-FF79DC0A9453}"/>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3D0F7929-A6C0-4674-6751-EB055B672D5A}"/>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397FA3D4-B699-B8A0-056F-0846555394E2}"/>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933F17B0-3BD1-50EA-8014-D5CE9E11C654}"/>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EC3B36C0-A304-0254-5DE8-7E40772C5831}"/>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1A0FDB73-85C5-E0C8-1780-1A3014581932}"/>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FCF4EB6F-F569-E14B-170C-2E35CFBF8BE7}"/>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E4171A71-6AA4-2B9C-934D-F89C5AB037A5}"/>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F94E8758-51C5-5171-79CE-48D7DDF9608C}"/>
                </a:ext>
              </a:extLst>
            </p:cNvPr>
            <p:cNvSpPr txBox="1"/>
            <p:nvPr/>
          </p:nvSpPr>
          <p:spPr>
            <a:xfrm>
              <a:off x="7638724" y="4086349"/>
              <a:ext cx="306494" cy="369332"/>
            </a:xfrm>
            <a:prstGeom prst="rect">
              <a:avLst/>
            </a:prstGeom>
            <a:noFill/>
          </p:spPr>
          <p:txBody>
            <a:bodyPr wrap="square" rtlCol="0">
              <a:spAutoFit/>
            </a:bodyPr>
            <a:lstStyle/>
            <a:p>
              <a:r>
                <a:rPr lang="en-US" dirty="0"/>
                <a:t>F</a:t>
              </a:r>
            </a:p>
          </p:txBody>
        </p:sp>
        <p:sp>
          <p:nvSpPr>
            <p:cNvPr id="102" name="TextBox 101">
              <a:extLst>
                <a:ext uri="{FF2B5EF4-FFF2-40B4-BE49-F238E27FC236}">
                  <a16:creationId xmlns:a16="http://schemas.microsoft.com/office/drawing/2014/main" id="{9B8BBA9C-3644-0A90-F07D-156E27A47481}"/>
                </a:ext>
              </a:extLst>
            </p:cNvPr>
            <p:cNvSpPr txBox="1"/>
            <p:nvPr/>
          </p:nvSpPr>
          <p:spPr>
            <a:xfrm>
              <a:off x="8072724" y="4084160"/>
              <a:ext cx="306494" cy="369332"/>
            </a:xfrm>
            <a:prstGeom prst="rect">
              <a:avLst/>
            </a:prstGeom>
            <a:noFill/>
          </p:spPr>
          <p:txBody>
            <a:bodyPr wrap="square" rtlCol="0">
              <a:spAutoFit/>
            </a:bodyPr>
            <a:lstStyle/>
            <a:p>
              <a:r>
                <a:rPr lang="en-US" dirty="0"/>
                <a:t>F</a:t>
              </a:r>
            </a:p>
          </p:txBody>
        </p:sp>
        <p:sp>
          <p:nvSpPr>
            <p:cNvPr id="103" name="TextBox 102">
              <a:extLst>
                <a:ext uri="{FF2B5EF4-FFF2-40B4-BE49-F238E27FC236}">
                  <a16:creationId xmlns:a16="http://schemas.microsoft.com/office/drawing/2014/main" id="{8533F1B2-2DF5-91E3-CDC8-B7F8CD6EEB62}"/>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F00730DF-AF2D-85FF-D72B-3212AA52FBEB}"/>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E6F52F24-947C-A463-A210-76AF1A4ED69E}"/>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9A85DC1E-D6F1-78AF-E855-A945C88D447E}"/>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FB6A6AB0-C3B2-A4C0-7210-06DAB5C41807}"/>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59248A29-6C99-18D8-09DB-6BDF165579CD}"/>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830B17B2-08E6-632D-4931-491F71B2C06A}"/>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A6174000-8A6B-A6D3-D9F8-423DE2E25ED1}"/>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spTree>
    <p:extLst>
      <p:ext uri="{BB962C8B-B14F-4D97-AF65-F5344CB8AC3E}">
        <p14:creationId xmlns:p14="http://schemas.microsoft.com/office/powerpoint/2010/main" val="1573718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C2A8-9E6B-20DC-7D01-18498A8BB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942DB-CC95-C230-FEC1-D7E86C173654}"/>
              </a:ext>
            </a:extLst>
          </p:cNvPr>
          <p:cNvSpPr>
            <a:spLocks noGrp="1"/>
          </p:cNvSpPr>
          <p:nvPr>
            <p:ph type="title"/>
          </p:nvPr>
        </p:nvSpPr>
        <p:spPr>
          <a:xfrm>
            <a:off x="838200" y="197698"/>
            <a:ext cx="10515600" cy="1325563"/>
          </a:xfrm>
        </p:spPr>
        <p:txBody>
          <a:bodyPr/>
          <a:lstStyle/>
          <a:p>
            <a:r>
              <a:rPr lang="en-US" dirty="0"/>
              <a:t>Translating virtual addresses to physical addresses: Page table (2)</a:t>
            </a:r>
          </a:p>
        </p:txBody>
      </p:sp>
      <p:sp>
        <p:nvSpPr>
          <p:cNvPr id="57" name="TextBox 56">
            <a:extLst>
              <a:ext uri="{FF2B5EF4-FFF2-40B4-BE49-F238E27FC236}">
                <a16:creationId xmlns:a16="http://schemas.microsoft.com/office/drawing/2014/main" id="{CEDC4EC7-BBB3-F368-118B-4EC24BD9A083}"/>
              </a:ext>
            </a:extLst>
          </p:cNvPr>
          <p:cNvSpPr txBox="1"/>
          <p:nvPr/>
        </p:nvSpPr>
        <p:spPr>
          <a:xfrm>
            <a:off x="512448" y="1839589"/>
            <a:ext cx="3519873" cy="461665"/>
          </a:xfrm>
          <a:prstGeom prst="rect">
            <a:avLst/>
          </a:prstGeom>
          <a:noFill/>
        </p:spPr>
        <p:txBody>
          <a:bodyPr wrap="none" rtlCol="0">
            <a:spAutoFit/>
          </a:bodyPr>
          <a:lstStyle/>
          <a:p>
            <a:r>
              <a:rPr lang="en-US" dirty="0">
                <a:cs typeface="Consolas" panose="020B0609020204030204" pitchFamily="49" charset="0"/>
              </a:rPr>
              <a:t>write to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1274A05C</a:t>
            </a:r>
          </a:p>
        </p:txBody>
      </p:sp>
      <p:sp>
        <p:nvSpPr>
          <p:cNvPr id="91" name="TextBox 90">
            <a:extLst>
              <a:ext uri="{FF2B5EF4-FFF2-40B4-BE49-F238E27FC236}">
                <a16:creationId xmlns:a16="http://schemas.microsoft.com/office/drawing/2014/main" id="{195C8C95-1EF7-EBDF-6CCC-4F3DA0690A5D}"/>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grpSp>
        <p:nvGrpSpPr>
          <p:cNvPr id="3" name="Group 2" descr="Slice of the page table">
            <a:extLst>
              <a:ext uri="{FF2B5EF4-FFF2-40B4-BE49-F238E27FC236}">
                <a16:creationId xmlns:a16="http://schemas.microsoft.com/office/drawing/2014/main" id="{2322C1F8-E007-79D7-D5DA-5F8FE282E276}"/>
              </a:ext>
            </a:extLst>
          </p:cNvPr>
          <p:cNvGrpSpPr/>
          <p:nvPr/>
        </p:nvGrpSpPr>
        <p:grpSpPr>
          <a:xfrm>
            <a:off x="4525143" y="2886470"/>
            <a:ext cx="4051361" cy="3516244"/>
            <a:chOff x="4525143" y="2886470"/>
            <a:chExt cx="4051361" cy="3516244"/>
          </a:xfrm>
        </p:grpSpPr>
        <p:sp>
          <p:nvSpPr>
            <p:cNvPr id="17" name="Rectangle 16">
              <a:extLst>
                <a:ext uri="{FF2B5EF4-FFF2-40B4-BE49-F238E27FC236}">
                  <a16:creationId xmlns:a16="http://schemas.microsoft.com/office/drawing/2014/main" id="{EFCEBD0F-5DB7-3F94-A3E5-4A190353781D}"/>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6990B19B-183F-DEBA-1410-AC3223C4897F}"/>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92C37403-1A4B-5E52-8CB1-618D7AE49ABE}"/>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75680EB1-8402-C753-F596-E4E85AD34FAB}"/>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05B10F1C-93B6-A859-75AA-5AC2B3BD7C92}"/>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DAF97F0D-D1B3-6887-5886-93B4AA03DF43}"/>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B1FA68C8-1666-A1F9-ACD4-B59FF6E86321}"/>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80F45378-EC7B-5A44-FBEE-4703E9B982BD}"/>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CDE5AD2C-E29B-FA9B-EA05-EBC443A4B9C9}"/>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0F1B198E-C667-C4B8-6975-ECACCD237568}"/>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E687D980-779C-F816-1682-C321BC1BB929}"/>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C11E07F4-74A0-FC29-7CFD-F9C0F38C7642}"/>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6D3704D7-3A0E-ADD4-8FA5-6D736A04BBDD}"/>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8102A3A8-188B-A00A-BB52-8548E3DE65E9}"/>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7EA99B02-9830-A782-3C4B-3F421C6A8F3B}"/>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C1E59102-C29D-B733-9EC8-8534A1724346}"/>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83C606FE-2DB8-BBA0-A9B2-467E0B6ABCE5}"/>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8F44EA75-C3F2-41D1-B582-914624C21D50}"/>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93A906C8-5779-4CE1-1606-DD59841020D8}"/>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C81F74C7-65D8-385E-986B-5F0FB57D570E}"/>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02DE09A1-94FA-C17C-0510-AA1CA2736808}"/>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9EDE4039-F59F-C1C7-E3BE-D2C94FE0AEB4}"/>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11832094-354C-5F24-E465-CE2F53CDA0A1}"/>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60396BF1-94ED-B28E-42C3-A77FDB31483B}"/>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2" name="TextBox 91">
              <a:extLst>
                <a:ext uri="{FF2B5EF4-FFF2-40B4-BE49-F238E27FC236}">
                  <a16:creationId xmlns:a16="http://schemas.microsoft.com/office/drawing/2014/main" id="{DF63F9FE-0E75-616F-54F2-0E3D6127B809}"/>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8D7F3309-08C8-C106-C027-C5FE6620FA1E}"/>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97D1D237-A7B3-B118-009C-252374BDF679}"/>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428E7168-FBBF-3DAC-6951-502369DACFF9}"/>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5FC77B8A-78B1-8095-05E9-4D4CFD6DCCD5}"/>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E1A61152-7111-5DE2-C86F-80E0815CE955}"/>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13C53050-09EE-F90C-7446-3D5B1AD956DE}"/>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43B5D14F-804C-F9DE-2000-50C5B7001350}"/>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B5E37F4E-C3BC-C49F-8FA5-56D1DBECDE4B}"/>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192135AF-2F26-71B3-600C-54D3413B658B}"/>
                </a:ext>
              </a:extLst>
            </p:cNvPr>
            <p:cNvSpPr txBox="1"/>
            <p:nvPr/>
          </p:nvSpPr>
          <p:spPr>
            <a:xfrm>
              <a:off x="7638724" y="4086349"/>
              <a:ext cx="306494" cy="369332"/>
            </a:xfrm>
            <a:prstGeom prst="rect">
              <a:avLst/>
            </a:prstGeom>
            <a:noFill/>
          </p:spPr>
          <p:txBody>
            <a:bodyPr wrap="square" rtlCol="0">
              <a:spAutoFit/>
            </a:bodyPr>
            <a:lstStyle/>
            <a:p>
              <a:r>
                <a:rPr lang="en-US" dirty="0"/>
                <a:t>F</a:t>
              </a:r>
            </a:p>
          </p:txBody>
        </p:sp>
        <p:sp>
          <p:nvSpPr>
            <p:cNvPr id="102" name="TextBox 101">
              <a:extLst>
                <a:ext uri="{FF2B5EF4-FFF2-40B4-BE49-F238E27FC236}">
                  <a16:creationId xmlns:a16="http://schemas.microsoft.com/office/drawing/2014/main" id="{936D2FDD-070B-E215-33FB-F5579488840C}"/>
                </a:ext>
              </a:extLst>
            </p:cNvPr>
            <p:cNvSpPr txBox="1"/>
            <p:nvPr/>
          </p:nvSpPr>
          <p:spPr>
            <a:xfrm>
              <a:off x="8072724" y="4084160"/>
              <a:ext cx="306494" cy="369332"/>
            </a:xfrm>
            <a:prstGeom prst="rect">
              <a:avLst/>
            </a:prstGeom>
            <a:noFill/>
          </p:spPr>
          <p:txBody>
            <a:bodyPr wrap="square" rtlCol="0">
              <a:spAutoFit/>
            </a:bodyPr>
            <a:lstStyle/>
            <a:p>
              <a:r>
                <a:rPr lang="en-US" dirty="0"/>
                <a:t>F</a:t>
              </a:r>
            </a:p>
          </p:txBody>
        </p:sp>
        <p:sp>
          <p:nvSpPr>
            <p:cNvPr id="103" name="TextBox 102">
              <a:extLst>
                <a:ext uri="{FF2B5EF4-FFF2-40B4-BE49-F238E27FC236}">
                  <a16:creationId xmlns:a16="http://schemas.microsoft.com/office/drawing/2014/main" id="{5F18618C-50FB-6CBE-8651-46652765AB97}"/>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2C5A45F1-DF73-7F69-B0EE-5A6FF30BC81C}"/>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A257C38C-DA47-E59E-810B-4746F68F97DD}"/>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B57B6543-67CA-ECD0-4E40-08FFD18B238A}"/>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8100F6B0-146B-95BD-DB86-FC114E3C26AD}"/>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D54F772E-FD1D-A345-55C6-1EE61CB268E9}"/>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563BB4D6-26C4-418F-C7FE-FC651DADE8CE}"/>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5E7B83F4-0543-D7A3-76CE-8C922377FEB9}"/>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cxnSp>
        <p:nvCxnSpPr>
          <p:cNvPr id="10" name="Straight Connector 9">
            <a:extLst>
              <a:ext uri="{FF2B5EF4-FFF2-40B4-BE49-F238E27FC236}">
                <a16:creationId xmlns:a16="http://schemas.microsoft.com/office/drawing/2014/main" id="{0217A009-DF0C-8918-9200-43B7360C913B}"/>
              </a:ext>
              <a:ext uri="{C183D7F6-B498-43B3-948B-1728B52AA6E4}">
                <adec:decorative xmlns:adec="http://schemas.microsoft.com/office/drawing/2017/decorative" val="1"/>
              </a:ext>
            </a:extLst>
          </p:cNvPr>
          <p:cNvCxnSpPr/>
          <p:nvPr/>
        </p:nvCxnSpPr>
        <p:spPr>
          <a:xfrm>
            <a:off x="2965622" y="2215978"/>
            <a:ext cx="54369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C31FF28-89DD-6BD4-8AD3-6BF62A73CE55}"/>
              </a:ext>
              <a:ext uri="{C183D7F6-B498-43B3-948B-1728B52AA6E4}">
                <adec:decorative xmlns:adec="http://schemas.microsoft.com/office/drawing/2017/decorative" val="1"/>
              </a:ext>
            </a:extLst>
          </p:cNvPr>
          <p:cNvCxnSpPr>
            <a:cxnSpLocks/>
          </p:cNvCxnSpPr>
          <p:nvPr/>
        </p:nvCxnSpPr>
        <p:spPr>
          <a:xfrm>
            <a:off x="3571104" y="2220094"/>
            <a:ext cx="31715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4" name="Group 3" descr="virtual address 0X1274A05C indicates page 1274A and offset 05C">
            <a:extLst>
              <a:ext uri="{FF2B5EF4-FFF2-40B4-BE49-F238E27FC236}">
                <a16:creationId xmlns:a16="http://schemas.microsoft.com/office/drawing/2014/main" id="{E150C4FC-67A4-FBC4-BDBF-E3F0DDDA5D14}"/>
              </a:ext>
            </a:extLst>
          </p:cNvPr>
          <p:cNvGrpSpPr/>
          <p:nvPr/>
        </p:nvGrpSpPr>
        <p:grpSpPr>
          <a:xfrm>
            <a:off x="691186" y="2215978"/>
            <a:ext cx="3027081" cy="728595"/>
            <a:chOff x="691186" y="2215978"/>
            <a:chExt cx="3027081" cy="728595"/>
          </a:xfrm>
        </p:grpSpPr>
        <p:sp>
          <p:nvSpPr>
            <p:cNvPr id="55" name="Rectangle 54">
              <a:extLst>
                <a:ext uri="{FF2B5EF4-FFF2-40B4-BE49-F238E27FC236}">
                  <a16:creationId xmlns:a16="http://schemas.microsoft.com/office/drawing/2014/main" id="{BBAA28B7-CDF7-A60E-6786-EDDFEB5AE38F}"/>
                </a:ext>
              </a:extLst>
            </p:cNvPr>
            <p:cNvSpPr>
              <a:spLocks noChangeAspect="1"/>
            </p:cNvSpPr>
            <p:nvPr/>
          </p:nvSpPr>
          <p:spPr>
            <a:xfrm>
              <a:off x="691186" y="261529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1274A</a:t>
              </a:r>
              <a:endParaRPr lang="en-US" sz="1600" dirty="0">
                <a:solidFill>
                  <a:schemeClr val="tx1"/>
                </a:solidFill>
                <a:latin typeface="Consolas" panose="020B0609020204030204" pitchFamily="49" charset="0"/>
                <a:cs typeface="Consolas" panose="020B0609020204030204" pitchFamily="49" charset="0"/>
              </a:endParaRPr>
            </a:p>
          </p:txBody>
        </p:sp>
        <p:sp>
          <p:nvSpPr>
            <p:cNvPr id="56" name="Rectangle 55">
              <a:extLst>
                <a:ext uri="{FF2B5EF4-FFF2-40B4-BE49-F238E27FC236}">
                  <a16:creationId xmlns:a16="http://schemas.microsoft.com/office/drawing/2014/main" id="{404EF054-A054-ACCE-FAFE-48A9C56EB4C5}"/>
                </a:ext>
              </a:extLst>
            </p:cNvPr>
            <p:cNvSpPr>
              <a:spLocks noChangeAspect="1"/>
            </p:cNvSpPr>
            <p:nvPr/>
          </p:nvSpPr>
          <p:spPr>
            <a:xfrm>
              <a:off x="2449901" y="261529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05C</a:t>
              </a:r>
            </a:p>
          </p:txBody>
        </p:sp>
        <p:cxnSp>
          <p:nvCxnSpPr>
            <p:cNvPr id="14" name="Straight Arrow Connector 13">
              <a:extLst>
                <a:ext uri="{FF2B5EF4-FFF2-40B4-BE49-F238E27FC236}">
                  <a16:creationId xmlns:a16="http://schemas.microsoft.com/office/drawing/2014/main" id="{D5364131-145B-9F4C-B4E7-E7C9F5F92DD9}"/>
                </a:ext>
              </a:extLst>
            </p:cNvPr>
            <p:cNvCxnSpPr>
              <a:endCxn id="55" idx="0"/>
            </p:cNvCxnSpPr>
            <p:nvPr/>
          </p:nvCxnSpPr>
          <p:spPr>
            <a:xfrm flipH="1">
              <a:off x="1570544" y="2215978"/>
              <a:ext cx="1675164" cy="39931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6B924B8-128C-D4EF-916C-B9073C62674D}"/>
                </a:ext>
              </a:extLst>
            </p:cNvPr>
            <p:cNvCxnSpPr>
              <a:endCxn id="56" idx="0"/>
            </p:cNvCxnSpPr>
            <p:nvPr/>
          </p:nvCxnSpPr>
          <p:spPr>
            <a:xfrm flipH="1">
              <a:off x="3084084" y="2215978"/>
              <a:ext cx="634183" cy="39931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33427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8DE98-8E1C-1063-A46B-AF9C54D00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444CC-1093-F858-F5F7-9831510F39B9}"/>
              </a:ext>
            </a:extLst>
          </p:cNvPr>
          <p:cNvSpPr>
            <a:spLocks noGrp="1"/>
          </p:cNvSpPr>
          <p:nvPr>
            <p:ph type="title"/>
          </p:nvPr>
        </p:nvSpPr>
        <p:spPr>
          <a:xfrm>
            <a:off x="838200" y="197698"/>
            <a:ext cx="10515600" cy="1325563"/>
          </a:xfrm>
        </p:spPr>
        <p:txBody>
          <a:bodyPr/>
          <a:lstStyle/>
          <a:p>
            <a:r>
              <a:rPr lang="en-US" dirty="0"/>
              <a:t>Translating virtual addresses to physical addresses: Page table (3)</a:t>
            </a:r>
          </a:p>
        </p:txBody>
      </p:sp>
      <p:grpSp>
        <p:nvGrpSpPr>
          <p:cNvPr id="4" name="Group 3" descr="Page 1274A, offset 05C">
            <a:extLst>
              <a:ext uri="{FF2B5EF4-FFF2-40B4-BE49-F238E27FC236}">
                <a16:creationId xmlns:a16="http://schemas.microsoft.com/office/drawing/2014/main" id="{4DCFA526-02EF-474F-DF62-870C9766F1BE}"/>
              </a:ext>
            </a:extLst>
          </p:cNvPr>
          <p:cNvGrpSpPr/>
          <p:nvPr/>
        </p:nvGrpSpPr>
        <p:grpSpPr>
          <a:xfrm>
            <a:off x="691186" y="2615296"/>
            <a:ext cx="3027081" cy="329277"/>
            <a:chOff x="691186" y="2615296"/>
            <a:chExt cx="3027081" cy="329277"/>
          </a:xfrm>
        </p:grpSpPr>
        <p:sp>
          <p:nvSpPr>
            <p:cNvPr id="55" name="Rectangle 54">
              <a:extLst>
                <a:ext uri="{FF2B5EF4-FFF2-40B4-BE49-F238E27FC236}">
                  <a16:creationId xmlns:a16="http://schemas.microsoft.com/office/drawing/2014/main" id="{B5A17400-A2B3-A4B1-7DAF-33D49DFA72E3}"/>
                </a:ext>
              </a:extLst>
            </p:cNvPr>
            <p:cNvSpPr>
              <a:spLocks noChangeAspect="1"/>
            </p:cNvSpPr>
            <p:nvPr/>
          </p:nvSpPr>
          <p:spPr>
            <a:xfrm>
              <a:off x="691186" y="261529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1274A</a:t>
              </a:r>
              <a:endParaRPr lang="en-US" sz="1600" dirty="0">
                <a:solidFill>
                  <a:schemeClr val="tx1"/>
                </a:solidFill>
                <a:latin typeface="Consolas" panose="020B0609020204030204" pitchFamily="49" charset="0"/>
                <a:cs typeface="Consolas" panose="020B0609020204030204" pitchFamily="49" charset="0"/>
              </a:endParaRPr>
            </a:p>
          </p:txBody>
        </p:sp>
        <p:sp>
          <p:nvSpPr>
            <p:cNvPr id="56" name="Rectangle 55">
              <a:extLst>
                <a:ext uri="{FF2B5EF4-FFF2-40B4-BE49-F238E27FC236}">
                  <a16:creationId xmlns:a16="http://schemas.microsoft.com/office/drawing/2014/main" id="{68E36DCF-5C62-13DD-33DD-DDD4A098C425}"/>
                </a:ext>
              </a:extLst>
            </p:cNvPr>
            <p:cNvSpPr>
              <a:spLocks noChangeAspect="1"/>
            </p:cNvSpPr>
            <p:nvPr/>
          </p:nvSpPr>
          <p:spPr>
            <a:xfrm>
              <a:off x="2449901" y="261529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05C</a:t>
              </a:r>
            </a:p>
          </p:txBody>
        </p:sp>
      </p:grpSp>
      <p:sp>
        <p:nvSpPr>
          <p:cNvPr id="57" name="TextBox 56">
            <a:extLst>
              <a:ext uri="{FF2B5EF4-FFF2-40B4-BE49-F238E27FC236}">
                <a16:creationId xmlns:a16="http://schemas.microsoft.com/office/drawing/2014/main" id="{5C1A3424-B571-8306-FA63-29841D9E194B}"/>
              </a:ext>
            </a:extLst>
          </p:cNvPr>
          <p:cNvSpPr txBox="1"/>
          <p:nvPr/>
        </p:nvSpPr>
        <p:spPr>
          <a:xfrm>
            <a:off x="512448" y="1839589"/>
            <a:ext cx="3519873" cy="461665"/>
          </a:xfrm>
          <a:prstGeom prst="rect">
            <a:avLst/>
          </a:prstGeom>
          <a:noFill/>
        </p:spPr>
        <p:txBody>
          <a:bodyPr wrap="none" rtlCol="0">
            <a:spAutoFit/>
          </a:bodyPr>
          <a:lstStyle/>
          <a:p>
            <a:r>
              <a:rPr lang="en-US" dirty="0">
                <a:cs typeface="Consolas" panose="020B0609020204030204" pitchFamily="49" charset="0"/>
              </a:rPr>
              <a:t>write to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1274A05C</a:t>
            </a:r>
          </a:p>
        </p:txBody>
      </p:sp>
      <p:cxnSp>
        <p:nvCxnSpPr>
          <p:cNvPr id="72" name="Straight Arrow Connector 71" descr="references page table entry for page 1274A">
            <a:extLst>
              <a:ext uri="{FF2B5EF4-FFF2-40B4-BE49-F238E27FC236}">
                <a16:creationId xmlns:a16="http://schemas.microsoft.com/office/drawing/2014/main" id="{42970ECE-A5C2-3746-C466-7CF89048F381}"/>
              </a:ext>
            </a:extLst>
          </p:cNvPr>
          <p:cNvCxnSpPr>
            <a:cxnSpLocks/>
            <a:stCxn id="55" idx="2"/>
          </p:cNvCxnSpPr>
          <p:nvPr/>
        </p:nvCxnSpPr>
        <p:spPr>
          <a:xfrm>
            <a:off x="1570544" y="2944573"/>
            <a:ext cx="2930985" cy="13389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 2" descr="Slice of page table. Page 1274A lists page frame 13D, resident, not references, not dirty.">
            <a:extLst>
              <a:ext uri="{FF2B5EF4-FFF2-40B4-BE49-F238E27FC236}">
                <a16:creationId xmlns:a16="http://schemas.microsoft.com/office/drawing/2014/main" id="{22CB15CA-623D-8AFF-D4FA-613AD7947737}"/>
              </a:ext>
            </a:extLst>
          </p:cNvPr>
          <p:cNvGrpSpPr/>
          <p:nvPr/>
        </p:nvGrpSpPr>
        <p:grpSpPr>
          <a:xfrm>
            <a:off x="4525143" y="2883843"/>
            <a:ext cx="4060419" cy="3518871"/>
            <a:chOff x="4525143" y="2883843"/>
            <a:chExt cx="4060419" cy="3518871"/>
          </a:xfrm>
        </p:grpSpPr>
        <p:sp>
          <p:nvSpPr>
            <p:cNvPr id="17" name="Rectangle 16">
              <a:extLst>
                <a:ext uri="{FF2B5EF4-FFF2-40B4-BE49-F238E27FC236}">
                  <a16:creationId xmlns:a16="http://schemas.microsoft.com/office/drawing/2014/main" id="{C8073083-76C7-D361-DB2E-717889658670}"/>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10B404B8-72C9-D10A-0469-607A19139051}"/>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024E2D0C-4249-21DB-2525-A808B1D191A9}"/>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11C4E630-F60B-30C8-A33C-70DB7C0F5864}"/>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CD697275-48C2-63E4-5417-7B6157E2F74C}"/>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C0CC2BE8-8363-803E-B54F-510E82F85C3A}"/>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1FC95074-B914-145E-27C7-23EA8C6CC6C2}"/>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D9FC5D16-2B71-2461-0B39-8B14B70C35CF}"/>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C4D11AF4-768E-DCC1-9C09-9713404CB477}"/>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4CFA07EC-9820-00E6-1BD6-CDC2EE205B8B}"/>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2997F56F-F020-714F-7EFD-B870EB17784E}"/>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3971B815-A0FB-235A-1D32-5AC0BC564A76}"/>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AA8EB062-6DFC-2445-859F-D06E8E8E73CA}"/>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2E6AFA23-8BC3-68B3-18F4-17912645C708}"/>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010E326B-6AAD-6029-65E7-BB947C5DDF84}"/>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3CAA8B16-A7FD-9356-8DA4-8555120BCD34}"/>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14771EA9-B136-2315-39C4-690A5B54C8EF}"/>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3B9C00D9-A4FF-1117-AAC7-944CC52036AA}"/>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87CD4824-5AAC-70A9-06A8-FC37499EF399}"/>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16425D30-C041-ED8E-DB4A-182DF7BD703C}"/>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93E3EF43-59EC-1AD8-C5C9-E7A64989ADEE}"/>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300B7BD4-6458-9094-A396-228D9FD86B98}"/>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30750F30-233A-87C3-61F9-21B9C66E6C60}"/>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F5BD1262-1A75-C0D8-0F41-07FECEA5B5D1}"/>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1" name="TextBox 90">
              <a:extLst>
                <a:ext uri="{FF2B5EF4-FFF2-40B4-BE49-F238E27FC236}">
                  <a16:creationId xmlns:a16="http://schemas.microsoft.com/office/drawing/2014/main" id="{8CF2D023-35F2-D825-DD3E-37EA36478018}"/>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sp>
          <p:nvSpPr>
            <p:cNvPr id="92" name="TextBox 91">
              <a:extLst>
                <a:ext uri="{FF2B5EF4-FFF2-40B4-BE49-F238E27FC236}">
                  <a16:creationId xmlns:a16="http://schemas.microsoft.com/office/drawing/2014/main" id="{88931695-B831-DEA1-1BBB-68A349277B81}"/>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EBDCD3BE-B639-CD29-0B7E-C890A92EB59F}"/>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D0A219A5-FF2D-66F7-7F7D-296A7412A7DA}"/>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83F37007-2464-F271-469F-764E84A8FBB0}"/>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FF86E6E7-256E-306B-A3EE-E746609CDAB2}"/>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F290832D-B309-7FB6-BB25-DD9344B9503F}"/>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5B60D4DA-C629-5BE1-0553-CFF0AA3F4641}"/>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CB28AAB0-DCE7-FF49-D3C5-9D1EAD1DCEFA}"/>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236AFD3A-B7C0-0824-7E11-CD27EF3EC239}"/>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64C003CF-C605-25BB-6C26-93CF6B90E290}"/>
                </a:ext>
              </a:extLst>
            </p:cNvPr>
            <p:cNvSpPr txBox="1"/>
            <p:nvPr/>
          </p:nvSpPr>
          <p:spPr>
            <a:xfrm>
              <a:off x="7638724" y="4086349"/>
              <a:ext cx="306494" cy="369332"/>
            </a:xfrm>
            <a:prstGeom prst="rect">
              <a:avLst/>
            </a:prstGeom>
            <a:noFill/>
          </p:spPr>
          <p:txBody>
            <a:bodyPr wrap="square" rtlCol="0">
              <a:spAutoFit/>
            </a:bodyPr>
            <a:lstStyle/>
            <a:p>
              <a:r>
                <a:rPr lang="en-US" dirty="0"/>
                <a:t>F</a:t>
              </a:r>
            </a:p>
          </p:txBody>
        </p:sp>
        <p:sp>
          <p:nvSpPr>
            <p:cNvPr id="102" name="TextBox 101">
              <a:extLst>
                <a:ext uri="{FF2B5EF4-FFF2-40B4-BE49-F238E27FC236}">
                  <a16:creationId xmlns:a16="http://schemas.microsoft.com/office/drawing/2014/main" id="{CE7BE6A7-2303-062D-0767-EFBE2087AB14}"/>
                </a:ext>
              </a:extLst>
            </p:cNvPr>
            <p:cNvSpPr txBox="1"/>
            <p:nvPr/>
          </p:nvSpPr>
          <p:spPr>
            <a:xfrm>
              <a:off x="8072724" y="4084160"/>
              <a:ext cx="306494" cy="369332"/>
            </a:xfrm>
            <a:prstGeom prst="rect">
              <a:avLst/>
            </a:prstGeom>
            <a:noFill/>
          </p:spPr>
          <p:txBody>
            <a:bodyPr wrap="square" rtlCol="0">
              <a:spAutoFit/>
            </a:bodyPr>
            <a:lstStyle/>
            <a:p>
              <a:r>
                <a:rPr lang="en-US" dirty="0"/>
                <a:t>F</a:t>
              </a:r>
            </a:p>
          </p:txBody>
        </p:sp>
        <p:sp>
          <p:nvSpPr>
            <p:cNvPr id="103" name="TextBox 102">
              <a:extLst>
                <a:ext uri="{FF2B5EF4-FFF2-40B4-BE49-F238E27FC236}">
                  <a16:creationId xmlns:a16="http://schemas.microsoft.com/office/drawing/2014/main" id="{CDA06D99-0FED-8278-B1EE-AD2A6EE61862}"/>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210DE451-DF6F-2013-A82D-778072646BB9}"/>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8EF2ED62-7AFC-B8B3-94BF-040FA87CB083}"/>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F453FC90-2004-DF56-4B0F-F2F868DCD05A}"/>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9C363152-275E-8C9F-FDAA-D5DB1B89689A}"/>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D28D8D42-3973-157A-89FF-4FAC073DBD63}"/>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9DF965CA-866D-C54B-C9CA-C237183114B7}"/>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0BC2227B-CD90-7BF0-509A-E2ED9A57018A}"/>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spTree>
    <p:extLst>
      <p:ext uri="{BB962C8B-B14F-4D97-AF65-F5344CB8AC3E}">
        <p14:creationId xmlns:p14="http://schemas.microsoft.com/office/powerpoint/2010/main" val="19643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C7CEB-B2D7-E261-4C3A-E6E5A8A2C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788E7-B831-97AD-8827-EB7796EBFF94}"/>
              </a:ext>
            </a:extLst>
          </p:cNvPr>
          <p:cNvSpPr>
            <a:spLocks noGrp="1"/>
          </p:cNvSpPr>
          <p:nvPr>
            <p:ph type="title"/>
          </p:nvPr>
        </p:nvSpPr>
        <p:spPr>
          <a:xfrm>
            <a:off x="838200" y="197698"/>
            <a:ext cx="10515600" cy="1325563"/>
          </a:xfrm>
        </p:spPr>
        <p:txBody>
          <a:bodyPr/>
          <a:lstStyle/>
          <a:p>
            <a:r>
              <a:rPr lang="en-US" dirty="0"/>
              <a:t>Translating virtual addresses to physical addresses: Page table (4)</a:t>
            </a:r>
          </a:p>
        </p:txBody>
      </p:sp>
      <p:grpSp>
        <p:nvGrpSpPr>
          <p:cNvPr id="4" name="Group 3" descr="the virtual address is page 1274A, offset 05C">
            <a:extLst>
              <a:ext uri="{FF2B5EF4-FFF2-40B4-BE49-F238E27FC236}">
                <a16:creationId xmlns:a16="http://schemas.microsoft.com/office/drawing/2014/main" id="{9965002D-79B8-CE75-CDDC-DF9E7D1DF368}"/>
              </a:ext>
            </a:extLst>
          </p:cNvPr>
          <p:cNvGrpSpPr/>
          <p:nvPr/>
        </p:nvGrpSpPr>
        <p:grpSpPr>
          <a:xfrm>
            <a:off x="691186" y="2615296"/>
            <a:ext cx="3027081" cy="329277"/>
            <a:chOff x="691186" y="2615296"/>
            <a:chExt cx="3027081" cy="329277"/>
          </a:xfrm>
        </p:grpSpPr>
        <p:sp>
          <p:nvSpPr>
            <p:cNvPr id="55" name="Rectangle 54">
              <a:extLst>
                <a:ext uri="{FF2B5EF4-FFF2-40B4-BE49-F238E27FC236}">
                  <a16:creationId xmlns:a16="http://schemas.microsoft.com/office/drawing/2014/main" id="{ACDBA28A-140D-3395-6552-3F4251EE10BB}"/>
                </a:ext>
              </a:extLst>
            </p:cNvPr>
            <p:cNvSpPr>
              <a:spLocks noChangeAspect="1"/>
            </p:cNvSpPr>
            <p:nvPr/>
          </p:nvSpPr>
          <p:spPr>
            <a:xfrm>
              <a:off x="691186" y="261529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1274A</a:t>
              </a:r>
              <a:endParaRPr lang="en-US" sz="1600" dirty="0">
                <a:solidFill>
                  <a:schemeClr val="tx1"/>
                </a:solidFill>
                <a:latin typeface="Consolas" panose="020B0609020204030204" pitchFamily="49" charset="0"/>
                <a:cs typeface="Consolas" panose="020B0609020204030204" pitchFamily="49" charset="0"/>
              </a:endParaRPr>
            </a:p>
          </p:txBody>
        </p:sp>
        <p:sp>
          <p:nvSpPr>
            <p:cNvPr id="56" name="Rectangle 55">
              <a:extLst>
                <a:ext uri="{FF2B5EF4-FFF2-40B4-BE49-F238E27FC236}">
                  <a16:creationId xmlns:a16="http://schemas.microsoft.com/office/drawing/2014/main" id="{F0B12CB1-AF02-C3FB-9AA7-9FA65625B3ED}"/>
                </a:ext>
              </a:extLst>
            </p:cNvPr>
            <p:cNvSpPr>
              <a:spLocks noChangeAspect="1"/>
            </p:cNvSpPr>
            <p:nvPr/>
          </p:nvSpPr>
          <p:spPr>
            <a:xfrm>
              <a:off x="2449901" y="261529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05C</a:t>
              </a:r>
            </a:p>
          </p:txBody>
        </p:sp>
      </p:grpSp>
      <p:sp>
        <p:nvSpPr>
          <p:cNvPr id="57" name="TextBox 56">
            <a:extLst>
              <a:ext uri="{FF2B5EF4-FFF2-40B4-BE49-F238E27FC236}">
                <a16:creationId xmlns:a16="http://schemas.microsoft.com/office/drawing/2014/main" id="{8FC6987A-0FC4-6795-2AC0-04E3AEC390A9}"/>
              </a:ext>
            </a:extLst>
          </p:cNvPr>
          <p:cNvSpPr txBox="1"/>
          <p:nvPr/>
        </p:nvSpPr>
        <p:spPr>
          <a:xfrm>
            <a:off x="512448" y="1839589"/>
            <a:ext cx="3519873" cy="461665"/>
          </a:xfrm>
          <a:prstGeom prst="rect">
            <a:avLst/>
          </a:prstGeom>
          <a:noFill/>
        </p:spPr>
        <p:txBody>
          <a:bodyPr wrap="none" rtlCol="0">
            <a:spAutoFit/>
          </a:bodyPr>
          <a:lstStyle/>
          <a:p>
            <a:r>
              <a:rPr lang="en-US" dirty="0">
                <a:cs typeface="Consolas" panose="020B0609020204030204" pitchFamily="49" charset="0"/>
              </a:rPr>
              <a:t>write to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1274A05C</a:t>
            </a:r>
          </a:p>
        </p:txBody>
      </p:sp>
      <p:grpSp>
        <p:nvGrpSpPr>
          <p:cNvPr id="5" name="Group 4" descr="the physical address is page frame 13D, offset 05C">
            <a:extLst>
              <a:ext uri="{FF2B5EF4-FFF2-40B4-BE49-F238E27FC236}">
                <a16:creationId xmlns:a16="http://schemas.microsoft.com/office/drawing/2014/main" id="{71AC1FEA-A6C8-CBFA-81CB-68F7777BCEC2}"/>
              </a:ext>
            </a:extLst>
          </p:cNvPr>
          <p:cNvGrpSpPr/>
          <p:nvPr/>
        </p:nvGrpSpPr>
        <p:grpSpPr>
          <a:xfrm>
            <a:off x="693931" y="4952192"/>
            <a:ext cx="3027081" cy="329277"/>
            <a:chOff x="693931" y="4952192"/>
            <a:chExt cx="3027081" cy="329277"/>
          </a:xfrm>
        </p:grpSpPr>
        <p:sp>
          <p:nvSpPr>
            <p:cNvPr id="76" name="Rectangle 75">
              <a:extLst>
                <a:ext uri="{FF2B5EF4-FFF2-40B4-BE49-F238E27FC236}">
                  <a16:creationId xmlns:a16="http://schemas.microsoft.com/office/drawing/2014/main" id="{507FB8D3-28BB-EA6B-EB86-1E933920DFD0}"/>
                </a:ext>
              </a:extLst>
            </p:cNvPr>
            <p:cNvSpPr>
              <a:spLocks noChangeAspect="1"/>
            </p:cNvSpPr>
            <p:nvPr/>
          </p:nvSpPr>
          <p:spPr>
            <a:xfrm>
              <a:off x="693931" y="4952192"/>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13D</a:t>
              </a:r>
              <a:endParaRPr lang="en-US" sz="1600" dirty="0">
                <a:solidFill>
                  <a:schemeClr val="tx1"/>
                </a:solidFill>
                <a:latin typeface="Consolas" panose="020B0609020204030204" pitchFamily="49" charset="0"/>
                <a:cs typeface="Consolas" panose="020B0609020204030204" pitchFamily="49" charset="0"/>
              </a:endParaRPr>
            </a:p>
          </p:txBody>
        </p:sp>
        <p:sp>
          <p:nvSpPr>
            <p:cNvPr id="77" name="Rectangle 76">
              <a:extLst>
                <a:ext uri="{FF2B5EF4-FFF2-40B4-BE49-F238E27FC236}">
                  <a16:creationId xmlns:a16="http://schemas.microsoft.com/office/drawing/2014/main" id="{2127C289-A882-D9C0-CC87-B5187435D793}"/>
                </a:ext>
              </a:extLst>
            </p:cNvPr>
            <p:cNvSpPr>
              <a:spLocks noChangeAspect="1"/>
            </p:cNvSpPr>
            <p:nvPr/>
          </p:nvSpPr>
          <p:spPr>
            <a:xfrm>
              <a:off x="2452646" y="4952192"/>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05C</a:t>
              </a:r>
              <a:endParaRPr lang="en-US" sz="1600" dirty="0">
                <a:solidFill>
                  <a:schemeClr val="tx1"/>
                </a:solidFill>
                <a:latin typeface="Consolas" panose="020B0609020204030204" pitchFamily="49" charset="0"/>
                <a:cs typeface="Consolas" panose="020B0609020204030204" pitchFamily="49" charset="0"/>
              </a:endParaRPr>
            </a:p>
          </p:txBody>
        </p:sp>
      </p:grpSp>
      <p:cxnSp>
        <p:nvCxnSpPr>
          <p:cNvPr id="79" name="Straight Arrow Connector 78" descr="top 20 bits of the physical address is 13D">
            <a:extLst>
              <a:ext uri="{FF2B5EF4-FFF2-40B4-BE49-F238E27FC236}">
                <a16:creationId xmlns:a16="http://schemas.microsoft.com/office/drawing/2014/main" id="{86743B5F-7DB6-73BD-BE46-62B5FABA0541}"/>
              </a:ext>
            </a:extLst>
          </p:cNvPr>
          <p:cNvCxnSpPr/>
          <p:nvPr/>
        </p:nvCxnSpPr>
        <p:spPr>
          <a:xfrm flipH="1">
            <a:off x="1962297" y="4283489"/>
            <a:ext cx="4059152" cy="8078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9A1D58F3-DDCA-354B-EA42-B2513503EBCE}"/>
              </a:ext>
            </a:extLst>
          </p:cNvPr>
          <p:cNvSpPr txBox="1"/>
          <p:nvPr/>
        </p:nvSpPr>
        <p:spPr>
          <a:xfrm>
            <a:off x="7393993" y="1482516"/>
            <a:ext cx="4534896" cy="646331"/>
          </a:xfrm>
          <a:prstGeom prst="rect">
            <a:avLst/>
          </a:prstGeom>
          <a:solidFill>
            <a:schemeClr val="tx2">
              <a:lumMod val="10000"/>
              <a:lumOff val="90000"/>
            </a:schemeClr>
          </a:solidFill>
          <a:ln>
            <a:solidFill>
              <a:schemeClr val="tx1"/>
            </a:solidFill>
          </a:ln>
        </p:spPr>
        <p:txBody>
          <a:bodyPr wrap="square" rtlCol="0">
            <a:spAutoFit/>
          </a:bodyPr>
          <a:lstStyle/>
          <a:p>
            <a:r>
              <a:rPr lang="en-US" dirty="0"/>
              <a:t>permissions don’t match? permissions fault</a:t>
            </a:r>
          </a:p>
          <a:p>
            <a:r>
              <a:rPr lang="en-US" dirty="0"/>
              <a:t>incorrect process ID? segment fault</a:t>
            </a:r>
          </a:p>
        </p:txBody>
      </p:sp>
      <p:grpSp>
        <p:nvGrpSpPr>
          <p:cNvPr id="3" name="Group 2" descr="page table entry for page 1274A has referenced and dirty bits set to TRUE because the operation is a write">
            <a:extLst>
              <a:ext uri="{FF2B5EF4-FFF2-40B4-BE49-F238E27FC236}">
                <a16:creationId xmlns:a16="http://schemas.microsoft.com/office/drawing/2014/main" id="{90EF2686-B8A8-7FFE-3A7B-380D0EE91365}"/>
              </a:ext>
            </a:extLst>
          </p:cNvPr>
          <p:cNvGrpSpPr/>
          <p:nvPr/>
        </p:nvGrpSpPr>
        <p:grpSpPr>
          <a:xfrm>
            <a:off x="4525143" y="2883843"/>
            <a:ext cx="4060419" cy="3518871"/>
            <a:chOff x="4525143" y="2883843"/>
            <a:chExt cx="4060419" cy="3518871"/>
          </a:xfrm>
        </p:grpSpPr>
        <p:sp>
          <p:nvSpPr>
            <p:cNvPr id="17" name="Rectangle 16">
              <a:extLst>
                <a:ext uri="{FF2B5EF4-FFF2-40B4-BE49-F238E27FC236}">
                  <a16:creationId xmlns:a16="http://schemas.microsoft.com/office/drawing/2014/main" id="{31020337-680E-C161-A632-965AC73B079E}"/>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EAA74D5E-218B-83B9-DAD3-9E73D1E2C0AF}"/>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BF48E6BD-AE77-67AC-21E5-DE97E4D5E67D}"/>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8361FFA3-9B58-86F9-4EA9-F796D0FD795C}"/>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C892CF57-D227-A0EC-6AD2-1D42DDF90DA0}"/>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09B92FBA-028D-7141-3A83-F4259F3A40A3}"/>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43BBA3FF-4E58-1756-DA1D-7705BD7BDB59}"/>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DF15D3D5-81E6-6650-F4EA-9F30C5076705}"/>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C789D373-033F-79F9-D4DD-EC7F650A23EB}"/>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09AE05F3-8029-DE88-539E-8E4298A5527D}"/>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FBB0E4FD-EEBD-A577-5398-95B62A61988F}"/>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F7E80A4F-9AE1-9A0E-345F-95BF8732F385}"/>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38739420-0EBD-7037-2356-0B6AA9115E4A}"/>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6318090F-11DB-7CCE-A31A-2B73486C2C31}"/>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F0A01653-5E46-0E3D-0D8F-209B34B4F460}"/>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E4D74111-6DAC-4A12-1B1B-DA86C8489499}"/>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0E626073-DF98-2EE0-E605-E1A8EA5C1A58}"/>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536C906A-128F-1262-7D78-984E7513F622}"/>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1E9E495D-43E7-ED02-53C9-F01A52FBFD51}"/>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5F873869-25BE-3D04-DA91-05A427FE29E7}"/>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656154A1-F919-087F-71F4-509C858B2543}"/>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A2313290-42B3-C854-81F6-5634F2BA07C2}"/>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49D8287-5597-6D39-AEFF-06FB6CC51A6C}"/>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66F3F0B1-0F56-8512-7EC5-14553D1C8D76}"/>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1" name="TextBox 90">
              <a:extLst>
                <a:ext uri="{FF2B5EF4-FFF2-40B4-BE49-F238E27FC236}">
                  <a16:creationId xmlns:a16="http://schemas.microsoft.com/office/drawing/2014/main" id="{AFCD22BD-DCB8-4226-1934-1D80400C7F77}"/>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sp>
          <p:nvSpPr>
            <p:cNvPr id="92" name="TextBox 91">
              <a:extLst>
                <a:ext uri="{FF2B5EF4-FFF2-40B4-BE49-F238E27FC236}">
                  <a16:creationId xmlns:a16="http://schemas.microsoft.com/office/drawing/2014/main" id="{D32FECDE-7237-F594-5FB7-9F345DD2074E}"/>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7CC7284A-61FA-21ED-E3F9-4C0469641AE4}"/>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D38E0937-8C1C-53E5-676B-056873D63B51}"/>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C677F6E5-44BA-7CEF-F40E-3E8554C682EB}"/>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BE4C40ED-6400-1397-D3F8-4D9D5C86C2F8}"/>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61314BE5-0A68-D3B4-A58E-F4BAACC149F9}"/>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7F9F98EE-4B48-6FC8-B997-B94987F8AABC}"/>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AA7B6D6A-D8E8-31AE-ED38-8AA3048EF610}"/>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187C1951-3B30-0AC1-16D0-DD0991929613}"/>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13086BE1-36DE-3C8E-7C09-E557EE04623A}"/>
                </a:ext>
              </a:extLst>
            </p:cNvPr>
            <p:cNvSpPr txBox="1"/>
            <p:nvPr/>
          </p:nvSpPr>
          <p:spPr>
            <a:xfrm>
              <a:off x="7638724" y="4086349"/>
              <a:ext cx="306494" cy="369332"/>
            </a:xfrm>
            <a:prstGeom prst="rect">
              <a:avLst/>
            </a:prstGeom>
            <a:noFill/>
          </p:spPr>
          <p:txBody>
            <a:bodyPr wrap="square" rtlCol="0">
              <a:spAutoFit/>
            </a:bodyPr>
            <a:lstStyle/>
            <a:p>
              <a:r>
                <a:rPr lang="en-US" b="1" dirty="0">
                  <a:solidFill>
                    <a:srgbClr val="FF0000"/>
                  </a:solidFill>
                </a:rPr>
                <a:t>T</a:t>
              </a:r>
            </a:p>
          </p:txBody>
        </p:sp>
        <p:sp>
          <p:nvSpPr>
            <p:cNvPr id="102" name="TextBox 101">
              <a:extLst>
                <a:ext uri="{FF2B5EF4-FFF2-40B4-BE49-F238E27FC236}">
                  <a16:creationId xmlns:a16="http://schemas.microsoft.com/office/drawing/2014/main" id="{D8DF3265-75B6-9401-84C9-3FAEFC53E5C6}"/>
                </a:ext>
              </a:extLst>
            </p:cNvPr>
            <p:cNvSpPr txBox="1"/>
            <p:nvPr/>
          </p:nvSpPr>
          <p:spPr>
            <a:xfrm>
              <a:off x="8072724" y="4084160"/>
              <a:ext cx="306494" cy="369332"/>
            </a:xfrm>
            <a:prstGeom prst="rect">
              <a:avLst/>
            </a:prstGeom>
            <a:noFill/>
          </p:spPr>
          <p:txBody>
            <a:bodyPr wrap="square" rtlCol="0">
              <a:spAutoFit/>
            </a:bodyPr>
            <a:lstStyle/>
            <a:p>
              <a:r>
                <a:rPr lang="en-US" b="1" dirty="0">
                  <a:solidFill>
                    <a:srgbClr val="FF0000"/>
                  </a:solidFill>
                </a:rPr>
                <a:t>T</a:t>
              </a:r>
            </a:p>
          </p:txBody>
        </p:sp>
        <p:sp>
          <p:nvSpPr>
            <p:cNvPr id="103" name="TextBox 102">
              <a:extLst>
                <a:ext uri="{FF2B5EF4-FFF2-40B4-BE49-F238E27FC236}">
                  <a16:creationId xmlns:a16="http://schemas.microsoft.com/office/drawing/2014/main" id="{6E6241E8-6599-1677-C4CE-C309FB042FF6}"/>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27F4DF74-2CBE-000C-7269-0A5141B5547F}"/>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81C5163A-8292-8449-476C-3761318A0BB3}"/>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611A4550-FD82-69FA-7CEC-C39270454D94}"/>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17AA7EEE-72E3-82B9-1B31-27FF99BD4AC3}"/>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descr="Slice of page table">
              <a:extLst>
                <a:ext uri="{FF2B5EF4-FFF2-40B4-BE49-F238E27FC236}">
                  <a16:creationId xmlns:a16="http://schemas.microsoft.com/office/drawing/2014/main" id="{BEFC2DA4-5C4C-6BA4-034A-4BE10CA8D493}"/>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2064AA68-707F-ED28-D519-8809BB5BB4DE}"/>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090CBEF0-560B-532C-85D9-0DCDD2150EB1}"/>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cxnSp>
        <p:nvCxnSpPr>
          <p:cNvPr id="7" name="Straight Arrow Connector 6" descr="Last 12 bits of physical address is 05C">
            <a:extLst>
              <a:ext uri="{FF2B5EF4-FFF2-40B4-BE49-F238E27FC236}">
                <a16:creationId xmlns:a16="http://schemas.microsoft.com/office/drawing/2014/main" id="{6FD53F75-7548-6285-A1E3-EFD122E91D43}"/>
              </a:ext>
            </a:extLst>
          </p:cNvPr>
          <p:cNvCxnSpPr>
            <a:stCxn id="56" idx="2"/>
            <a:endCxn id="77" idx="0"/>
          </p:cNvCxnSpPr>
          <p:nvPr/>
        </p:nvCxnSpPr>
        <p:spPr>
          <a:xfrm>
            <a:off x="3084084" y="2944573"/>
            <a:ext cx="2745" cy="20076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8722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3B8BC-DF1A-FA2F-FC37-F8A07AF98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B15DE-51FA-464E-D528-ADAC6B48B602}"/>
              </a:ext>
            </a:extLst>
          </p:cNvPr>
          <p:cNvSpPr>
            <a:spLocks noGrp="1"/>
          </p:cNvSpPr>
          <p:nvPr>
            <p:ph type="title"/>
          </p:nvPr>
        </p:nvSpPr>
        <p:spPr>
          <a:xfrm>
            <a:off x="838200" y="197698"/>
            <a:ext cx="10515600" cy="1325563"/>
          </a:xfrm>
        </p:spPr>
        <p:txBody>
          <a:bodyPr/>
          <a:lstStyle/>
          <a:p>
            <a:r>
              <a:rPr lang="en-US" dirty="0"/>
              <a:t>Translating virtual addresses to physical addresses: Page table (5)</a:t>
            </a:r>
          </a:p>
        </p:txBody>
      </p:sp>
      <p:grpSp>
        <p:nvGrpSpPr>
          <p:cNvPr id="7" name="Group 6" descr="virtual address page 1274A, offset 05C">
            <a:extLst>
              <a:ext uri="{FF2B5EF4-FFF2-40B4-BE49-F238E27FC236}">
                <a16:creationId xmlns:a16="http://schemas.microsoft.com/office/drawing/2014/main" id="{2DECCCC7-6EE4-31B2-73C2-AA0891928B7F}"/>
              </a:ext>
            </a:extLst>
          </p:cNvPr>
          <p:cNvGrpSpPr/>
          <p:nvPr/>
        </p:nvGrpSpPr>
        <p:grpSpPr>
          <a:xfrm>
            <a:off x="691186" y="2615296"/>
            <a:ext cx="3027081" cy="329277"/>
            <a:chOff x="691186" y="2615296"/>
            <a:chExt cx="3027081" cy="329277"/>
          </a:xfrm>
        </p:grpSpPr>
        <p:sp>
          <p:nvSpPr>
            <p:cNvPr id="55" name="Rectangle 54">
              <a:extLst>
                <a:ext uri="{FF2B5EF4-FFF2-40B4-BE49-F238E27FC236}">
                  <a16:creationId xmlns:a16="http://schemas.microsoft.com/office/drawing/2014/main" id="{4A789881-9099-BD48-C9B1-56612241C357}"/>
                </a:ext>
              </a:extLst>
            </p:cNvPr>
            <p:cNvSpPr>
              <a:spLocks noChangeAspect="1"/>
            </p:cNvSpPr>
            <p:nvPr/>
          </p:nvSpPr>
          <p:spPr>
            <a:xfrm>
              <a:off x="691186" y="261529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1274A</a:t>
              </a:r>
              <a:endParaRPr lang="en-US" sz="1600" dirty="0">
                <a:solidFill>
                  <a:schemeClr val="tx1"/>
                </a:solidFill>
                <a:latin typeface="Consolas" panose="020B0609020204030204" pitchFamily="49" charset="0"/>
                <a:cs typeface="Consolas" panose="020B0609020204030204" pitchFamily="49" charset="0"/>
              </a:endParaRPr>
            </a:p>
          </p:txBody>
        </p:sp>
        <p:sp>
          <p:nvSpPr>
            <p:cNvPr id="56" name="Rectangle 55">
              <a:extLst>
                <a:ext uri="{FF2B5EF4-FFF2-40B4-BE49-F238E27FC236}">
                  <a16:creationId xmlns:a16="http://schemas.microsoft.com/office/drawing/2014/main" id="{BF27F6F0-C88E-D1CC-884F-9A2DFC2C9DBC}"/>
                </a:ext>
              </a:extLst>
            </p:cNvPr>
            <p:cNvSpPr>
              <a:spLocks noChangeAspect="1"/>
            </p:cNvSpPr>
            <p:nvPr/>
          </p:nvSpPr>
          <p:spPr>
            <a:xfrm>
              <a:off x="2449901" y="261529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05C</a:t>
              </a:r>
            </a:p>
          </p:txBody>
        </p:sp>
      </p:grpSp>
      <p:sp>
        <p:nvSpPr>
          <p:cNvPr id="57" name="TextBox 56">
            <a:extLst>
              <a:ext uri="{FF2B5EF4-FFF2-40B4-BE49-F238E27FC236}">
                <a16:creationId xmlns:a16="http://schemas.microsoft.com/office/drawing/2014/main" id="{9A24A7C1-B44C-4D48-62F5-4ECB1182F94A}"/>
              </a:ext>
            </a:extLst>
          </p:cNvPr>
          <p:cNvSpPr txBox="1"/>
          <p:nvPr/>
        </p:nvSpPr>
        <p:spPr>
          <a:xfrm>
            <a:off x="512448" y="1839589"/>
            <a:ext cx="3519873" cy="461665"/>
          </a:xfrm>
          <a:prstGeom prst="rect">
            <a:avLst/>
          </a:prstGeom>
          <a:noFill/>
        </p:spPr>
        <p:txBody>
          <a:bodyPr wrap="none" rtlCol="0">
            <a:spAutoFit/>
          </a:bodyPr>
          <a:lstStyle/>
          <a:p>
            <a:r>
              <a:rPr lang="en-US" dirty="0">
                <a:cs typeface="Consolas" panose="020B0609020204030204" pitchFamily="49" charset="0"/>
              </a:rPr>
              <a:t>write to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1274A05C</a:t>
            </a:r>
          </a:p>
        </p:txBody>
      </p:sp>
      <p:grpSp>
        <p:nvGrpSpPr>
          <p:cNvPr id="5" name="Group 4" descr="Slice of a page table">
            <a:extLst>
              <a:ext uri="{FF2B5EF4-FFF2-40B4-BE49-F238E27FC236}">
                <a16:creationId xmlns:a16="http://schemas.microsoft.com/office/drawing/2014/main" id="{17E09643-A39B-FA53-EA9B-C5434C63BB1C}"/>
              </a:ext>
            </a:extLst>
          </p:cNvPr>
          <p:cNvGrpSpPr/>
          <p:nvPr/>
        </p:nvGrpSpPr>
        <p:grpSpPr>
          <a:xfrm>
            <a:off x="4525143" y="2883843"/>
            <a:ext cx="4060419" cy="3518871"/>
            <a:chOff x="4525143" y="2883843"/>
            <a:chExt cx="4060419" cy="3518871"/>
          </a:xfrm>
        </p:grpSpPr>
        <p:sp>
          <p:nvSpPr>
            <p:cNvPr id="17" name="Rectangle 16">
              <a:extLst>
                <a:ext uri="{FF2B5EF4-FFF2-40B4-BE49-F238E27FC236}">
                  <a16:creationId xmlns:a16="http://schemas.microsoft.com/office/drawing/2014/main" id="{FB083C86-7A23-CB43-4820-D891F99F8651}"/>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D5152861-E70D-F5C5-F288-E919251CC200}"/>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C3136BAA-5423-71DF-48E6-9624603E8C65}"/>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00B46BFF-CC1B-21D9-07B8-19CA2A513AC2}"/>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93B921B2-6F30-A0CD-3E40-5CABA31C8326}"/>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1E81B151-5869-25D9-CAED-E9D0CBFD7B91}"/>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12C67FDC-239E-516A-9222-DD9EF0A29A4A}"/>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E90C13B2-862C-C5D3-0D95-85B1007AEE65}"/>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63AA0C8A-E5B5-73A1-270F-E007DA85943F}"/>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938CC378-A3FC-A677-CE05-91506D439819}"/>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ED7B18D9-F7FE-669E-E895-1B5416891597}"/>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F54994F4-C820-A1ED-AEAF-6ADA5EFCF5A2}"/>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CF12A7B5-1194-E1C8-054B-4CE048221FEC}"/>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792A171C-89F0-5B42-96E7-7ED611984998}"/>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666E0A5D-A1B3-523A-4C55-508B3C7ED447}"/>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17F0F64F-0715-19A8-1C93-A879E8ACF60C}"/>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257F9FD8-FA26-507E-D261-4474222455D8}"/>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E80CAE64-4AD4-BF59-8795-2BE717C6A6F0}"/>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EA9E1CC2-85FB-050E-92C0-7937550B9891}"/>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2A411728-4422-453E-F479-36B1041D7BFE}"/>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375EDABE-6230-0AE2-2952-F799E0452009}"/>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401AD9E7-BE12-D858-E3A2-AAF52BA7AA1F}"/>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DA4B8909-5E54-05F5-B787-8FA81E9AFF78}"/>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D559A2AB-FC65-6BFB-B2C6-E1254ADC2069}"/>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1" name="TextBox 90">
              <a:extLst>
                <a:ext uri="{FF2B5EF4-FFF2-40B4-BE49-F238E27FC236}">
                  <a16:creationId xmlns:a16="http://schemas.microsoft.com/office/drawing/2014/main" id="{BAE4CF04-91C0-8E0B-472A-0151B801FC74}"/>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sp>
          <p:nvSpPr>
            <p:cNvPr id="92" name="TextBox 91">
              <a:extLst>
                <a:ext uri="{FF2B5EF4-FFF2-40B4-BE49-F238E27FC236}">
                  <a16:creationId xmlns:a16="http://schemas.microsoft.com/office/drawing/2014/main" id="{448ABE8D-7D59-DA07-E3C8-24289802CB14}"/>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AAFDCDC4-FF64-61B7-85C4-F9D262356B5D}"/>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9E562F82-B74E-451A-B1CA-8420EA547BF4}"/>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3774C39E-8EF0-B2AC-F89D-B13FF482CA76}"/>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8DBD983F-097E-931C-8F03-B65AA89FB094}"/>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C8C313FC-B889-2C04-9073-6F82A1B6D282}"/>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0BFFCDFE-7C00-FF60-A397-D2C199F4EF9C}"/>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4D3CAA3E-EE5A-2F98-0C83-AE96ED0C3CA4}"/>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FD09E934-792F-A7C3-1E47-3CC8ADEDE41B}"/>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D05BB358-229D-5F19-4971-0F4F74A65E2B}"/>
                </a:ext>
              </a:extLst>
            </p:cNvPr>
            <p:cNvSpPr txBox="1"/>
            <p:nvPr/>
          </p:nvSpPr>
          <p:spPr>
            <a:xfrm>
              <a:off x="7638724" y="4086349"/>
              <a:ext cx="306494" cy="369332"/>
            </a:xfrm>
            <a:prstGeom prst="rect">
              <a:avLst/>
            </a:prstGeom>
            <a:noFill/>
          </p:spPr>
          <p:txBody>
            <a:bodyPr wrap="square" rtlCol="0">
              <a:spAutoFit/>
            </a:bodyPr>
            <a:lstStyle/>
            <a:p>
              <a:r>
                <a:rPr lang="en-US" dirty="0"/>
                <a:t>T</a:t>
              </a:r>
            </a:p>
          </p:txBody>
        </p:sp>
        <p:sp>
          <p:nvSpPr>
            <p:cNvPr id="102" name="TextBox 101">
              <a:extLst>
                <a:ext uri="{FF2B5EF4-FFF2-40B4-BE49-F238E27FC236}">
                  <a16:creationId xmlns:a16="http://schemas.microsoft.com/office/drawing/2014/main" id="{5B51FF7C-862A-AF99-58D6-52893BAA1483}"/>
                </a:ext>
              </a:extLst>
            </p:cNvPr>
            <p:cNvSpPr txBox="1"/>
            <p:nvPr/>
          </p:nvSpPr>
          <p:spPr>
            <a:xfrm>
              <a:off x="8072724" y="4084160"/>
              <a:ext cx="306494" cy="369332"/>
            </a:xfrm>
            <a:prstGeom prst="rect">
              <a:avLst/>
            </a:prstGeom>
            <a:noFill/>
          </p:spPr>
          <p:txBody>
            <a:bodyPr wrap="square" rtlCol="0">
              <a:spAutoFit/>
            </a:bodyPr>
            <a:lstStyle/>
            <a:p>
              <a:r>
                <a:rPr lang="en-US" dirty="0"/>
                <a:t>T</a:t>
              </a:r>
            </a:p>
          </p:txBody>
        </p:sp>
        <p:sp>
          <p:nvSpPr>
            <p:cNvPr id="103" name="TextBox 102">
              <a:extLst>
                <a:ext uri="{FF2B5EF4-FFF2-40B4-BE49-F238E27FC236}">
                  <a16:creationId xmlns:a16="http://schemas.microsoft.com/office/drawing/2014/main" id="{226D3D41-AC48-0267-CE5B-3C0AAAF15E3C}"/>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E000CD23-51E2-B216-A520-A0EDED0F96AE}"/>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4E28CBE2-AB69-80A5-A7AB-2DF7508D628C}"/>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2D29DF70-4F37-8C02-8153-A726C870C17E}"/>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83AB359A-0826-2840-B377-637794AAE905}"/>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0D50C497-ADEB-69B6-1CE9-B81E0BEA8BF5}"/>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CB220FEF-33A3-CE6B-6029-EF7DE1C56596}"/>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CEFFBF29-AAD8-BDD1-F6B1-001F7B263E7E}"/>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grpSp>
        <p:nvGrpSpPr>
          <p:cNvPr id="8" name="Group 7" descr="CPU writes to page frame 13D, offset 05C: in other words, physical address 13D05C">
            <a:extLst>
              <a:ext uri="{FF2B5EF4-FFF2-40B4-BE49-F238E27FC236}">
                <a16:creationId xmlns:a16="http://schemas.microsoft.com/office/drawing/2014/main" id="{58C72BE5-F3C8-8D9F-C06B-B69C1682C65D}"/>
              </a:ext>
            </a:extLst>
          </p:cNvPr>
          <p:cNvGrpSpPr/>
          <p:nvPr/>
        </p:nvGrpSpPr>
        <p:grpSpPr>
          <a:xfrm>
            <a:off x="512448" y="4952192"/>
            <a:ext cx="4057393" cy="1131076"/>
            <a:chOff x="512448" y="4952192"/>
            <a:chExt cx="4057393" cy="1131076"/>
          </a:xfrm>
        </p:grpSpPr>
        <p:sp>
          <p:nvSpPr>
            <p:cNvPr id="76" name="Rectangle 75">
              <a:extLst>
                <a:ext uri="{FF2B5EF4-FFF2-40B4-BE49-F238E27FC236}">
                  <a16:creationId xmlns:a16="http://schemas.microsoft.com/office/drawing/2014/main" id="{FC9316D2-0409-EEA4-FF96-5AEFF2972C3C}"/>
                </a:ext>
              </a:extLst>
            </p:cNvPr>
            <p:cNvSpPr>
              <a:spLocks noChangeAspect="1"/>
            </p:cNvSpPr>
            <p:nvPr/>
          </p:nvSpPr>
          <p:spPr>
            <a:xfrm>
              <a:off x="693931" y="4952192"/>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13D</a:t>
              </a:r>
              <a:endParaRPr lang="en-US" sz="1600" dirty="0">
                <a:solidFill>
                  <a:schemeClr val="tx1"/>
                </a:solidFill>
                <a:latin typeface="Consolas" panose="020B0609020204030204" pitchFamily="49" charset="0"/>
                <a:cs typeface="Consolas" panose="020B0609020204030204" pitchFamily="49" charset="0"/>
              </a:endParaRPr>
            </a:p>
          </p:txBody>
        </p:sp>
        <p:sp>
          <p:nvSpPr>
            <p:cNvPr id="77" name="Rectangle 76">
              <a:extLst>
                <a:ext uri="{FF2B5EF4-FFF2-40B4-BE49-F238E27FC236}">
                  <a16:creationId xmlns:a16="http://schemas.microsoft.com/office/drawing/2014/main" id="{21027E34-888B-FC31-AFC4-9C74266E03B0}"/>
                </a:ext>
              </a:extLst>
            </p:cNvPr>
            <p:cNvSpPr>
              <a:spLocks noChangeAspect="1"/>
            </p:cNvSpPr>
            <p:nvPr/>
          </p:nvSpPr>
          <p:spPr>
            <a:xfrm>
              <a:off x="2452646" y="4952192"/>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05C</a:t>
              </a:r>
              <a:endParaRPr lang="en-US" sz="1600" dirty="0">
                <a:solidFill>
                  <a:schemeClr val="tx1"/>
                </a:solidFill>
                <a:latin typeface="Consolas" panose="020B0609020204030204" pitchFamily="49" charset="0"/>
                <a:cs typeface="Consolas" panose="020B0609020204030204" pitchFamily="49" charset="0"/>
              </a:endParaRPr>
            </a:p>
          </p:txBody>
        </p:sp>
        <p:sp>
          <p:nvSpPr>
            <p:cNvPr id="80" name="TextBox 79">
              <a:extLst>
                <a:ext uri="{FF2B5EF4-FFF2-40B4-BE49-F238E27FC236}">
                  <a16:creationId xmlns:a16="http://schemas.microsoft.com/office/drawing/2014/main" id="{7F80CD64-9C70-BEB5-B48D-01D05C8756EF}"/>
                </a:ext>
              </a:extLst>
            </p:cNvPr>
            <p:cNvSpPr txBox="1"/>
            <p:nvPr/>
          </p:nvSpPr>
          <p:spPr>
            <a:xfrm>
              <a:off x="512448" y="5713936"/>
              <a:ext cx="4057393" cy="369332"/>
            </a:xfrm>
            <a:prstGeom prst="rect">
              <a:avLst/>
            </a:prstGeom>
            <a:noFill/>
          </p:spPr>
          <p:txBody>
            <a:bodyPr wrap="none" rtlCol="0">
              <a:spAutoFit/>
            </a:bodyPr>
            <a:lstStyle/>
            <a:p>
              <a:r>
                <a:rPr lang="en-US" dirty="0">
                  <a:cs typeface="Consolas" panose="020B0609020204030204" pitchFamily="49" charset="0"/>
                </a:rPr>
                <a:t>CPU writes to physical address</a:t>
              </a:r>
              <a:r>
                <a:rPr lang="en-US" sz="1400" dirty="0">
                  <a:cs typeface="Consolas" panose="020B0609020204030204" pitchFamily="49" charset="0"/>
                </a:rPr>
                <a:t> </a:t>
              </a:r>
              <a:r>
                <a:rPr lang="en-US" dirty="0">
                  <a:latin typeface="Consolas" panose="020B0609020204030204" pitchFamily="49" charset="0"/>
                  <a:cs typeface="Consolas" panose="020B0609020204030204" pitchFamily="49" charset="0"/>
                </a:rPr>
                <a:t>13D05C</a:t>
              </a:r>
            </a:p>
          </p:txBody>
        </p:sp>
        <p:cxnSp>
          <p:nvCxnSpPr>
            <p:cNvPr id="3" name="Straight Connector 2">
              <a:extLst>
                <a:ext uri="{FF2B5EF4-FFF2-40B4-BE49-F238E27FC236}">
                  <a16:creationId xmlns:a16="http://schemas.microsoft.com/office/drawing/2014/main" id="{7664AD38-A770-1247-929D-DC710D05FDAD}"/>
                </a:ext>
              </a:extLst>
            </p:cNvPr>
            <p:cNvCxnSpPr>
              <a:cxnSpLocks/>
            </p:cNvCxnSpPr>
            <p:nvPr/>
          </p:nvCxnSpPr>
          <p:spPr>
            <a:xfrm>
              <a:off x="4065377" y="5737649"/>
              <a:ext cx="31715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A28511F-5505-E887-293A-79C42A03FA60}"/>
                </a:ext>
              </a:extLst>
            </p:cNvPr>
            <p:cNvCxnSpPr>
              <a:cxnSpLocks/>
            </p:cNvCxnSpPr>
            <p:nvPr/>
          </p:nvCxnSpPr>
          <p:spPr>
            <a:xfrm>
              <a:off x="3698794" y="5741765"/>
              <a:ext cx="31715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DFFD7C34-ECC0-2781-91A7-C0379FA30319}"/>
                </a:ext>
              </a:extLst>
            </p:cNvPr>
            <p:cNvCxnSpPr>
              <a:stCxn id="77" idx="2"/>
            </p:cNvCxnSpPr>
            <p:nvPr/>
          </p:nvCxnSpPr>
          <p:spPr>
            <a:xfrm>
              <a:off x="3086829" y="5281469"/>
              <a:ext cx="1122706" cy="43246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EB940F7-7A04-3805-4061-6AE1CBB7BC1C}"/>
                </a:ext>
              </a:extLst>
            </p:cNvPr>
            <p:cNvCxnSpPr>
              <a:stCxn id="76" idx="2"/>
            </p:cNvCxnSpPr>
            <p:nvPr/>
          </p:nvCxnSpPr>
          <p:spPr>
            <a:xfrm>
              <a:off x="1573289" y="5281469"/>
              <a:ext cx="2347922" cy="4561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48255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1ED5-A3BB-8B1A-C24F-CDCF7964A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61BE7-5523-1716-5B22-B7DA6ADD2DDE}"/>
              </a:ext>
            </a:extLst>
          </p:cNvPr>
          <p:cNvSpPr>
            <a:spLocks noGrp="1"/>
          </p:cNvSpPr>
          <p:nvPr>
            <p:ph type="title"/>
          </p:nvPr>
        </p:nvSpPr>
        <p:spPr>
          <a:xfrm>
            <a:off x="838200" y="197698"/>
            <a:ext cx="10515600" cy="1325563"/>
          </a:xfrm>
        </p:spPr>
        <p:txBody>
          <a:bodyPr/>
          <a:lstStyle/>
          <a:p>
            <a:r>
              <a:rPr lang="en-US" dirty="0"/>
              <a:t>Translating virtual addresses to physical addresses: Page table (6)</a:t>
            </a:r>
          </a:p>
        </p:txBody>
      </p:sp>
      <p:sp>
        <p:nvSpPr>
          <p:cNvPr id="57" name="TextBox 56">
            <a:extLst>
              <a:ext uri="{FF2B5EF4-FFF2-40B4-BE49-F238E27FC236}">
                <a16:creationId xmlns:a16="http://schemas.microsoft.com/office/drawing/2014/main" id="{BA94AD94-5314-531F-DFA6-E95B333DB663}"/>
              </a:ext>
            </a:extLst>
          </p:cNvPr>
          <p:cNvSpPr txBox="1"/>
          <p:nvPr/>
        </p:nvSpPr>
        <p:spPr>
          <a:xfrm>
            <a:off x="512448" y="1839589"/>
            <a:ext cx="3740319" cy="461665"/>
          </a:xfrm>
          <a:prstGeom prst="rect">
            <a:avLst/>
          </a:prstGeom>
          <a:noFill/>
        </p:spPr>
        <p:txBody>
          <a:bodyPr wrap="none" rtlCol="0">
            <a:spAutoFit/>
          </a:bodyPr>
          <a:lstStyle/>
          <a:p>
            <a:r>
              <a:rPr lang="en-US" dirty="0">
                <a:cs typeface="Consolas" panose="020B0609020204030204" pitchFamily="49" charset="0"/>
              </a:rPr>
              <a:t>read from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1274B000</a:t>
            </a:r>
          </a:p>
        </p:txBody>
      </p:sp>
      <p:grpSp>
        <p:nvGrpSpPr>
          <p:cNvPr id="3" name="Group 2" descr="Slice of a page table">
            <a:extLst>
              <a:ext uri="{FF2B5EF4-FFF2-40B4-BE49-F238E27FC236}">
                <a16:creationId xmlns:a16="http://schemas.microsoft.com/office/drawing/2014/main" id="{DDC03255-D7B1-F8FC-9F03-A9D62878128D}"/>
              </a:ext>
            </a:extLst>
          </p:cNvPr>
          <p:cNvGrpSpPr/>
          <p:nvPr/>
        </p:nvGrpSpPr>
        <p:grpSpPr>
          <a:xfrm>
            <a:off x="4525143" y="2883843"/>
            <a:ext cx="4060419" cy="3518871"/>
            <a:chOff x="4525143" y="2883843"/>
            <a:chExt cx="4060419" cy="3518871"/>
          </a:xfrm>
        </p:grpSpPr>
        <p:sp>
          <p:nvSpPr>
            <p:cNvPr id="17" name="Rectangle 16">
              <a:extLst>
                <a:ext uri="{FF2B5EF4-FFF2-40B4-BE49-F238E27FC236}">
                  <a16:creationId xmlns:a16="http://schemas.microsoft.com/office/drawing/2014/main" id="{DDB1D069-36AB-EC28-DAA9-C94B7E238754}"/>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42991A4C-621B-3BFF-7033-B5AB33EB1233}"/>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C8FF0035-5776-0734-AD35-558ABF77D4FA}"/>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C2B30ABD-DC82-21B2-E11D-7DA53C7CA503}"/>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4D59A79B-B1C9-8579-9AF4-E120E9E4B075}"/>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D78D2EFB-57DB-8F9E-7D51-19BDFA4E7FD4}"/>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FDB92DEE-9CBD-C446-459D-ED477C235205}"/>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F9737D01-EA6C-57C9-575A-81D45F27B637}"/>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311AA45C-37F9-257C-52CE-00522CE47000}"/>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F018FD8B-928F-FB52-10AE-5A782B930969}"/>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119EC1F5-156E-B939-D000-1B60EACF168B}"/>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8615E57A-140A-55B8-3E52-32CC3F082110}"/>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ED39CC83-FA5A-2B08-F64C-FADEFB177384}"/>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6FA71998-848C-7B8C-357C-31DABD20F8DB}"/>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35107002-F318-3D01-F3E1-DBC6D2EE876D}"/>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5883E997-5C22-A8CC-315C-BE1B24E6FFE1}"/>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2012B43E-D0BD-726D-2FDE-2524DED56483}"/>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9AF56F89-D273-2D89-F999-E53CC8503F55}"/>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4CADDCD8-CC1E-9E9C-E27C-5E9CDFB51FCF}"/>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00D7026C-89EB-C516-299E-7F386DC1B78D}"/>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A43B0509-A9FB-F0E4-93FA-D3A078B1B400}"/>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19CC2475-DBD7-F6EA-290F-F4716020BEFE}"/>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665A0E7D-BBC3-2A0B-EF13-1F391F897810}"/>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DA5C1EAD-E3D6-FAF4-9C58-FB9E0F7CFAA9}"/>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1" name="TextBox 90">
              <a:extLst>
                <a:ext uri="{FF2B5EF4-FFF2-40B4-BE49-F238E27FC236}">
                  <a16:creationId xmlns:a16="http://schemas.microsoft.com/office/drawing/2014/main" id="{0FE59A77-574C-2B96-FBED-1237517291A1}"/>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sp>
          <p:nvSpPr>
            <p:cNvPr id="92" name="TextBox 91">
              <a:extLst>
                <a:ext uri="{FF2B5EF4-FFF2-40B4-BE49-F238E27FC236}">
                  <a16:creationId xmlns:a16="http://schemas.microsoft.com/office/drawing/2014/main" id="{79DA05E7-1062-ADF6-DB08-902220BD7D99}"/>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8A77075B-7538-6094-C271-1D9F4037D565}"/>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88AF9E8B-F194-5C9D-D377-A4B7544E2DB5}"/>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3ADBCE30-1642-3691-6791-78CDF37F0264}"/>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79D17D01-1ED8-9BF5-F227-5C92589350CE}"/>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D2F836CD-8023-733A-89A2-F91636BD873C}"/>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2FE98448-2612-9140-A9C2-FA342F25DAA4}"/>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632FBE6A-0F20-A8F0-FE30-1226FCE800BE}"/>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DCF19DA2-E42F-A20D-2BEA-9272BA48B10E}"/>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7CDFE9E7-80A5-3D9D-F67D-2C8E8B8E08BD}"/>
                </a:ext>
              </a:extLst>
            </p:cNvPr>
            <p:cNvSpPr txBox="1"/>
            <p:nvPr/>
          </p:nvSpPr>
          <p:spPr>
            <a:xfrm>
              <a:off x="7638724" y="4086349"/>
              <a:ext cx="306494" cy="369332"/>
            </a:xfrm>
            <a:prstGeom prst="rect">
              <a:avLst/>
            </a:prstGeom>
            <a:noFill/>
          </p:spPr>
          <p:txBody>
            <a:bodyPr wrap="square" rtlCol="0">
              <a:spAutoFit/>
            </a:bodyPr>
            <a:lstStyle/>
            <a:p>
              <a:r>
                <a:rPr lang="en-US" dirty="0"/>
                <a:t>T</a:t>
              </a:r>
            </a:p>
          </p:txBody>
        </p:sp>
        <p:sp>
          <p:nvSpPr>
            <p:cNvPr id="102" name="TextBox 101">
              <a:extLst>
                <a:ext uri="{FF2B5EF4-FFF2-40B4-BE49-F238E27FC236}">
                  <a16:creationId xmlns:a16="http://schemas.microsoft.com/office/drawing/2014/main" id="{CEC00014-6C9C-203A-D594-1FE85AD40E8D}"/>
                </a:ext>
              </a:extLst>
            </p:cNvPr>
            <p:cNvSpPr txBox="1"/>
            <p:nvPr/>
          </p:nvSpPr>
          <p:spPr>
            <a:xfrm>
              <a:off x="8072724" y="4084160"/>
              <a:ext cx="306494" cy="369332"/>
            </a:xfrm>
            <a:prstGeom prst="rect">
              <a:avLst/>
            </a:prstGeom>
            <a:noFill/>
          </p:spPr>
          <p:txBody>
            <a:bodyPr wrap="square" rtlCol="0">
              <a:spAutoFit/>
            </a:bodyPr>
            <a:lstStyle/>
            <a:p>
              <a:r>
                <a:rPr lang="en-US" dirty="0"/>
                <a:t>T</a:t>
              </a:r>
            </a:p>
          </p:txBody>
        </p:sp>
        <p:sp>
          <p:nvSpPr>
            <p:cNvPr id="103" name="TextBox 102">
              <a:extLst>
                <a:ext uri="{FF2B5EF4-FFF2-40B4-BE49-F238E27FC236}">
                  <a16:creationId xmlns:a16="http://schemas.microsoft.com/office/drawing/2014/main" id="{CFC4EDF6-C590-21C0-E843-D5B2127DC59B}"/>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7D4D954B-E2F1-F8CB-85EC-07FB84E8CC60}"/>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36BB4D22-35BC-7665-5840-B56DF9CB3E8E}"/>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3B82B0D4-23E4-0B8F-66C9-ABFFAFA964E9}"/>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E2F101D1-99A1-890F-D8DF-9D7FC76B7860}"/>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5C4CB778-D9BD-6407-1B40-CB8399C0079D}"/>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4D71DD65-5769-C6FA-54BF-A38AC99B20BE}"/>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20DD28AE-DC3A-FD3A-FC03-05C08627AD6A}"/>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spTree>
    <p:extLst>
      <p:ext uri="{BB962C8B-B14F-4D97-AF65-F5344CB8AC3E}">
        <p14:creationId xmlns:p14="http://schemas.microsoft.com/office/powerpoint/2010/main" val="2228714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4EA9C-B9E5-83AD-38B5-6B3C6C564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9010B-F19E-2CCB-15D8-1900E09E3FC6}"/>
              </a:ext>
            </a:extLst>
          </p:cNvPr>
          <p:cNvSpPr>
            <a:spLocks noGrp="1"/>
          </p:cNvSpPr>
          <p:nvPr>
            <p:ph type="title"/>
          </p:nvPr>
        </p:nvSpPr>
        <p:spPr>
          <a:xfrm>
            <a:off x="838200" y="197698"/>
            <a:ext cx="10515600" cy="1325563"/>
          </a:xfrm>
        </p:spPr>
        <p:txBody>
          <a:bodyPr/>
          <a:lstStyle/>
          <a:p>
            <a:r>
              <a:rPr lang="en-US" dirty="0"/>
              <a:t>Translating virtual addresses to physical addresses: Page table (7)</a:t>
            </a:r>
          </a:p>
        </p:txBody>
      </p:sp>
      <p:sp>
        <p:nvSpPr>
          <p:cNvPr id="91" name="TextBox 90">
            <a:extLst>
              <a:ext uri="{FF2B5EF4-FFF2-40B4-BE49-F238E27FC236}">
                <a16:creationId xmlns:a16="http://schemas.microsoft.com/office/drawing/2014/main" id="{5BEC5A03-6CFB-68DA-AA52-3A3BB98A32B6}"/>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grpSp>
        <p:nvGrpSpPr>
          <p:cNvPr id="3" name="Group 2" descr="slice of a page table">
            <a:extLst>
              <a:ext uri="{FF2B5EF4-FFF2-40B4-BE49-F238E27FC236}">
                <a16:creationId xmlns:a16="http://schemas.microsoft.com/office/drawing/2014/main" id="{49B194E7-9496-5BE1-3631-53F24A3220DD}"/>
              </a:ext>
            </a:extLst>
          </p:cNvPr>
          <p:cNvGrpSpPr/>
          <p:nvPr/>
        </p:nvGrpSpPr>
        <p:grpSpPr>
          <a:xfrm>
            <a:off x="4525143" y="2886470"/>
            <a:ext cx="4051361" cy="3516244"/>
            <a:chOff x="4525143" y="2886470"/>
            <a:chExt cx="4051361" cy="3516244"/>
          </a:xfrm>
        </p:grpSpPr>
        <p:sp>
          <p:nvSpPr>
            <p:cNvPr id="17" name="Rectangle 16">
              <a:extLst>
                <a:ext uri="{FF2B5EF4-FFF2-40B4-BE49-F238E27FC236}">
                  <a16:creationId xmlns:a16="http://schemas.microsoft.com/office/drawing/2014/main" id="{AC061388-5DD8-40B3-87B1-DA116BE9A6A3}"/>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0B5E29FC-D6F9-403D-A40F-BDB58F3BA6AA}"/>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C8759F3E-F008-0657-8EC3-6621A4D13164}"/>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5E2AB145-9E3B-2805-D24F-8D59318B7BF4}"/>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F11E0D55-5906-40EB-E4DE-E36C83ECE0D0}"/>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7FC2F96C-7041-BE55-F266-36FC972BA664}"/>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6A3BE3F6-2755-BCF9-5B17-6CB08636D6D8}"/>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DF23EC3E-F1DC-8916-9781-B24A05D6A31B}"/>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0BEE272E-461D-928B-903C-906E58561FE8}"/>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E519A99E-C8CB-4814-D7F1-A7E3F5068203}"/>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DE091C64-AC4C-F2E3-7E71-8D604F95FA28}"/>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83C9DD43-6C6F-3490-452D-1424B27BD49E}"/>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71983874-CADF-C7E1-563B-F12EA55769E5}"/>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05DE9FA1-8853-0D16-F73C-0AC242AF5D12}"/>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88F561C8-608A-2653-8B21-5A5CD3BE241E}"/>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CA49A92F-2438-85C6-2097-44A26C5C346E}"/>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4FA16C57-5DCF-3628-1F81-9AA3F51D0BFF}"/>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65BFFE2A-B818-306B-31EB-9338866E542D}"/>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0146A329-C7DA-2D1A-42D6-97C4C8CE2BAD}"/>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8EF6A652-D6A3-7F0C-2E90-9088E72CC84B}"/>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A0B60D99-5133-C59B-F1B3-5A257DADF473}"/>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C3279DE1-3381-BAB4-6D90-BEF77868AC4E}"/>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6DB6CC4F-265A-E168-176A-AE37C5FA3FF4}"/>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9188DD5B-77FF-442C-DB0A-1A0E4E627106}"/>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2" name="TextBox 91">
              <a:extLst>
                <a:ext uri="{FF2B5EF4-FFF2-40B4-BE49-F238E27FC236}">
                  <a16:creationId xmlns:a16="http://schemas.microsoft.com/office/drawing/2014/main" id="{4B9A8AED-5AC4-5A2C-2028-81507194EFEB}"/>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4B285528-2F9A-5CC6-2D8C-0770186DF66C}"/>
                </a:ext>
              </a:extLst>
            </p:cNvPr>
            <p:cNvSpPr txBox="1"/>
            <p:nvPr/>
          </p:nvSpPr>
          <p:spPr>
            <a:xfrm>
              <a:off x="7235136" y="4426186"/>
              <a:ext cx="306494"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74AABFAE-3D40-39D4-017D-B9F16BAC8C86}"/>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977CCA8A-B84E-2C3C-84A5-1219061D64DB}"/>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EB31C666-0112-321C-BDF6-38D98C568333}"/>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D05669D6-53A9-08EE-C444-D3D5F005890C}"/>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D575E7E9-B8A8-4F6B-BED3-097B1F978828}"/>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7D029212-E382-36AA-419E-3AD60C879DE5}"/>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3C6BAE28-3A57-FAB2-4D7A-732A789EF500}"/>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6BE1B976-F811-8553-3A72-C8DD1F39E90E}"/>
                </a:ext>
              </a:extLst>
            </p:cNvPr>
            <p:cNvSpPr txBox="1"/>
            <p:nvPr/>
          </p:nvSpPr>
          <p:spPr>
            <a:xfrm>
              <a:off x="7638724" y="4086349"/>
              <a:ext cx="306494" cy="369332"/>
            </a:xfrm>
            <a:prstGeom prst="rect">
              <a:avLst/>
            </a:prstGeom>
            <a:noFill/>
          </p:spPr>
          <p:txBody>
            <a:bodyPr wrap="square" rtlCol="0">
              <a:spAutoFit/>
            </a:bodyPr>
            <a:lstStyle/>
            <a:p>
              <a:r>
                <a:rPr lang="en-US" dirty="0"/>
                <a:t>T</a:t>
              </a:r>
            </a:p>
          </p:txBody>
        </p:sp>
        <p:sp>
          <p:nvSpPr>
            <p:cNvPr id="102" name="TextBox 101">
              <a:extLst>
                <a:ext uri="{FF2B5EF4-FFF2-40B4-BE49-F238E27FC236}">
                  <a16:creationId xmlns:a16="http://schemas.microsoft.com/office/drawing/2014/main" id="{E91532B0-1675-F49D-082F-3EE0D6B7DCC4}"/>
                </a:ext>
              </a:extLst>
            </p:cNvPr>
            <p:cNvSpPr txBox="1"/>
            <p:nvPr/>
          </p:nvSpPr>
          <p:spPr>
            <a:xfrm>
              <a:off x="8072724" y="4084160"/>
              <a:ext cx="306494" cy="369332"/>
            </a:xfrm>
            <a:prstGeom prst="rect">
              <a:avLst/>
            </a:prstGeom>
            <a:noFill/>
          </p:spPr>
          <p:txBody>
            <a:bodyPr wrap="square" rtlCol="0">
              <a:spAutoFit/>
            </a:bodyPr>
            <a:lstStyle/>
            <a:p>
              <a:r>
                <a:rPr lang="en-US" dirty="0"/>
                <a:t>T</a:t>
              </a:r>
            </a:p>
          </p:txBody>
        </p:sp>
        <p:sp>
          <p:nvSpPr>
            <p:cNvPr id="103" name="TextBox 102">
              <a:extLst>
                <a:ext uri="{FF2B5EF4-FFF2-40B4-BE49-F238E27FC236}">
                  <a16:creationId xmlns:a16="http://schemas.microsoft.com/office/drawing/2014/main" id="{25D30901-066C-8126-1107-A3B2E2204921}"/>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1B0E1DBE-BB36-EBF5-7151-EB0FF20ECEAE}"/>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1C110803-1AE9-ABAA-C304-6F78E1060C12}"/>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6D81C9ED-2C2D-4434-4863-661E542D5EBF}"/>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4ED71C93-8761-848E-B459-85A390202EA5}"/>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9F265482-42F9-E5D0-8B19-CE70E08BE68A}"/>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A5B57E53-9EEC-E325-691B-CC22DA149281}"/>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59B4872D-96E6-6BEB-A9B6-287CE62D982A}"/>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grpSp>
      <p:grpSp>
        <p:nvGrpSpPr>
          <p:cNvPr id="4" name="Group 3" descr="read from virtual address 1274B000: page 1274B, offset 000">
            <a:extLst>
              <a:ext uri="{FF2B5EF4-FFF2-40B4-BE49-F238E27FC236}">
                <a16:creationId xmlns:a16="http://schemas.microsoft.com/office/drawing/2014/main" id="{23BA1500-C0C2-7AA9-AD99-4E4BA1478E41}"/>
              </a:ext>
            </a:extLst>
          </p:cNvPr>
          <p:cNvGrpSpPr/>
          <p:nvPr/>
        </p:nvGrpSpPr>
        <p:grpSpPr>
          <a:xfrm>
            <a:off x="512448" y="1839589"/>
            <a:ext cx="3740319" cy="1104984"/>
            <a:chOff x="512448" y="1839589"/>
            <a:chExt cx="3740319" cy="1104984"/>
          </a:xfrm>
        </p:grpSpPr>
        <p:sp>
          <p:nvSpPr>
            <p:cNvPr id="55" name="Rectangle 54">
              <a:extLst>
                <a:ext uri="{FF2B5EF4-FFF2-40B4-BE49-F238E27FC236}">
                  <a16:creationId xmlns:a16="http://schemas.microsoft.com/office/drawing/2014/main" id="{973A0210-9AFB-E761-135F-D37E2A1703BA}"/>
                </a:ext>
              </a:extLst>
            </p:cNvPr>
            <p:cNvSpPr>
              <a:spLocks noChangeAspect="1"/>
            </p:cNvSpPr>
            <p:nvPr/>
          </p:nvSpPr>
          <p:spPr>
            <a:xfrm>
              <a:off x="691186" y="261529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1274B</a:t>
              </a:r>
              <a:endParaRPr lang="en-US" sz="1600" dirty="0">
                <a:solidFill>
                  <a:schemeClr val="tx1"/>
                </a:solidFill>
                <a:latin typeface="Consolas" panose="020B0609020204030204" pitchFamily="49" charset="0"/>
                <a:cs typeface="Consolas" panose="020B0609020204030204" pitchFamily="49" charset="0"/>
              </a:endParaRPr>
            </a:p>
          </p:txBody>
        </p:sp>
        <p:sp>
          <p:nvSpPr>
            <p:cNvPr id="56" name="Rectangle 55">
              <a:extLst>
                <a:ext uri="{FF2B5EF4-FFF2-40B4-BE49-F238E27FC236}">
                  <a16:creationId xmlns:a16="http://schemas.microsoft.com/office/drawing/2014/main" id="{E35D0C9A-FC47-4CB8-665A-B667770CC1DF}"/>
                </a:ext>
              </a:extLst>
            </p:cNvPr>
            <p:cNvSpPr>
              <a:spLocks noChangeAspect="1"/>
            </p:cNvSpPr>
            <p:nvPr/>
          </p:nvSpPr>
          <p:spPr>
            <a:xfrm>
              <a:off x="2449901" y="261529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000</a:t>
              </a:r>
            </a:p>
          </p:txBody>
        </p:sp>
        <p:sp>
          <p:nvSpPr>
            <p:cNvPr id="57" name="TextBox 56">
              <a:extLst>
                <a:ext uri="{FF2B5EF4-FFF2-40B4-BE49-F238E27FC236}">
                  <a16:creationId xmlns:a16="http://schemas.microsoft.com/office/drawing/2014/main" id="{0D4D8B9D-1329-C3CA-C14B-5045999696A7}"/>
                </a:ext>
              </a:extLst>
            </p:cNvPr>
            <p:cNvSpPr txBox="1"/>
            <p:nvPr/>
          </p:nvSpPr>
          <p:spPr>
            <a:xfrm>
              <a:off x="512448" y="1839589"/>
              <a:ext cx="3740319" cy="461665"/>
            </a:xfrm>
            <a:prstGeom prst="rect">
              <a:avLst/>
            </a:prstGeom>
            <a:noFill/>
          </p:spPr>
          <p:txBody>
            <a:bodyPr wrap="none" rtlCol="0">
              <a:spAutoFit/>
            </a:bodyPr>
            <a:lstStyle/>
            <a:p>
              <a:r>
                <a:rPr lang="en-US" dirty="0">
                  <a:cs typeface="Consolas" panose="020B0609020204030204" pitchFamily="49" charset="0"/>
                </a:rPr>
                <a:t>read from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1274B000</a:t>
              </a:r>
            </a:p>
          </p:txBody>
        </p:sp>
        <p:cxnSp>
          <p:nvCxnSpPr>
            <p:cNvPr id="10" name="Straight Connector 9">
              <a:extLst>
                <a:ext uri="{FF2B5EF4-FFF2-40B4-BE49-F238E27FC236}">
                  <a16:creationId xmlns:a16="http://schemas.microsoft.com/office/drawing/2014/main" id="{1D50BCF0-52DE-0FCF-896E-0D69EF989B75}"/>
                </a:ext>
              </a:extLst>
            </p:cNvPr>
            <p:cNvCxnSpPr/>
            <p:nvPr/>
          </p:nvCxnSpPr>
          <p:spPr>
            <a:xfrm>
              <a:off x="3137899" y="2215978"/>
              <a:ext cx="54369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90C67D9-DA2A-2781-B928-5B4AA33D3B52}"/>
                </a:ext>
              </a:extLst>
            </p:cNvPr>
            <p:cNvCxnSpPr>
              <a:cxnSpLocks/>
            </p:cNvCxnSpPr>
            <p:nvPr/>
          </p:nvCxnSpPr>
          <p:spPr>
            <a:xfrm>
              <a:off x="3783137" y="2220094"/>
              <a:ext cx="31715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9494750-C32B-4292-1469-435EE7A0164E}"/>
                </a:ext>
              </a:extLst>
            </p:cNvPr>
            <p:cNvCxnSpPr>
              <a:cxnSpLocks/>
            </p:cNvCxnSpPr>
            <p:nvPr/>
          </p:nvCxnSpPr>
          <p:spPr>
            <a:xfrm flipH="1">
              <a:off x="1742821" y="2215978"/>
              <a:ext cx="1675164" cy="39931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8E64064-A871-14A2-AF8F-DE4B979FD3C4}"/>
                </a:ext>
              </a:extLst>
            </p:cNvPr>
            <p:cNvCxnSpPr>
              <a:cxnSpLocks/>
            </p:cNvCxnSpPr>
            <p:nvPr/>
          </p:nvCxnSpPr>
          <p:spPr>
            <a:xfrm flipH="1">
              <a:off x="3335872" y="2215978"/>
              <a:ext cx="634183" cy="39931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24216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50160-6B14-416E-BD8C-81C07FB72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21F19-F624-1F91-5388-60A5440230A8}"/>
              </a:ext>
            </a:extLst>
          </p:cNvPr>
          <p:cNvSpPr>
            <a:spLocks noGrp="1"/>
          </p:cNvSpPr>
          <p:nvPr>
            <p:ph type="title"/>
          </p:nvPr>
        </p:nvSpPr>
        <p:spPr>
          <a:xfrm>
            <a:off x="838200" y="197698"/>
            <a:ext cx="10515600" cy="1325563"/>
          </a:xfrm>
        </p:spPr>
        <p:txBody>
          <a:bodyPr/>
          <a:lstStyle/>
          <a:p>
            <a:r>
              <a:rPr lang="en-US" dirty="0"/>
              <a:t>Translating virtual addresses to physical addresses: Page table (8)</a:t>
            </a:r>
          </a:p>
        </p:txBody>
      </p:sp>
      <p:sp>
        <p:nvSpPr>
          <p:cNvPr id="57" name="TextBox 56">
            <a:extLst>
              <a:ext uri="{FF2B5EF4-FFF2-40B4-BE49-F238E27FC236}">
                <a16:creationId xmlns:a16="http://schemas.microsoft.com/office/drawing/2014/main" id="{6CD9D194-9DB9-3FB9-3F03-A7C318B6588D}"/>
              </a:ext>
            </a:extLst>
          </p:cNvPr>
          <p:cNvSpPr txBox="1"/>
          <p:nvPr/>
        </p:nvSpPr>
        <p:spPr>
          <a:xfrm>
            <a:off x="512448" y="1839589"/>
            <a:ext cx="3740319" cy="461665"/>
          </a:xfrm>
          <a:prstGeom prst="rect">
            <a:avLst/>
          </a:prstGeom>
          <a:noFill/>
        </p:spPr>
        <p:txBody>
          <a:bodyPr wrap="none" rtlCol="0">
            <a:spAutoFit/>
          </a:bodyPr>
          <a:lstStyle/>
          <a:p>
            <a:r>
              <a:rPr lang="en-US" dirty="0">
                <a:cs typeface="Consolas" panose="020B0609020204030204" pitchFamily="49" charset="0"/>
              </a:rPr>
              <a:t>read from virtual address</a:t>
            </a:r>
            <a:r>
              <a:rPr lang="en-US" sz="2400" dirty="0">
                <a:cs typeface="Consolas" panose="020B0609020204030204" pitchFamily="49" charset="0"/>
              </a:rPr>
              <a:t> </a:t>
            </a:r>
            <a:r>
              <a:rPr lang="en-US" dirty="0">
                <a:latin typeface="Consolas" panose="020B0609020204030204" pitchFamily="49" charset="0"/>
                <a:cs typeface="Consolas" panose="020B0609020204030204" pitchFamily="49" charset="0"/>
              </a:rPr>
              <a:t>1274A05C</a:t>
            </a:r>
          </a:p>
        </p:txBody>
      </p:sp>
      <p:grpSp>
        <p:nvGrpSpPr>
          <p:cNvPr id="5" name="Group 4" descr="read request for page 1274B references page table entry for page 1274B. The page table entry indicates page frame F11, but resident if FALSE so this value is meaningless. The page is not in a page frame.">
            <a:extLst>
              <a:ext uri="{FF2B5EF4-FFF2-40B4-BE49-F238E27FC236}">
                <a16:creationId xmlns:a16="http://schemas.microsoft.com/office/drawing/2014/main" id="{0A654F0B-619D-96AF-E49A-8EA5A7978937}"/>
              </a:ext>
            </a:extLst>
          </p:cNvPr>
          <p:cNvGrpSpPr/>
          <p:nvPr/>
        </p:nvGrpSpPr>
        <p:grpSpPr>
          <a:xfrm>
            <a:off x="691186" y="2615296"/>
            <a:ext cx="3843286" cy="1960473"/>
            <a:chOff x="691186" y="2615296"/>
            <a:chExt cx="3843286" cy="1960473"/>
          </a:xfrm>
        </p:grpSpPr>
        <p:sp>
          <p:nvSpPr>
            <p:cNvPr id="55" name="Rectangle 54">
              <a:extLst>
                <a:ext uri="{FF2B5EF4-FFF2-40B4-BE49-F238E27FC236}">
                  <a16:creationId xmlns:a16="http://schemas.microsoft.com/office/drawing/2014/main" id="{FC7F5CE7-C9D1-4BA3-5C68-5622F885D389}"/>
                </a:ext>
              </a:extLst>
            </p:cNvPr>
            <p:cNvSpPr>
              <a:spLocks noChangeAspect="1"/>
            </p:cNvSpPr>
            <p:nvPr/>
          </p:nvSpPr>
          <p:spPr>
            <a:xfrm>
              <a:off x="691186" y="261529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1274B</a:t>
              </a:r>
              <a:endParaRPr lang="en-US" sz="1600" dirty="0">
                <a:solidFill>
                  <a:schemeClr val="tx1"/>
                </a:solidFill>
                <a:latin typeface="Consolas" panose="020B0609020204030204" pitchFamily="49" charset="0"/>
                <a:cs typeface="Consolas" panose="020B0609020204030204" pitchFamily="49" charset="0"/>
              </a:endParaRPr>
            </a:p>
          </p:txBody>
        </p:sp>
        <p:sp>
          <p:nvSpPr>
            <p:cNvPr id="56" name="Rectangle 55">
              <a:extLst>
                <a:ext uri="{FF2B5EF4-FFF2-40B4-BE49-F238E27FC236}">
                  <a16:creationId xmlns:a16="http://schemas.microsoft.com/office/drawing/2014/main" id="{7CEAA83E-6588-9803-F372-423628E80A30}"/>
                </a:ext>
              </a:extLst>
            </p:cNvPr>
            <p:cNvSpPr>
              <a:spLocks noChangeAspect="1"/>
            </p:cNvSpPr>
            <p:nvPr/>
          </p:nvSpPr>
          <p:spPr>
            <a:xfrm>
              <a:off x="2449901" y="261529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cs typeface="Consolas" panose="020B0609020204030204" pitchFamily="49" charset="0"/>
                </a:rPr>
                <a:t>000</a:t>
              </a:r>
            </a:p>
          </p:txBody>
        </p:sp>
        <p:cxnSp>
          <p:nvCxnSpPr>
            <p:cNvPr id="72" name="Straight Arrow Connector 71">
              <a:extLst>
                <a:ext uri="{FF2B5EF4-FFF2-40B4-BE49-F238E27FC236}">
                  <a16:creationId xmlns:a16="http://schemas.microsoft.com/office/drawing/2014/main" id="{44387957-1CBD-1D31-FE17-394F2538AD5C}"/>
                </a:ext>
              </a:extLst>
            </p:cNvPr>
            <p:cNvCxnSpPr>
              <a:cxnSpLocks/>
              <a:stCxn id="55" idx="2"/>
              <a:endCxn id="61" idx="1"/>
            </p:cNvCxnSpPr>
            <p:nvPr/>
          </p:nvCxnSpPr>
          <p:spPr>
            <a:xfrm>
              <a:off x="1570544" y="2944573"/>
              <a:ext cx="2963928" cy="16311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 name="Group 3" descr="Slice of page table. The reference to page 1274B results in a page fault because the resident bit for this page table entry is FALSE">
            <a:extLst>
              <a:ext uri="{FF2B5EF4-FFF2-40B4-BE49-F238E27FC236}">
                <a16:creationId xmlns:a16="http://schemas.microsoft.com/office/drawing/2014/main" id="{1027CB0E-F2C9-B1C9-6812-6CB44BBC61D1}"/>
              </a:ext>
            </a:extLst>
          </p:cNvPr>
          <p:cNvGrpSpPr/>
          <p:nvPr/>
        </p:nvGrpSpPr>
        <p:grpSpPr>
          <a:xfrm>
            <a:off x="4525143" y="2883843"/>
            <a:ext cx="5297879" cy="3518871"/>
            <a:chOff x="4525143" y="2883843"/>
            <a:chExt cx="5297879" cy="3518871"/>
          </a:xfrm>
        </p:grpSpPr>
        <p:sp>
          <p:nvSpPr>
            <p:cNvPr id="17" name="Rectangle 16">
              <a:extLst>
                <a:ext uri="{FF2B5EF4-FFF2-40B4-BE49-F238E27FC236}">
                  <a16:creationId xmlns:a16="http://schemas.microsoft.com/office/drawing/2014/main" id="{E69E2B0D-8D74-1FAD-3B29-DD25534259BB}"/>
                </a:ext>
              </a:extLst>
            </p:cNvPr>
            <p:cNvSpPr>
              <a:spLocks noChangeAspect="1"/>
            </p:cNvSpPr>
            <p:nvPr/>
          </p:nvSpPr>
          <p:spPr>
            <a:xfrm>
              <a:off x="5431119" y="340481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614</a:t>
              </a:r>
              <a:endParaRPr lang="en-US" sz="1400" dirty="0">
                <a:solidFill>
                  <a:schemeClr val="tx1"/>
                </a:solidFill>
                <a:latin typeface="Consolas" panose="020B0609020204030204" pitchFamily="49" charset="0"/>
                <a:cs typeface="Consolas" panose="020B0609020204030204" pitchFamily="49" charset="0"/>
              </a:endParaRPr>
            </a:p>
          </p:txBody>
        </p:sp>
        <p:sp>
          <p:nvSpPr>
            <p:cNvPr id="18" name="Rectangle 17">
              <a:extLst>
                <a:ext uri="{FF2B5EF4-FFF2-40B4-BE49-F238E27FC236}">
                  <a16:creationId xmlns:a16="http://schemas.microsoft.com/office/drawing/2014/main" id="{D74EA169-E029-3A29-98DE-5BB8C7B9813D}"/>
                </a:ext>
              </a:extLst>
            </p:cNvPr>
            <p:cNvSpPr>
              <a:spLocks noChangeAspect="1"/>
            </p:cNvSpPr>
            <p:nvPr/>
          </p:nvSpPr>
          <p:spPr>
            <a:xfrm>
              <a:off x="7189834" y="340481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Rectangle 40">
              <a:extLst>
                <a:ext uri="{FF2B5EF4-FFF2-40B4-BE49-F238E27FC236}">
                  <a16:creationId xmlns:a16="http://schemas.microsoft.com/office/drawing/2014/main" id="{F59C8B81-546F-C1A9-DF1B-2422DE7607FE}"/>
                </a:ext>
              </a:extLst>
            </p:cNvPr>
            <p:cNvSpPr>
              <a:spLocks noChangeAspect="1"/>
            </p:cNvSpPr>
            <p:nvPr/>
          </p:nvSpPr>
          <p:spPr>
            <a:xfrm>
              <a:off x="5431119" y="3752499"/>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F10</a:t>
              </a:r>
              <a:endParaRPr lang="en-US" sz="1400" dirty="0">
                <a:solidFill>
                  <a:schemeClr val="tx1"/>
                </a:solidFill>
                <a:latin typeface="Consolas" panose="020B0609020204030204" pitchFamily="49" charset="0"/>
                <a:cs typeface="Consolas" panose="020B0609020204030204" pitchFamily="49" charset="0"/>
              </a:endParaRPr>
            </a:p>
          </p:txBody>
        </p:sp>
        <p:sp>
          <p:nvSpPr>
            <p:cNvPr id="42" name="Rectangle 41">
              <a:extLst>
                <a:ext uri="{FF2B5EF4-FFF2-40B4-BE49-F238E27FC236}">
                  <a16:creationId xmlns:a16="http://schemas.microsoft.com/office/drawing/2014/main" id="{2AB0A030-D469-B611-D59C-E40BAD73F5B8}"/>
                </a:ext>
              </a:extLst>
            </p:cNvPr>
            <p:cNvSpPr>
              <a:spLocks noChangeAspect="1"/>
            </p:cNvSpPr>
            <p:nvPr/>
          </p:nvSpPr>
          <p:spPr>
            <a:xfrm>
              <a:off x="7189834" y="3752499"/>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Rectangle 42">
              <a:extLst>
                <a:ext uri="{FF2B5EF4-FFF2-40B4-BE49-F238E27FC236}">
                  <a16:creationId xmlns:a16="http://schemas.microsoft.com/office/drawing/2014/main" id="{60997361-63CE-BB63-D1DF-14BAB69886BD}"/>
                </a:ext>
              </a:extLst>
            </p:cNvPr>
            <p:cNvSpPr>
              <a:spLocks noChangeAspect="1"/>
            </p:cNvSpPr>
            <p:nvPr/>
          </p:nvSpPr>
          <p:spPr>
            <a:xfrm>
              <a:off x="5431119" y="4081776"/>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b="0" i="0" u="none" strike="noStrike" kern="1200" baseline="0" dirty="0">
                  <a:solidFill>
                    <a:srgbClr val="000000"/>
                  </a:solidFill>
                  <a:latin typeface="Consolas" panose="020B0609020204030204" pitchFamily="49" charset="0"/>
                </a:rPr>
                <a:t>13D</a:t>
              </a:r>
              <a:endParaRPr lang="en-US" sz="1400" b="0" i="0" u="none" strike="noStrike" kern="1200" baseline="0" dirty="0">
                <a:solidFill>
                  <a:srgbClr val="000000"/>
                </a:solidFill>
                <a:latin typeface="Consolas" panose="020B0609020204030204" pitchFamily="49" charset="0"/>
              </a:endParaRPr>
            </a:p>
          </p:txBody>
        </p:sp>
        <p:sp>
          <p:nvSpPr>
            <p:cNvPr id="44" name="Rectangle 43">
              <a:extLst>
                <a:ext uri="{FF2B5EF4-FFF2-40B4-BE49-F238E27FC236}">
                  <a16:creationId xmlns:a16="http://schemas.microsoft.com/office/drawing/2014/main" id="{DC638094-88C7-B4C6-F6C8-7A327CDA02B1}"/>
                </a:ext>
              </a:extLst>
            </p:cNvPr>
            <p:cNvSpPr>
              <a:spLocks noChangeAspect="1"/>
            </p:cNvSpPr>
            <p:nvPr/>
          </p:nvSpPr>
          <p:spPr>
            <a:xfrm>
              <a:off x="7189834" y="4081776"/>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ectangle 44">
              <a:extLst>
                <a:ext uri="{FF2B5EF4-FFF2-40B4-BE49-F238E27FC236}">
                  <a16:creationId xmlns:a16="http://schemas.microsoft.com/office/drawing/2014/main" id="{D2DEABEA-27ED-3A6D-BD9A-1A50856E4A42}"/>
                </a:ext>
              </a:extLst>
            </p:cNvPr>
            <p:cNvSpPr>
              <a:spLocks noChangeAspect="1"/>
            </p:cNvSpPr>
            <p:nvPr/>
          </p:nvSpPr>
          <p:spPr>
            <a:xfrm>
              <a:off x="5431119" y="4429458"/>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F11</a:t>
              </a:r>
              <a:endParaRPr lang="en-US" sz="1400" dirty="0">
                <a:solidFill>
                  <a:schemeClr val="tx1"/>
                </a:solidFill>
                <a:latin typeface="Consolas" panose="020B0609020204030204" pitchFamily="49" charset="0"/>
                <a:cs typeface="Consolas" panose="020B0609020204030204" pitchFamily="49" charset="0"/>
              </a:endParaRPr>
            </a:p>
          </p:txBody>
        </p:sp>
        <p:sp>
          <p:nvSpPr>
            <p:cNvPr id="46" name="Rectangle 45">
              <a:extLst>
                <a:ext uri="{FF2B5EF4-FFF2-40B4-BE49-F238E27FC236}">
                  <a16:creationId xmlns:a16="http://schemas.microsoft.com/office/drawing/2014/main" id="{EF4AB564-14E2-22CD-4C71-1B6D477736B0}"/>
                </a:ext>
              </a:extLst>
            </p:cNvPr>
            <p:cNvSpPr>
              <a:spLocks noChangeAspect="1"/>
            </p:cNvSpPr>
            <p:nvPr/>
          </p:nvSpPr>
          <p:spPr>
            <a:xfrm>
              <a:off x="7189834" y="4429458"/>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a:extLst>
                <a:ext uri="{FF2B5EF4-FFF2-40B4-BE49-F238E27FC236}">
                  <a16:creationId xmlns:a16="http://schemas.microsoft.com/office/drawing/2014/main" id="{2C6DD9C8-B5F7-DBD6-79E1-795D0144B282}"/>
                </a:ext>
              </a:extLst>
            </p:cNvPr>
            <p:cNvSpPr>
              <a:spLocks noChangeAspect="1"/>
            </p:cNvSpPr>
            <p:nvPr/>
          </p:nvSpPr>
          <p:spPr>
            <a:xfrm>
              <a:off x="5431119" y="4777141"/>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B12</a:t>
              </a:r>
              <a:endParaRPr lang="en-US" sz="1400" dirty="0">
                <a:solidFill>
                  <a:schemeClr val="tx1"/>
                </a:solidFill>
                <a:latin typeface="Consolas" panose="020B0609020204030204" pitchFamily="49" charset="0"/>
                <a:cs typeface="Consolas" panose="020B0609020204030204" pitchFamily="49" charset="0"/>
              </a:endParaRPr>
            </a:p>
          </p:txBody>
        </p:sp>
        <p:sp>
          <p:nvSpPr>
            <p:cNvPr id="48" name="Rectangle 47">
              <a:extLst>
                <a:ext uri="{FF2B5EF4-FFF2-40B4-BE49-F238E27FC236}">
                  <a16:creationId xmlns:a16="http://schemas.microsoft.com/office/drawing/2014/main" id="{18D08B5C-3393-9263-8A4B-C0CF54551083}"/>
                </a:ext>
              </a:extLst>
            </p:cNvPr>
            <p:cNvSpPr>
              <a:spLocks noChangeAspect="1"/>
            </p:cNvSpPr>
            <p:nvPr/>
          </p:nvSpPr>
          <p:spPr>
            <a:xfrm>
              <a:off x="7189834" y="4777141"/>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Rectangle 48">
              <a:extLst>
                <a:ext uri="{FF2B5EF4-FFF2-40B4-BE49-F238E27FC236}">
                  <a16:creationId xmlns:a16="http://schemas.microsoft.com/office/drawing/2014/main" id="{ECDDB55D-FC82-5C9A-9F9B-07625D9FB258}"/>
                </a:ext>
              </a:extLst>
            </p:cNvPr>
            <p:cNvSpPr>
              <a:spLocks noChangeAspect="1"/>
            </p:cNvSpPr>
            <p:nvPr/>
          </p:nvSpPr>
          <p:spPr>
            <a:xfrm>
              <a:off x="5431119" y="5124824"/>
              <a:ext cx="1758715"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cs typeface="Consolas" panose="020B0609020204030204" pitchFamily="49" charset="0"/>
                </a:rPr>
                <a:t>13B</a:t>
              </a:r>
              <a:endParaRPr lang="en-US" sz="1400" dirty="0">
                <a:solidFill>
                  <a:schemeClr val="tx1"/>
                </a:solidFill>
                <a:latin typeface="Consolas" panose="020B0609020204030204" pitchFamily="49" charset="0"/>
                <a:cs typeface="Consolas" panose="020B0609020204030204" pitchFamily="49" charset="0"/>
              </a:endParaRPr>
            </a:p>
          </p:txBody>
        </p:sp>
        <p:sp>
          <p:nvSpPr>
            <p:cNvPr id="50" name="Rectangle 49">
              <a:extLst>
                <a:ext uri="{FF2B5EF4-FFF2-40B4-BE49-F238E27FC236}">
                  <a16:creationId xmlns:a16="http://schemas.microsoft.com/office/drawing/2014/main" id="{C40A9FD5-C54F-3855-5E6E-E534E10FE25A}"/>
                </a:ext>
              </a:extLst>
            </p:cNvPr>
            <p:cNvSpPr>
              <a:spLocks noChangeAspect="1"/>
            </p:cNvSpPr>
            <p:nvPr/>
          </p:nvSpPr>
          <p:spPr>
            <a:xfrm>
              <a:off x="7189834" y="5124824"/>
              <a:ext cx="1268366" cy="3292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8" name="TextBox 57">
              <a:extLst>
                <a:ext uri="{FF2B5EF4-FFF2-40B4-BE49-F238E27FC236}">
                  <a16:creationId xmlns:a16="http://schemas.microsoft.com/office/drawing/2014/main" id="{05963E04-3699-59CB-622F-846A3395329B}"/>
                </a:ext>
              </a:extLst>
            </p:cNvPr>
            <p:cNvSpPr txBox="1"/>
            <p:nvPr/>
          </p:nvSpPr>
          <p:spPr>
            <a:xfrm>
              <a:off x="4534474" y="3367714"/>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12748</a:t>
              </a:r>
            </a:p>
          </p:txBody>
        </p:sp>
        <p:sp>
          <p:nvSpPr>
            <p:cNvPr id="59" name="TextBox 58">
              <a:extLst>
                <a:ext uri="{FF2B5EF4-FFF2-40B4-BE49-F238E27FC236}">
                  <a16:creationId xmlns:a16="http://schemas.microsoft.com/office/drawing/2014/main" id="{84FE590F-F258-F2C5-88DD-997D80B7C355}"/>
                </a:ext>
              </a:extLst>
            </p:cNvPr>
            <p:cNvSpPr txBox="1"/>
            <p:nvPr/>
          </p:nvSpPr>
          <p:spPr>
            <a:xfrm>
              <a:off x="4525143" y="3721017"/>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12749</a:t>
              </a:r>
            </a:p>
          </p:txBody>
        </p:sp>
        <p:sp>
          <p:nvSpPr>
            <p:cNvPr id="60" name="TextBox 59">
              <a:extLst>
                <a:ext uri="{FF2B5EF4-FFF2-40B4-BE49-F238E27FC236}">
                  <a16:creationId xmlns:a16="http://schemas.microsoft.com/office/drawing/2014/main" id="{DB1FC93C-5145-5132-8C13-342007C3911C}"/>
                </a:ext>
              </a:extLst>
            </p:cNvPr>
            <p:cNvSpPr txBox="1"/>
            <p:nvPr/>
          </p:nvSpPr>
          <p:spPr>
            <a:xfrm>
              <a:off x="4534474" y="4061826"/>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1274A</a:t>
              </a:r>
              <a:endParaRPr lang="en-US" sz="1400" dirty="0">
                <a:latin typeface="Consolas" panose="020B0609020204030204" pitchFamily="49" charset="0"/>
                <a:cs typeface="Consolas" panose="020B0609020204030204" pitchFamily="49" charset="0"/>
              </a:endParaRPr>
            </a:p>
          </p:txBody>
        </p:sp>
        <p:sp>
          <p:nvSpPr>
            <p:cNvPr id="61" name="TextBox 60">
              <a:extLst>
                <a:ext uri="{FF2B5EF4-FFF2-40B4-BE49-F238E27FC236}">
                  <a16:creationId xmlns:a16="http://schemas.microsoft.com/office/drawing/2014/main" id="{7410212C-7CC5-9874-B075-E40716AA91B8}"/>
                </a:ext>
              </a:extLst>
            </p:cNvPr>
            <p:cNvSpPr txBox="1"/>
            <p:nvPr/>
          </p:nvSpPr>
          <p:spPr>
            <a:xfrm>
              <a:off x="4534472" y="439110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1274B</a:t>
              </a:r>
              <a:endParaRPr lang="en-US" sz="1400" dirty="0">
                <a:latin typeface="Consolas" panose="020B0609020204030204" pitchFamily="49" charset="0"/>
                <a:cs typeface="Consolas" panose="020B0609020204030204" pitchFamily="49" charset="0"/>
              </a:endParaRPr>
            </a:p>
          </p:txBody>
        </p:sp>
        <p:sp>
          <p:nvSpPr>
            <p:cNvPr id="62" name="TextBox 61">
              <a:extLst>
                <a:ext uri="{FF2B5EF4-FFF2-40B4-BE49-F238E27FC236}">
                  <a16:creationId xmlns:a16="http://schemas.microsoft.com/office/drawing/2014/main" id="{A8A716C1-EDB6-7266-2105-A9593A833EE5}"/>
                </a:ext>
              </a:extLst>
            </p:cNvPr>
            <p:cNvSpPr txBox="1"/>
            <p:nvPr/>
          </p:nvSpPr>
          <p:spPr>
            <a:xfrm>
              <a:off x="4534472" y="473964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1274C</a:t>
              </a:r>
            </a:p>
          </p:txBody>
        </p:sp>
        <p:sp>
          <p:nvSpPr>
            <p:cNvPr id="63" name="TextBox 62">
              <a:extLst>
                <a:ext uri="{FF2B5EF4-FFF2-40B4-BE49-F238E27FC236}">
                  <a16:creationId xmlns:a16="http://schemas.microsoft.com/office/drawing/2014/main" id="{69DF1C86-17E4-567F-2020-2F9A4EE67B7A}"/>
                </a:ext>
              </a:extLst>
            </p:cNvPr>
            <p:cNvSpPr txBox="1"/>
            <p:nvPr/>
          </p:nvSpPr>
          <p:spPr>
            <a:xfrm>
              <a:off x="4543470" y="5091313"/>
              <a:ext cx="817853"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1274D</a:t>
              </a:r>
              <a:endParaRPr lang="en-US" sz="1400"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DF1CE269-F92B-BB92-FB62-7A95FEFFD53C}"/>
                </a:ext>
              </a:extLst>
            </p:cNvPr>
            <p:cNvSpPr txBox="1"/>
            <p:nvPr/>
          </p:nvSpPr>
          <p:spPr>
            <a:xfrm rot="5400000">
              <a:off x="6602627" y="2898678"/>
              <a:ext cx="549999" cy="525583"/>
            </a:xfrm>
            <a:prstGeom prst="rect">
              <a:avLst/>
            </a:prstGeom>
            <a:noFill/>
          </p:spPr>
          <p:txBody>
            <a:bodyPr wrap="none" rtlCol="0">
              <a:spAutoFit/>
            </a:bodyPr>
            <a:lstStyle/>
            <a:p>
              <a:r>
                <a:rPr lang="en-US" b="1" dirty="0"/>
                <a:t>…</a:t>
              </a:r>
            </a:p>
          </p:txBody>
        </p:sp>
        <p:sp>
          <p:nvSpPr>
            <p:cNvPr id="65" name="TextBox 64">
              <a:extLst>
                <a:ext uri="{FF2B5EF4-FFF2-40B4-BE49-F238E27FC236}">
                  <a16:creationId xmlns:a16="http://schemas.microsoft.com/office/drawing/2014/main" id="{65E4D612-8E5C-1960-7F60-EAAC2C4DFD2F}"/>
                </a:ext>
              </a:extLst>
            </p:cNvPr>
            <p:cNvSpPr txBox="1"/>
            <p:nvPr/>
          </p:nvSpPr>
          <p:spPr>
            <a:xfrm rot="5400000">
              <a:off x="6597824" y="5576762"/>
              <a:ext cx="549999" cy="525583"/>
            </a:xfrm>
            <a:prstGeom prst="rect">
              <a:avLst/>
            </a:prstGeom>
            <a:noFill/>
          </p:spPr>
          <p:txBody>
            <a:bodyPr wrap="square" rtlCol="0">
              <a:spAutoFit/>
            </a:bodyPr>
            <a:lstStyle/>
            <a:p>
              <a:r>
                <a:rPr lang="en-US" b="1" dirty="0"/>
                <a:t>…</a:t>
              </a:r>
            </a:p>
          </p:txBody>
        </p:sp>
        <p:sp>
          <p:nvSpPr>
            <p:cNvPr id="82" name="TextBox 81">
              <a:extLst>
                <a:ext uri="{FF2B5EF4-FFF2-40B4-BE49-F238E27FC236}">
                  <a16:creationId xmlns:a16="http://schemas.microsoft.com/office/drawing/2014/main" id="{E7374722-D09E-1151-7A23-AC41878B34D0}"/>
                </a:ext>
              </a:extLst>
            </p:cNvPr>
            <p:cNvSpPr txBox="1"/>
            <p:nvPr/>
          </p:nvSpPr>
          <p:spPr>
            <a:xfrm>
              <a:off x="5958671" y="5826393"/>
              <a:ext cx="1907976" cy="576321"/>
            </a:xfrm>
            <a:prstGeom prst="rect">
              <a:avLst/>
            </a:prstGeom>
            <a:noFill/>
          </p:spPr>
          <p:txBody>
            <a:bodyPr wrap="none" rtlCol="0">
              <a:spAutoFit/>
            </a:bodyPr>
            <a:lstStyle/>
            <a:p>
              <a:r>
                <a:rPr lang="en-US" sz="2000" dirty="0">
                  <a:cs typeface="Consolas" panose="020B0609020204030204" pitchFamily="49" charset="0"/>
                </a:rPr>
                <a:t>page table</a:t>
              </a:r>
              <a:endParaRPr lang="en-US" sz="2800" dirty="0">
                <a:latin typeface="Consolas" panose="020B0609020204030204" pitchFamily="49" charset="0"/>
                <a:cs typeface="Consolas" panose="020B0609020204030204" pitchFamily="49" charset="0"/>
              </a:endParaRPr>
            </a:p>
          </p:txBody>
        </p:sp>
        <p:cxnSp>
          <p:nvCxnSpPr>
            <p:cNvPr id="88" name="Straight Connector 87">
              <a:extLst>
                <a:ext uri="{FF2B5EF4-FFF2-40B4-BE49-F238E27FC236}">
                  <a16:creationId xmlns:a16="http://schemas.microsoft.com/office/drawing/2014/main" id="{94807C22-9CF1-BB05-E3E9-F0A1154BEB62}"/>
                </a:ext>
              </a:extLst>
            </p:cNvPr>
            <p:cNvCxnSpPr/>
            <p:nvPr/>
          </p:nvCxnSpPr>
          <p:spPr>
            <a:xfrm>
              <a:off x="7586804" y="3404816"/>
              <a:ext cx="0" cy="2055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B491CA2F-43E6-F5F2-4B93-2FFDB6B818E8}"/>
                </a:ext>
              </a:extLst>
            </p:cNvPr>
            <p:cNvCxnSpPr/>
            <p:nvPr/>
          </p:nvCxnSpPr>
          <p:spPr>
            <a:xfrm>
              <a:off x="8001754" y="3398272"/>
              <a:ext cx="0" cy="2055829"/>
            </a:xfrm>
            <a:prstGeom prst="line">
              <a:avLst/>
            </a:prstGeom>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C4B4A679-09AF-54AE-4358-B7B218F0DAB2}"/>
                </a:ext>
              </a:extLst>
            </p:cNvPr>
            <p:cNvSpPr txBox="1"/>
            <p:nvPr/>
          </p:nvSpPr>
          <p:spPr>
            <a:xfrm rot="18924370">
              <a:off x="7135997" y="2943910"/>
              <a:ext cx="818622" cy="307777"/>
            </a:xfrm>
            <a:prstGeom prst="rect">
              <a:avLst/>
            </a:prstGeom>
            <a:noFill/>
          </p:spPr>
          <p:txBody>
            <a:bodyPr wrap="none" rtlCol="0">
              <a:spAutoFit/>
            </a:bodyPr>
            <a:lstStyle/>
            <a:p>
              <a:r>
                <a:rPr lang="en-US" sz="1400" dirty="0"/>
                <a:t>resident</a:t>
              </a:r>
              <a:endParaRPr lang="en-US" dirty="0"/>
            </a:p>
          </p:txBody>
        </p:sp>
        <p:sp>
          <p:nvSpPr>
            <p:cNvPr id="91" name="TextBox 90">
              <a:extLst>
                <a:ext uri="{FF2B5EF4-FFF2-40B4-BE49-F238E27FC236}">
                  <a16:creationId xmlns:a16="http://schemas.microsoft.com/office/drawing/2014/main" id="{F5476E0F-DFA5-758F-AC72-4ADD0CCB2CF2}"/>
                </a:ext>
              </a:extLst>
            </p:cNvPr>
            <p:cNvSpPr txBox="1"/>
            <p:nvPr/>
          </p:nvSpPr>
          <p:spPr>
            <a:xfrm rot="18924370">
              <a:off x="7561692" y="2883843"/>
              <a:ext cx="1023870" cy="307777"/>
            </a:xfrm>
            <a:prstGeom prst="rect">
              <a:avLst/>
            </a:prstGeom>
            <a:noFill/>
          </p:spPr>
          <p:txBody>
            <a:bodyPr wrap="none" rtlCol="0">
              <a:spAutoFit/>
            </a:bodyPr>
            <a:lstStyle/>
            <a:p>
              <a:r>
                <a:rPr lang="en-US" sz="1400" dirty="0"/>
                <a:t>referenced</a:t>
              </a:r>
              <a:endParaRPr lang="en-US" dirty="0"/>
            </a:p>
          </p:txBody>
        </p:sp>
        <p:sp>
          <p:nvSpPr>
            <p:cNvPr id="92" name="TextBox 91">
              <a:extLst>
                <a:ext uri="{FF2B5EF4-FFF2-40B4-BE49-F238E27FC236}">
                  <a16:creationId xmlns:a16="http://schemas.microsoft.com/office/drawing/2014/main" id="{272C83BA-E77D-59EE-3646-775439332305}"/>
                </a:ext>
              </a:extLst>
            </p:cNvPr>
            <p:cNvSpPr txBox="1"/>
            <p:nvPr/>
          </p:nvSpPr>
          <p:spPr>
            <a:xfrm rot="18924370">
              <a:off x="8048795" y="3048090"/>
              <a:ext cx="527709" cy="307777"/>
            </a:xfrm>
            <a:prstGeom prst="rect">
              <a:avLst/>
            </a:prstGeom>
            <a:noFill/>
          </p:spPr>
          <p:txBody>
            <a:bodyPr wrap="none" rtlCol="0">
              <a:spAutoFit/>
            </a:bodyPr>
            <a:lstStyle/>
            <a:p>
              <a:r>
                <a:rPr lang="en-US" sz="1400" dirty="0"/>
                <a:t>dirty</a:t>
              </a:r>
              <a:endParaRPr lang="en-US" dirty="0"/>
            </a:p>
          </p:txBody>
        </p:sp>
        <p:sp>
          <p:nvSpPr>
            <p:cNvPr id="93" name="TextBox 92">
              <a:extLst>
                <a:ext uri="{FF2B5EF4-FFF2-40B4-BE49-F238E27FC236}">
                  <a16:creationId xmlns:a16="http://schemas.microsoft.com/office/drawing/2014/main" id="{80483E0F-F0D7-D4C7-0394-EA0148165BDE}"/>
                </a:ext>
              </a:extLst>
            </p:cNvPr>
            <p:cNvSpPr txBox="1"/>
            <p:nvPr/>
          </p:nvSpPr>
          <p:spPr>
            <a:xfrm>
              <a:off x="7235136" y="4426186"/>
              <a:ext cx="306494" cy="369332"/>
            </a:xfrm>
            <a:prstGeom prst="rect">
              <a:avLst/>
            </a:prstGeom>
            <a:noFill/>
          </p:spPr>
          <p:txBody>
            <a:bodyPr wrap="square" rtlCol="0">
              <a:spAutoFit/>
            </a:bodyPr>
            <a:lstStyle/>
            <a:p>
              <a:r>
                <a:rPr lang="en-US" b="1" dirty="0">
                  <a:solidFill>
                    <a:srgbClr val="FF0000"/>
                  </a:solidFill>
                </a:rPr>
                <a:t>F</a:t>
              </a:r>
            </a:p>
          </p:txBody>
        </p:sp>
        <p:sp>
          <p:nvSpPr>
            <p:cNvPr id="94" name="TextBox 93">
              <a:extLst>
                <a:ext uri="{FF2B5EF4-FFF2-40B4-BE49-F238E27FC236}">
                  <a16:creationId xmlns:a16="http://schemas.microsoft.com/office/drawing/2014/main" id="{B12A4E55-1DCF-75F5-F051-00A882977DE9}"/>
                </a:ext>
              </a:extLst>
            </p:cNvPr>
            <p:cNvSpPr txBox="1"/>
            <p:nvPr/>
          </p:nvSpPr>
          <p:spPr>
            <a:xfrm>
              <a:off x="7233198" y="4078138"/>
              <a:ext cx="306494" cy="369332"/>
            </a:xfrm>
            <a:prstGeom prst="rect">
              <a:avLst/>
            </a:prstGeom>
            <a:noFill/>
          </p:spPr>
          <p:txBody>
            <a:bodyPr wrap="square" rtlCol="0">
              <a:spAutoFit/>
            </a:bodyPr>
            <a:lstStyle/>
            <a:p>
              <a:r>
                <a:rPr lang="en-US" dirty="0"/>
                <a:t>T</a:t>
              </a:r>
            </a:p>
          </p:txBody>
        </p:sp>
        <p:sp>
          <p:nvSpPr>
            <p:cNvPr id="95" name="TextBox 94">
              <a:extLst>
                <a:ext uri="{FF2B5EF4-FFF2-40B4-BE49-F238E27FC236}">
                  <a16:creationId xmlns:a16="http://schemas.microsoft.com/office/drawing/2014/main" id="{09CE8766-0EE0-EE53-2872-FB46076D6DAA}"/>
                </a:ext>
              </a:extLst>
            </p:cNvPr>
            <p:cNvSpPr txBox="1"/>
            <p:nvPr/>
          </p:nvSpPr>
          <p:spPr>
            <a:xfrm>
              <a:off x="7224053" y="3752498"/>
              <a:ext cx="306494" cy="369332"/>
            </a:xfrm>
            <a:prstGeom prst="rect">
              <a:avLst/>
            </a:prstGeom>
            <a:noFill/>
          </p:spPr>
          <p:txBody>
            <a:bodyPr wrap="square" rtlCol="0">
              <a:spAutoFit/>
            </a:bodyPr>
            <a:lstStyle/>
            <a:p>
              <a:r>
                <a:rPr lang="en-US" dirty="0"/>
                <a:t>T</a:t>
              </a:r>
            </a:p>
          </p:txBody>
        </p:sp>
        <p:sp>
          <p:nvSpPr>
            <p:cNvPr id="96" name="TextBox 95">
              <a:extLst>
                <a:ext uri="{FF2B5EF4-FFF2-40B4-BE49-F238E27FC236}">
                  <a16:creationId xmlns:a16="http://schemas.microsoft.com/office/drawing/2014/main" id="{ABD0C2BA-9242-505C-1C98-A108CF1DE642}"/>
                </a:ext>
              </a:extLst>
            </p:cNvPr>
            <p:cNvSpPr txBox="1"/>
            <p:nvPr/>
          </p:nvSpPr>
          <p:spPr>
            <a:xfrm>
              <a:off x="7224053" y="3407585"/>
              <a:ext cx="306494" cy="369332"/>
            </a:xfrm>
            <a:prstGeom prst="rect">
              <a:avLst/>
            </a:prstGeom>
            <a:noFill/>
          </p:spPr>
          <p:txBody>
            <a:bodyPr wrap="square" rtlCol="0">
              <a:spAutoFit/>
            </a:bodyPr>
            <a:lstStyle/>
            <a:p>
              <a:r>
                <a:rPr lang="en-US" dirty="0"/>
                <a:t>T</a:t>
              </a:r>
            </a:p>
          </p:txBody>
        </p:sp>
        <p:sp>
          <p:nvSpPr>
            <p:cNvPr id="97" name="TextBox 96">
              <a:extLst>
                <a:ext uri="{FF2B5EF4-FFF2-40B4-BE49-F238E27FC236}">
                  <a16:creationId xmlns:a16="http://schemas.microsoft.com/office/drawing/2014/main" id="{3DA14E1C-F41A-CBC4-FAEF-D8E39D06097A}"/>
                </a:ext>
              </a:extLst>
            </p:cNvPr>
            <p:cNvSpPr txBox="1"/>
            <p:nvPr/>
          </p:nvSpPr>
          <p:spPr>
            <a:xfrm>
              <a:off x="7240746" y="5117768"/>
              <a:ext cx="306494" cy="369332"/>
            </a:xfrm>
            <a:prstGeom prst="rect">
              <a:avLst/>
            </a:prstGeom>
            <a:noFill/>
          </p:spPr>
          <p:txBody>
            <a:bodyPr wrap="square" rtlCol="0">
              <a:spAutoFit/>
            </a:bodyPr>
            <a:lstStyle/>
            <a:p>
              <a:r>
                <a:rPr lang="en-US" dirty="0"/>
                <a:t>T</a:t>
              </a:r>
            </a:p>
          </p:txBody>
        </p:sp>
        <p:sp>
          <p:nvSpPr>
            <p:cNvPr id="98" name="TextBox 97">
              <a:extLst>
                <a:ext uri="{FF2B5EF4-FFF2-40B4-BE49-F238E27FC236}">
                  <a16:creationId xmlns:a16="http://schemas.microsoft.com/office/drawing/2014/main" id="{2912826F-3CEA-6FD0-F60B-F5F94BF99793}"/>
                </a:ext>
              </a:extLst>
            </p:cNvPr>
            <p:cNvSpPr txBox="1"/>
            <p:nvPr/>
          </p:nvSpPr>
          <p:spPr>
            <a:xfrm>
              <a:off x="7231601" y="4792128"/>
              <a:ext cx="306494" cy="369332"/>
            </a:xfrm>
            <a:prstGeom prst="rect">
              <a:avLst/>
            </a:prstGeom>
            <a:noFill/>
          </p:spPr>
          <p:txBody>
            <a:bodyPr wrap="square" rtlCol="0">
              <a:spAutoFit/>
            </a:bodyPr>
            <a:lstStyle/>
            <a:p>
              <a:r>
                <a:rPr lang="en-US" dirty="0"/>
                <a:t>T</a:t>
              </a:r>
            </a:p>
          </p:txBody>
        </p:sp>
        <p:sp>
          <p:nvSpPr>
            <p:cNvPr id="99" name="TextBox 98">
              <a:extLst>
                <a:ext uri="{FF2B5EF4-FFF2-40B4-BE49-F238E27FC236}">
                  <a16:creationId xmlns:a16="http://schemas.microsoft.com/office/drawing/2014/main" id="{3C2A57BA-40F1-ECEA-47BC-7C24D2CCA98A}"/>
                </a:ext>
              </a:extLst>
            </p:cNvPr>
            <p:cNvSpPr txBox="1"/>
            <p:nvPr/>
          </p:nvSpPr>
          <p:spPr>
            <a:xfrm>
              <a:off x="7640229" y="4431885"/>
              <a:ext cx="306494" cy="369332"/>
            </a:xfrm>
            <a:prstGeom prst="rect">
              <a:avLst/>
            </a:prstGeom>
            <a:noFill/>
          </p:spPr>
          <p:txBody>
            <a:bodyPr wrap="square" rtlCol="0">
              <a:spAutoFit/>
            </a:bodyPr>
            <a:lstStyle/>
            <a:p>
              <a:r>
                <a:rPr lang="en-US" dirty="0"/>
                <a:t>F</a:t>
              </a:r>
            </a:p>
          </p:txBody>
        </p:sp>
        <p:sp>
          <p:nvSpPr>
            <p:cNvPr id="100" name="TextBox 99">
              <a:extLst>
                <a:ext uri="{FF2B5EF4-FFF2-40B4-BE49-F238E27FC236}">
                  <a16:creationId xmlns:a16="http://schemas.microsoft.com/office/drawing/2014/main" id="{F17ACCCE-9563-D7F5-7EB9-5AD80FE584E0}"/>
                </a:ext>
              </a:extLst>
            </p:cNvPr>
            <p:cNvSpPr txBox="1"/>
            <p:nvPr/>
          </p:nvSpPr>
          <p:spPr>
            <a:xfrm>
              <a:off x="8074229" y="4429696"/>
              <a:ext cx="306494" cy="369332"/>
            </a:xfrm>
            <a:prstGeom prst="rect">
              <a:avLst/>
            </a:prstGeom>
            <a:noFill/>
          </p:spPr>
          <p:txBody>
            <a:bodyPr wrap="square" rtlCol="0">
              <a:spAutoFit/>
            </a:bodyPr>
            <a:lstStyle/>
            <a:p>
              <a:r>
                <a:rPr lang="en-US" dirty="0"/>
                <a:t>F</a:t>
              </a:r>
            </a:p>
          </p:txBody>
        </p:sp>
        <p:sp>
          <p:nvSpPr>
            <p:cNvPr id="101" name="TextBox 100">
              <a:extLst>
                <a:ext uri="{FF2B5EF4-FFF2-40B4-BE49-F238E27FC236}">
                  <a16:creationId xmlns:a16="http://schemas.microsoft.com/office/drawing/2014/main" id="{71A8C470-615A-F639-F86E-2253323C2FD9}"/>
                </a:ext>
              </a:extLst>
            </p:cNvPr>
            <p:cNvSpPr txBox="1"/>
            <p:nvPr/>
          </p:nvSpPr>
          <p:spPr>
            <a:xfrm>
              <a:off x="7638724" y="4086349"/>
              <a:ext cx="306494" cy="369332"/>
            </a:xfrm>
            <a:prstGeom prst="rect">
              <a:avLst/>
            </a:prstGeom>
            <a:noFill/>
          </p:spPr>
          <p:txBody>
            <a:bodyPr wrap="square" rtlCol="0">
              <a:spAutoFit/>
            </a:bodyPr>
            <a:lstStyle/>
            <a:p>
              <a:r>
                <a:rPr lang="en-US" dirty="0"/>
                <a:t>F</a:t>
              </a:r>
            </a:p>
          </p:txBody>
        </p:sp>
        <p:sp>
          <p:nvSpPr>
            <p:cNvPr id="102" name="TextBox 101">
              <a:extLst>
                <a:ext uri="{FF2B5EF4-FFF2-40B4-BE49-F238E27FC236}">
                  <a16:creationId xmlns:a16="http://schemas.microsoft.com/office/drawing/2014/main" id="{F13E6BD7-10B9-BBC1-4E97-77C90E16B0D1}"/>
                </a:ext>
              </a:extLst>
            </p:cNvPr>
            <p:cNvSpPr txBox="1"/>
            <p:nvPr/>
          </p:nvSpPr>
          <p:spPr>
            <a:xfrm>
              <a:off x="8072724" y="4084160"/>
              <a:ext cx="306494" cy="369332"/>
            </a:xfrm>
            <a:prstGeom prst="rect">
              <a:avLst/>
            </a:prstGeom>
            <a:noFill/>
          </p:spPr>
          <p:txBody>
            <a:bodyPr wrap="square" rtlCol="0">
              <a:spAutoFit/>
            </a:bodyPr>
            <a:lstStyle/>
            <a:p>
              <a:r>
                <a:rPr lang="en-US" dirty="0"/>
                <a:t>F</a:t>
              </a:r>
            </a:p>
          </p:txBody>
        </p:sp>
        <p:sp>
          <p:nvSpPr>
            <p:cNvPr id="103" name="TextBox 102">
              <a:extLst>
                <a:ext uri="{FF2B5EF4-FFF2-40B4-BE49-F238E27FC236}">
                  <a16:creationId xmlns:a16="http://schemas.microsoft.com/office/drawing/2014/main" id="{58E676A5-397F-F3B8-3EA1-6A559881077A}"/>
                </a:ext>
              </a:extLst>
            </p:cNvPr>
            <p:cNvSpPr txBox="1"/>
            <p:nvPr/>
          </p:nvSpPr>
          <p:spPr>
            <a:xfrm>
              <a:off x="7637865" y="3748506"/>
              <a:ext cx="306494" cy="369332"/>
            </a:xfrm>
            <a:prstGeom prst="rect">
              <a:avLst/>
            </a:prstGeom>
            <a:noFill/>
          </p:spPr>
          <p:txBody>
            <a:bodyPr wrap="square" rtlCol="0">
              <a:spAutoFit/>
            </a:bodyPr>
            <a:lstStyle/>
            <a:p>
              <a:r>
                <a:rPr lang="en-US" dirty="0"/>
                <a:t>T</a:t>
              </a:r>
            </a:p>
          </p:txBody>
        </p:sp>
        <p:sp>
          <p:nvSpPr>
            <p:cNvPr id="104" name="TextBox 103">
              <a:extLst>
                <a:ext uri="{FF2B5EF4-FFF2-40B4-BE49-F238E27FC236}">
                  <a16:creationId xmlns:a16="http://schemas.microsoft.com/office/drawing/2014/main" id="{7C5BDB66-3789-A686-F1A5-63CCC1057299}"/>
                </a:ext>
              </a:extLst>
            </p:cNvPr>
            <p:cNvSpPr txBox="1"/>
            <p:nvPr/>
          </p:nvSpPr>
          <p:spPr>
            <a:xfrm>
              <a:off x="7629335" y="3403195"/>
              <a:ext cx="306494" cy="369332"/>
            </a:xfrm>
            <a:prstGeom prst="rect">
              <a:avLst/>
            </a:prstGeom>
            <a:noFill/>
          </p:spPr>
          <p:txBody>
            <a:bodyPr wrap="square" rtlCol="0">
              <a:spAutoFit/>
            </a:bodyPr>
            <a:lstStyle/>
            <a:p>
              <a:r>
                <a:rPr lang="en-US" dirty="0"/>
                <a:t>T</a:t>
              </a:r>
            </a:p>
          </p:txBody>
        </p:sp>
        <p:sp>
          <p:nvSpPr>
            <p:cNvPr id="105" name="TextBox 104">
              <a:extLst>
                <a:ext uri="{FF2B5EF4-FFF2-40B4-BE49-F238E27FC236}">
                  <a16:creationId xmlns:a16="http://schemas.microsoft.com/office/drawing/2014/main" id="{9024697E-7CDD-4D50-9286-50D6206182CA}"/>
                </a:ext>
              </a:extLst>
            </p:cNvPr>
            <p:cNvSpPr txBox="1"/>
            <p:nvPr/>
          </p:nvSpPr>
          <p:spPr>
            <a:xfrm>
              <a:off x="8072725" y="3740133"/>
              <a:ext cx="306494"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DC174152-85E6-F79E-2AFE-3684F9CF211D}"/>
                </a:ext>
              </a:extLst>
            </p:cNvPr>
            <p:cNvSpPr txBox="1"/>
            <p:nvPr/>
          </p:nvSpPr>
          <p:spPr>
            <a:xfrm>
              <a:off x="8071220" y="3394597"/>
              <a:ext cx="306494" cy="369332"/>
            </a:xfrm>
            <a:prstGeom prst="rect">
              <a:avLst/>
            </a:prstGeom>
            <a:noFill/>
          </p:spPr>
          <p:txBody>
            <a:bodyPr wrap="square" rtlCol="0">
              <a:spAutoFit/>
            </a:bodyPr>
            <a:lstStyle/>
            <a:p>
              <a:r>
                <a:rPr lang="en-US" dirty="0"/>
                <a:t>T</a:t>
              </a:r>
            </a:p>
          </p:txBody>
        </p:sp>
        <p:sp>
          <p:nvSpPr>
            <p:cNvPr id="107" name="TextBox 106">
              <a:extLst>
                <a:ext uri="{FF2B5EF4-FFF2-40B4-BE49-F238E27FC236}">
                  <a16:creationId xmlns:a16="http://schemas.microsoft.com/office/drawing/2014/main" id="{D16EA76F-A3CC-6A24-F460-3E38AAA58EBC}"/>
                </a:ext>
              </a:extLst>
            </p:cNvPr>
            <p:cNvSpPr txBox="1"/>
            <p:nvPr/>
          </p:nvSpPr>
          <p:spPr>
            <a:xfrm>
              <a:off x="7647777" y="4774403"/>
              <a:ext cx="306494" cy="369332"/>
            </a:xfrm>
            <a:prstGeom prst="rect">
              <a:avLst/>
            </a:prstGeom>
            <a:noFill/>
          </p:spPr>
          <p:txBody>
            <a:bodyPr wrap="square" rtlCol="0">
              <a:spAutoFit/>
            </a:bodyPr>
            <a:lstStyle/>
            <a:p>
              <a:r>
                <a:rPr lang="en-US" dirty="0"/>
                <a:t>T</a:t>
              </a:r>
            </a:p>
          </p:txBody>
        </p:sp>
        <p:sp>
          <p:nvSpPr>
            <p:cNvPr id="108" name="TextBox 107">
              <a:extLst>
                <a:ext uri="{FF2B5EF4-FFF2-40B4-BE49-F238E27FC236}">
                  <a16:creationId xmlns:a16="http://schemas.microsoft.com/office/drawing/2014/main" id="{5890C726-3E2F-C4CA-4BAE-E982997FEC3B}"/>
                </a:ext>
              </a:extLst>
            </p:cNvPr>
            <p:cNvSpPr txBox="1"/>
            <p:nvPr/>
          </p:nvSpPr>
          <p:spPr>
            <a:xfrm>
              <a:off x="8081777" y="4772214"/>
              <a:ext cx="306494" cy="369332"/>
            </a:xfrm>
            <a:prstGeom prst="rect">
              <a:avLst/>
            </a:prstGeom>
            <a:noFill/>
          </p:spPr>
          <p:txBody>
            <a:bodyPr wrap="square" rtlCol="0">
              <a:spAutoFit/>
            </a:bodyPr>
            <a:lstStyle/>
            <a:p>
              <a:r>
                <a:rPr lang="en-US" dirty="0"/>
                <a:t>T</a:t>
              </a:r>
            </a:p>
          </p:txBody>
        </p:sp>
        <p:sp>
          <p:nvSpPr>
            <p:cNvPr id="109" name="TextBox 108">
              <a:extLst>
                <a:ext uri="{FF2B5EF4-FFF2-40B4-BE49-F238E27FC236}">
                  <a16:creationId xmlns:a16="http://schemas.microsoft.com/office/drawing/2014/main" id="{ED97B7D8-188A-F49E-ACD8-A39F8129BBD3}"/>
                </a:ext>
              </a:extLst>
            </p:cNvPr>
            <p:cNvSpPr txBox="1"/>
            <p:nvPr/>
          </p:nvSpPr>
          <p:spPr>
            <a:xfrm>
              <a:off x="7646272" y="5107867"/>
              <a:ext cx="306494"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68D39C6F-B08D-1FFE-3234-C0888FDD76FD}"/>
                </a:ext>
              </a:extLst>
            </p:cNvPr>
            <p:cNvSpPr txBox="1"/>
            <p:nvPr/>
          </p:nvSpPr>
          <p:spPr>
            <a:xfrm>
              <a:off x="8080272" y="5105678"/>
              <a:ext cx="306494" cy="369332"/>
            </a:xfrm>
            <a:prstGeom prst="rect">
              <a:avLst/>
            </a:prstGeom>
            <a:noFill/>
          </p:spPr>
          <p:txBody>
            <a:bodyPr wrap="square" rtlCol="0">
              <a:spAutoFit/>
            </a:bodyPr>
            <a:lstStyle/>
            <a:p>
              <a:r>
                <a:rPr lang="en-US" dirty="0"/>
                <a:t>T</a:t>
              </a:r>
            </a:p>
          </p:txBody>
        </p:sp>
        <p:sp>
          <p:nvSpPr>
            <p:cNvPr id="3" name="TextBox 2">
              <a:extLst>
                <a:ext uri="{FF2B5EF4-FFF2-40B4-BE49-F238E27FC236}">
                  <a16:creationId xmlns:a16="http://schemas.microsoft.com/office/drawing/2014/main" id="{A573353E-1E52-3F9D-898C-5EBA5C9FC7C3}"/>
                </a:ext>
              </a:extLst>
            </p:cNvPr>
            <p:cNvSpPr txBox="1"/>
            <p:nvPr/>
          </p:nvSpPr>
          <p:spPr>
            <a:xfrm>
              <a:off x="8608432" y="4421842"/>
              <a:ext cx="1214590" cy="369332"/>
            </a:xfrm>
            <a:prstGeom prst="rect">
              <a:avLst/>
            </a:prstGeom>
            <a:solidFill>
              <a:schemeClr val="tx2">
                <a:lumMod val="10000"/>
                <a:lumOff val="90000"/>
              </a:schemeClr>
            </a:solidFill>
            <a:ln>
              <a:solidFill>
                <a:schemeClr val="tx1"/>
              </a:solidFill>
            </a:ln>
          </p:spPr>
          <p:txBody>
            <a:bodyPr wrap="square" rtlCol="0">
              <a:spAutoFit/>
            </a:bodyPr>
            <a:lstStyle/>
            <a:p>
              <a:r>
                <a:rPr lang="en-US" b="1" dirty="0">
                  <a:solidFill>
                    <a:srgbClr val="FF0000"/>
                  </a:solidFill>
                </a:rPr>
                <a:t>page fault</a:t>
              </a:r>
            </a:p>
          </p:txBody>
        </p:sp>
      </p:grpSp>
    </p:spTree>
    <p:extLst>
      <p:ext uri="{BB962C8B-B14F-4D97-AF65-F5344CB8AC3E}">
        <p14:creationId xmlns:p14="http://schemas.microsoft.com/office/powerpoint/2010/main" val="3955422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2EF6F-DCAF-1CD0-270D-46953D863605}"/>
              </a:ext>
            </a:extLst>
          </p:cNvPr>
          <p:cNvSpPr>
            <a:spLocks noGrp="1"/>
          </p:cNvSpPr>
          <p:nvPr>
            <p:ph type="title"/>
          </p:nvPr>
        </p:nvSpPr>
        <p:spPr/>
        <p:txBody>
          <a:bodyPr/>
          <a:lstStyle/>
          <a:p>
            <a:r>
              <a:rPr lang="en-US" dirty="0"/>
              <a:t>Virtual memory: Managing page frames</a:t>
            </a:r>
          </a:p>
        </p:txBody>
      </p:sp>
      <p:sp>
        <p:nvSpPr>
          <p:cNvPr id="3" name="Content Placeholder 2">
            <a:extLst>
              <a:ext uri="{FF2B5EF4-FFF2-40B4-BE49-F238E27FC236}">
                <a16:creationId xmlns:a16="http://schemas.microsoft.com/office/drawing/2014/main" id="{6C4E7550-680E-2455-A688-7293936A0C0E}"/>
              </a:ext>
            </a:extLst>
          </p:cNvPr>
          <p:cNvSpPr>
            <a:spLocks noGrp="1"/>
          </p:cNvSpPr>
          <p:nvPr>
            <p:ph idx="1"/>
          </p:nvPr>
        </p:nvSpPr>
        <p:spPr/>
        <p:txBody>
          <a:bodyPr>
            <a:normAutofit fontScale="92500" lnSpcReduction="20000"/>
          </a:bodyPr>
          <a:lstStyle/>
          <a:p>
            <a:pPr marL="0" indent="0">
              <a:buNone/>
            </a:pPr>
            <a:r>
              <a:rPr lang="en-US" dirty="0"/>
              <a:t>If a reference raises a page fault, the operating system:</a:t>
            </a:r>
          </a:p>
          <a:p>
            <a:r>
              <a:rPr lang="en-US" dirty="0"/>
              <a:t>pauses execution of the program that faulted</a:t>
            </a:r>
          </a:p>
          <a:p>
            <a:r>
              <a:rPr lang="en-US" dirty="0"/>
              <a:t>locates a free page frame</a:t>
            </a:r>
          </a:p>
          <a:p>
            <a:r>
              <a:rPr lang="en-US" dirty="0"/>
              <a:t>reads the faulted page from backing store into that page frame</a:t>
            </a:r>
          </a:p>
          <a:p>
            <a:r>
              <a:rPr lang="en-US" dirty="0"/>
              <a:t>updates the page table</a:t>
            </a:r>
          </a:p>
          <a:p>
            <a:r>
              <a:rPr lang="en-US" dirty="0"/>
              <a:t>resumes execution of the paused program</a:t>
            </a:r>
          </a:p>
          <a:p>
            <a:endParaRPr lang="en-US" dirty="0"/>
          </a:p>
          <a:p>
            <a:pPr marL="0" indent="0">
              <a:buNone/>
            </a:pPr>
            <a:r>
              <a:rPr lang="en-US" b="1" dirty="0"/>
              <a:t>Page fault penalty</a:t>
            </a:r>
            <a:r>
              <a:rPr lang="en-US" dirty="0"/>
              <a:t>: how much time it takes to do all this?</a:t>
            </a:r>
          </a:p>
          <a:p>
            <a:r>
              <a:rPr lang="en-US" dirty="0"/>
              <a:t>memory access takes a few nanoseconds</a:t>
            </a:r>
          </a:p>
          <a:p>
            <a:r>
              <a:rPr lang="en-US" dirty="0"/>
              <a:t>100,000 nanoseconds to read page from SSD</a:t>
            </a:r>
          </a:p>
        </p:txBody>
      </p:sp>
    </p:spTree>
    <p:extLst>
      <p:ext uri="{BB962C8B-B14F-4D97-AF65-F5344CB8AC3E}">
        <p14:creationId xmlns:p14="http://schemas.microsoft.com/office/powerpoint/2010/main" val="3514749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9BB4-70CC-5490-3D45-202EE993F49F}"/>
              </a:ext>
            </a:extLst>
          </p:cNvPr>
          <p:cNvSpPr>
            <a:spLocks noGrp="1"/>
          </p:cNvSpPr>
          <p:nvPr>
            <p:ph type="title"/>
          </p:nvPr>
        </p:nvSpPr>
        <p:spPr/>
        <p:txBody>
          <a:bodyPr/>
          <a:lstStyle/>
          <a:p>
            <a:r>
              <a:rPr lang="en-US" dirty="0"/>
              <a:t>Finding a  vacant page frame: Frame table</a:t>
            </a:r>
          </a:p>
        </p:txBody>
      </p:sp>
      <p:sp>
        <p:nvSpPr>
          <p:cNvPr id="3" name="Content Placeholder 2">
            <a:extLst>
              <a:ext uri="{FF2B5EF4-FFF2-40B4-BE49-F238E27FC236}">
                <a16:creationId xmlns:a16="http://schemas.microsoft.com/office/drawing/2014/main" id="{DA39294B-3B73-3AA0-A4AF-62DBD1C67320}"/>
              </a:ext>
            </a:extLst>
          </p:cNvPr>
          <p:cNvSpPr>
            <a:spLocks noGrp="1"/>
          </p:cNvSpPr>
          <p:nvPr>
            <p:ph idx="1"/>
          </p:nvPr>
        </p:nvSpPr>
        <p:spPr/>
        <p:txBody>
          <a:bodyPr>
            <a:normAutofit/>
          </a:bodyPr>
          <a:lstStyle/>
          <a:p>
            <a:pPr marL="0" indent="0">
              <a:buNone/>
            </a:pPr>
            <a:r>
              <a:rPr lang="en-US" dirty="0"/>
              <a:t>Frame table: indexed by page frame </a:t>
            </a:r>
          </a:p>
          <a:p>
            <a:r>
              <a:rPr lang="en-US" dirty="0"/>
              <a:t>Also called </a:t>
            </a:r>
            <a:r>
              <a:rPr lang="en-US" i="1" dirty="0"/>
              <a:t>inverted page table</a:t>
            </a:r>
          </a:p>
          <a:p>
            <a:pPr lvl="1"/>
            <a:r>
              <a:rPr lang="en-US" dirty="0"/>
              <a:t>recall page table indexed by page. This is indexed by page frame.</a:t>
            </a:r>
          </a:p>
          <a:p>
            <a:r>
              <a:rPr lang="en-US" dirty="0"/>
              <a:t>Our example: 4 byte entry</a:t>
            </a:r>
          </a:p>
          <a:p>
            <a:pPr lvl="1"/>
            <a:r>
              <a:rPr lang="en-US" dirty="0"/>
              <a:t>1 bit: vacant</a:t>
            </a:r>
          </a:p>
          <a:p>
            <a:pPr lvl="1"/>
            <a:r>
              <a:rPr lang="en-US" dirty="0"/>
              <a:t>20 bits: page (if not vacant)</a:t>
            </a:r>
          </a:p>
          <a:p>
            <a:pPr lvl="1"/>
            <a:r>
              <a:rPr lang="en-US" dirty="0"/>
              <a:t>Requires 128KB</a:t>
            </a:r>
          </a:p>
          <a:p>
            <a:pPr marL="0" indent="0">
              <a:buNone/>
            </a:pPr>
            <a:r>
              <a:rPr lang="en-US" dirty="0"/>
              <a:t>Page fault software scans this array to identify a vacant page frame</a:t>
            </a:r>
          </a:p>
          <a:p>
            <a:pPr marL="0" indent="0">
              <a:buNone/>
            </a:pPr>
            <a:r>
              <a:rPr lang="en-US" dirty="0"/>
              <a:t>What if no page frames are vacant?</a:t>
            </a:r>
          </a:p>
        </p:txBody>
      </p:sp>
    </p:spTree>
    <p:extLst>
      <p:ext uri="{BB962C8B-B14F-4D97-AF65-F5344CB8AC3E}">
        <p14:creationId xmlns:p14="http://schemas.microsoft.com/office/powerpoint/2010/main" val="1482923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5A394-AB95-3A63-C21A-DB7B60FF410F}"/>
              </a:ext>
            </a:extLst>
          </p:cNvPr>
          <p:cNvSpPr>
            <a:spLocks noGrp="1"/>
          </p:cNvSpPr>
          <p:nvPr>
            <p:ph type="title"/>
          </p:nvPr>
        </p:nvSpPr>
        <p:spPr/>
        <p:txBody>
          <a:bodyPr/>
          <a:lstStyle/>
          <a:p>
            <a:r>
              <a:rPr lang="en-US" dirty="0"/>
              <a:t>Page replacement policy</a:t>
            </a:r>
          </a:p>
        </p:txBody>
      </p:sp>
      <p:sp>
        <p:nvSpPr>
          <p:cNvPr id="4" name="TextBox 3">
            <a:extLst>
              <a:ext uri="{FF2B5EF4-FFF2-40B4-BE49-F238E27FC236}">
                <a16:creationId xmlns:a16="http://schemas.microsoft.com/office/drawing/2014/main" id="{DD918BA0-F6EA-7C5B-B420-B3EE3862DCE4}"/>
              </a:ext>
            </a:extLst>
          </p:cNvPr>
          <p:cNvSpPr txBox="1"/>
          <p:nvPr/>
        </p:nvSpPr>
        <p:spPr>
          <a:xfrm>
            <a:off x="4157472" y="5657671"/>
            <a:ext cx="8034528" cy="1200329"/>
          </a:xfrm>
          <a:prstGeom prst="rect">
            <a:avLst/>
          </a:prstGeom>
          <a:solidFill>
            <a:schemeClr val="accent6">
              <a:lumMod val="20000"/>
              <a:lumOff val="80000"/>
            </a:schemeClr>
          </a:solidFill>
        </p:spPr>
        <p:txBody>
          <a:bodyPr wrap="square" rtlCol="0">
            <a:spAutoFit/>
          </a:bodyPr>
          <a:lstStyle/>
          <a:p>
            <a:pPr marL="0" indent="0">
              <a:buNone/>
            </a:pPr>
            <a:r>
              <a:rPr lang="en-US" dirty="0" err="1"/>
              <a:t>HotStorage</a:t>
            </a:r>
            <a:r>
              <a:rPr lang="en-US" dirty="0"/>
              <a:t> ‘20 paper arguing that it’s time to reconsider FIFO for large caches: </a:t>
            </a:r>
            <a:r>
              <a:rPr lang="en-US" dirty="0">
                <a:hlinkClick r:id="rId2"/>
              </a:rPr>
              <a:t>https://www.usenix.org/conference/hotstorage20/presentation/eytan</a:t>
            </a:r>
            <a:endParaRPr lang="en-US" dirty="0"/>
          </a:p>
          <a:p>
            <a:pPr marL="0" indent="0">
              <a:buNone/>
            </a:pPr>
            <a:r>
              <a:rPr lang="en-US" dirty="0"/>
              <a:t>SOSP paper arguing that FIFO queues are all you need for cache eviction:</a:t>
            </a:r>
          </a:p>
          <a:p>
            <a:pPr marL="0" indent="0">
              <a:buNone/>
            </a:pPr>
            <a:r>
              <a:rPr lang="en-US" dirty="0">
                <a:hlinkClick r:id="rId3"/>
              </a:rPr>
              <a:t>https://</a:t>
            </a:r>
            <a:r>
              <a:rPr lang="en-US" dirty="0" err="1">
                <a:hlinkClick r:id="rId3"/>
              </a:rPr>
              <a:t>dl.acm.org</a:t>
            </a:r>
            <a:r>
              <a:rPr lang="en-US" dirty="0">
                <a:hlinkClick r:id="rId3"/>
              </a:rPr>
              <a:t>/</a:t>
            </a:r>
            <a:r>
              <a:rPr lang="en-US" dirty="0" err="1">
                <a:hlinkClick r:id="rId3"/>
              </a:rPr>
              <a:t>doi</a:t>
            </a:r>
            <a:r>
              <a:rPr lang="en-US" dirty="0">
                <a:hlinkClick r:id="rId3"/>
              </a:rPr>
              <a:t>/10.1145/3600006.3613147</a:t>
            </a:r>
            <a:endParaRPr lang="en-US" dirty="0"/>
          </a:p>
        </p:txBody>
      </p:sp>
      <p:sp>
        <p:nvSpPr>
          <p:cNvPr id="3" name="Content Placeholder 2">
            <a:extLst>
              <a:ext uri="{FF2B5EF4-FFF2-40B4-BE49-F238E27FC236}">
                <a16:creationId xmlns:a16="http://schemas.microsoft.com/office/drawing/2014/main" id="{ECFFE575-B2B9-1867-1EBF-46DE7D668B3E}"/>
              </a:ext>
            </a:extLst>
          </p:cNvPr>
          <p:cNvSpPr>
            <a:spLocks noGrp="1"/>
          </p:cNvSpPr>
          <p:nvPr>
            <p:ph idx="1"/>
          </p:nvPr>
        </p:nvSpPr>
        <p:spPr/>
        <p:txBody>
          <a:bodyPr/>
          <a:lstStyle/>
          <a:p>
            <a:pPr marL="0" indent="0">
              <a:buNone/>
            </a:pPr>
            <a:r>
              <a:rPr lang="en-US" dirty="0"/>
              <a:t>Identify a page to evict from page frame</a:t>
            </a:r>
          </a:p>
          <a:p>
            <a:pPr lvl="1"/>
            <a:r>
              <a:rPr lang="en-US" dirty="0"/>
              <a:t>If page is dirty, need to copy to backing store first</a:t>
            </a:r>
          </a:p>
          <a:p>
            <a:pPr marL="0" indent="0">
              <a:buNone/>
            </a:pPr>
            <a:r>
              <a:rPr lang="en-US" dirty="0"/>
              <a:t>Different replacement policies:</a:t>
            </a:r>
          </a:p>
          <a:p>
            <a:pPr lvl="1">
              <a:defRPr/>
            </a:pPr>
            <a:r>
              <a:rPr lang="en-US" dirty="0"/>
              <a:t>Optimal: replace page that will be referenced farthest in the future</a:t>
            </a:r>
          </a:p>
          <a:p>
            <a:pPr lvl="1">
              <a:defRPr/>
            </a:pPr>
            <a:r>
              <a:rPr lang="en-US" dirty="0"/>
              <a:t>FIFO: implement with stack, updated on each page in</a:t>
            </a:r>
          </a:p>
          <a:p>
            <a:pPr lvl="1"/>
            <a:r>
              <a:rPr lang="en-US" dirty="0"/>
              <a:t>LRU: (“past predicts the future”): implement with stack, updated on each reference</a:t>
            </a:r>
          </a:p>
          <a:p>
            <a:pPr marL="0" indent="0">
              <a:buNone/>
            </a:pPr>
            <a:r>
              <a:rPr lang="en-US" dirty="0"/>
              <a:t>Typically, LRU is much closer to optimal than FIFO</a:t>
            </a:r>
          </a:p>
        </p:txBody>
      </p:sp>
    </p:spTree>
    <p:extLst>
      <p:ext uri="{BB962C8B-B14F-4D97-AF65-F5344CB8AC3E}">
        <p14:creationId xmlns:p14="http://schemas.microsoft.com/office/powerpoint/2010/main" val="3820031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5131-3719-5740-11CA-DBF11A2405EB}"/>
              </a:ext>
            </a:extLst>
          </p:cNvPr>
          <p:cNvSpPr>
            <a:spLocks noGrp="1"/>
          </p:cNvSpPr>
          <p:nvPr>
            <p:ph type="title"/>
          </p:nvPr>
        </p:nvSpPr>
        <p:spPr/>
        <p:txBody>
          <a:bodyPr/>
          <a:lstStyle/>
          <a:p>
            <a:r>
              <a:rPr lang="en-US" dirty="0"/>
              <a:t>LRU and LRU approximation (Clock)</a:t>
            </a:r>
          </a:p>
        </p:txBody>
      </p:sp>
      <p:sp>
        <p:nvSpPr>
          <p:cNvPr id="3" name="Content Placeholder 2">
            <a:extLst>
              <a:ext uri="{FF2B5EF4-FFF2-40B4-BE49-F238E27FC236}">
                <a16:creationId xmlns:a16="http://schemas.microsoft.com/office/drawing/2014/main" id="{5D9ECA70-845C-9F4D-3DC8-E5370639CF51}"/>
              </a:ext>
            </a:extLst>
          </p:cNvPr>
          <p:cNvSpPr>
            <a:spLocks noGrp="1"/>
          </p:cNvSpPr>
          <p:nvPr>
            <p:ph idx="1"/>
          </p:nvPr>
        </p:nvSpPr>
        <p:spPr/>
        <p:txBody>
          <a:bodyPr/>
          <a:lstStyle/>
          <a:p>
            <a:pPr marL="0" indent="0">
              <a:buNone/>
            </a:pPr>
            <a:r>
              <a:rPr lang="en-US" dirty="0"/>
              <a:t>Implementing  LRU requires maintaining a list of page frames in last-referenced order, which is a complex data structure updated with every page reference</a:t>
            </a:r>
          </a:p>
          <a:p>
            <a:pPr marL="0" indent="0">
              <a:buNone/>
            </a:pPr>
            <a:endParaRPr lang="en-US" dirty="0"/>
          </a:p>
          <a:p>
            <a:pPr marL="0" indent="0">
              <a:buNone/>
            </a:pPr>
            <a:r>
              <a:rPr lang="en-US" dirty="0"/>
              <a:t>An approximation: </a:t>
            </a:r>
            <a:r>
              <a:rPr lang="en-US" i="1" dirty="0"/>
              <a:t>Clock</a:t>
            </a:r>
          </a:p>
          <a:p>
            <a:r>
              <a:rPr lang="en-US" dirty="0"/>
              <a:t>Periodically scan page frames:</a:t>
            </a:r>
          </a:p>
          <a:p>
            <a:pPr lvl="1"/>
            <a:r>
              <a:rPr lang="en-US" dirty="0"/>
              <a:t>Writes dirty pages to backing store</a:t>
            </a:r>
          </a:p>
          <a:p>
            <a:pPr lvl="1"/>
            <a:r>
              <a:rPr lang="en-US" dirty="0"/>
              <a:t>Marks page as unreferenced</a:t>
            </a:r>
          </a:p>
          <a:p>
            <a:pPr lvl="1"/>
            <a:r>
              <a:rPr lang="en-US" dirty="0"/>
              <a:t>Replace pages that have not been recently referenced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24006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F6C08-6327-6582-B14A-5682256C5D34}"/>
              </a:ext>
            </a:extLst>
          </p:cNvPr>
          <p:cNvSpPr>
            <a:spLocks noGrp="1"/>
          </p:cNvSpPr>
          <p:nvPr>
            <p:ph type="title"/>
          </p:nvPr>
        </p:nvSpPr>
        <p:spPr/>
        <p:txBody>
          <a:bodyPr/>
          <a:lstStyle/>
          <a:p>
            <a:r>
              <a:rPr lang="en-US" dirty="0"/>
              <a:t>LRU approximation (Clock) 1</a:t>
            </a:r>
          </a:p>
        </p:txBody>
      </p:sp>
      <p:sp>
        <p:nvSpPr>
          <p:cNvPr id="3" name="Content Placeholder 2">
            <a:extLst>
              <a:ext uri="{FF2B5EF4-FFF2-40B4-BE49-F238E27FC236}">
                <a16:creationId xmlns:a16="http://schemas.microsoft.com/office/drawing/2014/main" id="{573449BE-C525-F6F7-5152-881946CF82DE}"/>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pPr marL="0" indent="0">
              <a:buNone/>
            </a:pPr>
            <a:endParaRPr lang="en-US" dirty="0"/>
          </a:p>
          <a:p>
            <a:pPr marL="0" indent="0">
              <a:buNone/>
            </a:pPr>
            <a:endParaRPr lang="en-US" dirty="0"/>
          </a:p>
          <a:p>
            <a:pPr marL="0" indent="0">
              <a:buNone/>
            </a:pPr>
            <a:endParaRPr lang="en-US" dirty="0"/>
          </a:p>
        </p:txBody>
      </p:sp>
      <p:grpSp>
        <p:nvGrpSpPr>
          <p:cNvPr id="6" name="Group 5" descr="Page frame table, with clock hand ready to move forward.">
            <a:extLst>
              <a:ext uri="{FF2B5EF4-FFF2-40B4-BE49-F238E27FC236}">
                <a16:creationId xmlns:a16="http://schemas.microsoft.com/office/drawing/2014/main" id="{248934BC-2871-BB33-AA9D-CC2AE549A91B}"/>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2776306D-9670-051C-C5CF-F9DFF20DECC3}"/>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0C714905-E64D-BB84-27AF-7B44292F7556}"/>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C881BCE5-A23E-B8AF-950B-1071C678DADC}"/>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9F806E5B-4445-ABD6-438F-80F3E0E4B1C4}"/>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478BE7F2-88B8-BB79-9939-CD878EAB8D15}"/>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A501FC85-F81F-896E-934C-6424BFB7DDC4}"/>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F4E17A87-FDE4-244F-B306-CC8507C997A9}"/>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1D997C7E-C7DB-3D09-5A6F-CCC73848A2C3}"/>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A12D2633-B822-01CF-EC80-F1014076298A}"/>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4" name="Rectangle 13">
              <a:extLst>
                <a:ext uri="{FF2B5EF4-FFF2-40B4-BE49-F238E27FC236}">
                  <a16:creationId xmlns:a16="http://schemas.microsoft.com/office/drawing/2014/main" id="{9ACC9071-EE11-73FD-2FE8-4052FDFE2D9C}"/>
                </a:ext>
              </a:extLst>
            </p:cNvPr>
            <p:cNvSpPr/>
            <p:nvPr/>
          </p:nvSpPr>
          <p:spPr>
            <a:xfrm>
              <a:off x="10975614" y="393443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5" name="Rectangle 14">
              <a:extLst>
                <a:ext uri="{FF2B5EF4-FFF2-40B4-BE49-F238E27FC236}">
                  <a16:creationId xmlns:a16="http://schemas.microsoft.com/office/drawing/2014/main" id="{9D80F898-2486-5B49-C4D7-C2A5DF26132B}"/>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6" name="Rectangle 15">
              <a:extLst>
                <a:ext uri="{FF2B5EF4-FFF2-40B4-BE49-F238E27FC236}">
                  <a16:creationId xmlns:a16="http://schemas.microsoft.com/office/drawing/2014/main" id="{CFF9A812-25E0-1972-13EA-118E40DC1B24}"/>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C426CE42-D4F6-DEF6-6AD8-0E20A974B1FC}"/>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E8607C00-955D-E46F-FAAE-52E28D0BB412}"/>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17450033-D789-85EE-999D-4DC5315496F0}"/>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929B06C8-7264-073E-46BB-7FEE8C6CE43A}"/>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D82A12B3-C13A-254F-EF9B-B58CE28097E1}"/>
                </a:ext>
              </a:extLst>
            </p:cNvPr>
            <p:cNvCxnSpPr/>
            <p:nvPr/>
          </p:nvCxnSpPr>
          <p:spPr>
            <a:xfrm flipV="1">
              <a:off x="8686800" y="2983318"/>
              <a:ext cx="1141242" cy="1105105"/>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40E8ABE8-D940-72B6-82A9-0513F648B950}"/>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448410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16F1-647C-7A21-C660-E96D4E8A7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B0DA4-17EE-35F8-D327-150AD25A570D}"/>
              </a:ext>
            </a:extLst>
          </p:cNvPr>
          <p:cNvSpPr>
            <a:spLocks noGrp="1"/>
          </p:cNvSpPr>
          <p:nvPr>
            <p:ph type="title"/>
          </p:nvPr>
        </p:nvSpPr>
        <p:spPr/>
        <p:txBody>
          <a:bodyPr/>
          <a:lstStyle/>
          <a:p>
            <a:r>
              <a:rPr lang="en-US" dirty="0"/>
              <a:t>LRU approximation (Clock) 2</a:t>
            </a:r>
          </a:p>
        </p:txBody>
      </p:sp>
      <p:sp>
        <p:nvSpPr>
          <p:cNvPr id="3" name="Content Placeholder 2">
            <a:extLst>
              <a:ext uri="{FF2B5EF4-FFF2-40B4-BE49-F238E27FC236}">
                <a16:creationId xmlns:a16="http://schemas.microsoft.com/office/drawing/2014/main" id="{249AECB6-2D5C-FD7E-8E8E-4DDC51755BC7}"/>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b="1" dirty="0">
                <a:solidFill>
                  <a:srgbClr val="FF0000"/>
                </a:solidFill>
              </a:rPr>
              <a:t>If page frame is not dirty, mark as unreferenced</a:t>
            </a:r>
          </a:p>
          <a:p>
            <a:pPr marL="0" indent="0">
              <a:buNone/>
            </a:pPr>
            <a:endParaRPr lang="en-US" dirty="0"/>
          </a:p>
          <a:p>
            <a:pPr marL="0" indent="0">
              <a:buNone/>
            </a:pPr>
            <a:endParaRPr lang="en-US" dirty="0"/>
          </a:p>
        </p:txBody>
      </p:sp>
      <p:grpSp>
        <p:nvGrpSpPr>
          <p:cNvPr id="6" name="Group 5" descr="Page frame table. Clock hand moves to a page frame that is referenced and not dirty">
            <a:extLst>
              <a:ext uri="{FF2B5EF4-FFF2-40B4-BE49-F238E27FC236}">
                <a16:creationId xmlns:a16="http://schemas.microsoft.com/office/drawing/2014/main" id="{D94C1894-E237-771F-EB7F-ABF2274806BA}"/>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AD845417-277A-A356-A042-2CF715B1F6CB}"/>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4E157540-4BE7-AA6C-8252-B521EF8F5790}"/>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FEDDA41E-2F10-F73B-3226-83622642AFC4}"/>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5BE64BF2-CFE8-EEE1-29C0-A92FBE0636E1}"/>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8CCCEA0E-E415-4D67-239A-BCB7900404E4}"/>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227A6515-2888-685E-D9C5-BD637C64065F}"/>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835A3C01-8EB4-CAA2-F35C-D8E6D1472D2F}"/>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5FD233A7-EC1F-5EDE-4522-B7CDA81E821D}"/>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8AB0E1A4-7578-3B73-B7D3-84150D7616ED}"/>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4" name="Rectangle 13">
              <a:extLst>
                <a:ext uri="{FF2B5EF4-FFF2-40B4-BE49-F238E27FC236}">
                  <a16:creationId xmlns:a16="http://schemas.microsoft.com/office/drawing/2014/main" id="{8F0CDD5B-AB5B-A6A9-C584-DD3A8910D8EB}"/>
                </a:ext>
              </a:extLst>
            </p:cNvPr>
            <p:cNvSpPr/>
            <p:nvPr/>
          </p:nvSpPr>
          <p:spPr>
            <a:xfrm>
              <a:off x="10975614" y="393443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5" name="Rectangle 14">
              <a:extLst>
                <a:ext uri="{FF2B5EF4-FFF2-40B4-BE49-F238E27FC236}">
                  <a16:creationId xmlns:a16="http://schemas.microsoft.com/office/drawing/2014/main" id="{49F8D008-9343-B203-DC1F-15CDEE729F25}"/>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6" name="Rectangle 15">
              <a:extLst>
                <a:ext uri="{FF2B5EF4-FFF2-40B4-BE49-F238E27FC236}">
                  <a16:creationId xmlns:a16="http://schemas.microsoft.com/office/drawing/2014/main" id="{AEE83431-E2AA-378E-D853-6751A42318B0}"/>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62D39A7F-BC52-797B-EA42-CF7FD1C7D980}"/>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B73BA49B-C9A6-F00D-53BF-9B0D13E5AA00}"/>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414E96B6-ECC0-0E6F-907F-D9B696C49E3C}"/>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3C889939-6A20-4BAB-C0DD-FF35386949A9}"/>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9D5795BA-AC5B-E7B0-2F43-BEEAC029EE41}"/>
                </a:ext>
              </a:extLst>
            </p:cNvPr>
            <p:cNvCxnSpPr>
              <a:cxnSpLocks/>
              <a:endCxn id="15" idx="1"/>
            </p:cNvCxnSpPr>
            <p:nvPr/>
          </p:nvCxnSpPr>
          <p:spPr>
            <a:xfrm flipV="1">
              <a:off x="8686800" y="3452566"/>
              <a:ext cx="1904766" cy="635857"/>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B86199FD-E325-62C3-8840-6ACAEE1F364F}"/>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6054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FFB1F-ABA3-2955-19AD-422E5C5C1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404EA-8833-0246-8E0D-A88704FA99F8}"/>
              </a:ext>
            </a:extLst>
          </p:cNvPr>
          <p:cNvSpPr>
            <a:spLocks noGrp="1"/>
          </p:cNvSpPr>
          <p:nvPr>
            <p:ph type="title"/>
          </p:nvPr>
        </p:nvSpPr>
        <p:spPr/>
        <p:txBody>
          <a:bodyPr/>
          <a:lstStyle/>
          <a:p>
            <a:r>
              <a:rPr lang="en-US" dirty="0"/>
              <a:t>LRU approximation (Clock) 3</a:t>
            </a:r>
          </a:p>
        </p:txBody>
      </p:sp>
      <p:sp>
        <p:nvSpPr>
          <p:cNvPr id="3" name="Content Placeholder 2">
            <a:extLst>
              <a:ext uri="{FF2B5EF4-FFF2-40B4-BE49-F238E27FC236}">
                <a16:creationId xmlns:a16="http://schemas.microsoft.com/office/drawing/2014/main" id="{44F9A95D-CD4D-2D6D-3508-496EDC8FBD94}"/>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pPr marL="0" indent="0">
              <a:buNone/>
            </a:pPr>
            <a:endParaRPr lang="en-US" dirty="0"/>
          </a:p>
          <a:p>
            <a:pPr marL="0" indent="0">
              <a:buNone/>
            </a:pPr>
            <a:endParaRPr lang="en-US" dirty="0"/>
          </a:p>
        </p:txBody>
      </p:sp>
      <p:grpSp>
        <p:nvGrpSpPr>
          <p:cNvPr id="6" name="Group 5" descr="Clock sets this page frame table entry to not referenced.">
            <a:extLst>
              <a:ext uri="{FF2B5EF4-FFF2-40B4-BE49-F238E27FC236}">
                <a16:creationId xmlns:a16="http://schemas.microsoft.com/office/drawing/2014/main" id="{15402C4C-8299-441A-3781-0131ECDF542A}"/>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3DED83DE-1BDA-C07E-5A80-F5930644473E}"/>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2350AFD4-640C-8EA5-52DB-D72EEBF78EBF}"/>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57CDFB99-CC38-9AE8-DE73-17979DCE87DF}"/>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87864448-8258-01BF-A2F1-2B08DDDB1704}"/>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D0D8A002-C9C7-B709-85B5-035B0C79BD5D}"/>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4A559B17-0D85-6A0A-6BEB-9BCAAA34AAC4}"/>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10BCA4BE-2C74-F3B3-6ADA-A16CC80477C9}"/>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1CACFD8D-736B-795B-7D94-8134F51356DC}"/>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32C78E2C-1187-3FCB-4DA8-6868BEB51542}"/>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4" name="Rectangle 13">
              <a:extLst>
                <a:ext uri="{FF2B5EF4-FFF2-40B4-BE49-F238E27FC236}">
                  <a16:creationId xmlns:a16="http://schemas.microsoft.com/office/drawing/2014/main" id="{715C37C6-0982-20CA-98BF-14DEA673EAB8}"/>
                </a:ext>
              </a:extLst>
            </p:cNvPr>
            <p:cNvSpPr/>
            <p:nvPr/>
          </p:nvSpPr>
          <p:spPr>
            <a:xfrm>
              <a:off x="10975614" y="393443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5" name="Rectangle 14">
              <a:extLst>
                <a:ext uri="{FF2B5EF4-FFF2-40B4-BE49-F238E27FC236}">
                  <a16:creationId xmlns:a16="http://schemas.microsoft.com/office/drawing/2014/main" id="{970C70F1-CE49-71D9-D647-C3122B09787D}"/>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rPr>
                <a:t>¬</a:t>
              </a:r>
              <a:r>
                <a:rPr lang="en-US" sz="1200" b="1" dirty="0" err="1">
                  <a:solidFill>
                    <a:srgbClr val="FF0000"/>
                  </a:solidFill>
                </a:rPr>
                <a:t>ref,¬dirty</a:t>
              </a:r>
              <a:r>
                <a:rPr lang="en-US" sz="1200" b="1" dirty="0">
                  <a:solidFill>
                    <a:srgbClr val="FF0000"/>
                  </a:solidFill>
                </a:rPr>
                <a:t> </a:t>
              </a:r>
            </a:p>
          </p:txBody>
        </p:sp>
        <p:sp>
          <p:nvSpPr>
            <p:cNvPr id="16" name="Rectangle 15">
              <a:extLst>
                <a:ext uri="{FF2B5EF4-FFF2-40B4-BE49-F238E27FC236}">
                  <a16:creationId xmlns:a16="http://schemas.microsoft.com/office/drawing/2014/main" id="{74257585-36DF-9AFA-4079-49D44E407ADE}"/>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64E0004F-FF3C-CC58-A0F0-F02042BE6A59}"/>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2107F475-E401-3EB5-6C68-2136DE6745EF}"/>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F33F68D6-3F12-F006-8856-8D22D7A9F393}"/>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C761978F-948A-9A4D-D476-C8FC72D204D3}"/>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CAE4897C-9C81-0A70-C0A7-A2B709D9E296}"/>
                </a:ext>
              </a:extLst>
            </p:cNvPr>
            <p:cNvCxnSpPr>
              <a:cxnSpLocks/>
              <a:endCxn id="15" idx="1"/>
            </p:cNvCxnSpPr>
            <p:nvPr/>
          </p:nvCxnSpPr>
          <p:spPr>
            <a:xfrm flipV="1">
              <a:off x="8686800" y="3452566"/>
              <a:ext cx="1904766" cy="635857"/>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E8F7A101-0407-F31D-D677-62456462A37F}"/>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0099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69F97-0E01-A78B-773A-5BFE8560B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E19E4-0737-4287-9DEC-8D65AB6C117C}"/>
              </a:ext>
            </a:extLst>
          </p:cNvPr>
          <p:cNvSpPr>
            <a:spLocks noGrp="1"/>
          </p:cNvSpPr>
          <p:nvPr>
            <p:ph type="title"/>
          </p:nvPr>
        </p:nvSpPr>
        <p:spPr/>
        <p:txBody>
          <a:bodyPr/>
          <a:lstStyle/>
          <a:p>
            <a:r>
              <a:rPr lang="en-US" dirty="0"/>
              <a:t>LRU approximation (Clock) 4</a:t>
            </a:r>
          </a:p>
        </p:txBody>
      </p:sp>
      <p:sp>
        <p:nvSpPr>
          <p:cNvPr id="3" name="Content Placeholder 2">
            <a:extLst>
              <a:ext uri="{FF2B5EF4-FFF2-40B4-BE49-F238E27FC236}">
                <a16:creationId xmlns:a16="http://schemas.microsoft.com/office/drawing/2014/main" id="{C34C698F-0C5F-831F-0B9D-CC0ACDE70C08}"/>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b="1" dirty="0">
                <a:solidFill>
                  <a:srgbClr val="FF0000"/>
                </a:solidFill>
              </a:rPr>
              <a:t>If page frame is dirty, schedule writing back to backing store</a:t>
            </a:r>
            <a:endParaRPr lang="en-US" dirty="0">
              <a:solidFill>
                <a:srgbClr val="FF0000"/>
              </a:solidFill>
            </a:endParaRPr>
          </a:p>
          <a:p>
            <a:pPr marL="0" indent="0">
              <a:buNone/>
            </a:pPr>
            <a:endParaRPr lang="en-US" dirty="0"/>
          </a:p>
        </p:txBody>
      </p:sp>
      <p:grpSp>
        <p:nvGrpSpPr>
          <p:cNvPr id="6" name="Group 5" descr="Clock hand moves to a page frame that is referenced and dirty">
            <a:extLst>
              <a:ext uri="{FF2B5EF4-FFF2-40B4-BE49-F238E27FC236}">
                <a16:creationId xmlns:a16="http://schemas.microsoft.com/office/drawing/2014/main" id="{470E9C5C-43D6-CCFA-0098-39393A07F245}"/>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A68153F6-5196-7533-ECF7-799F5F78BD64}"/>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758299B6-9163-A243-A759-B08D9FF96591}"/>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2DF0C7F7-56F7-890C-112C-20C844B9DE4E}"/>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E2D906DC-93B0-3C08-05B0-BC6556DBEF91}"/>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A78B6E3D-E37A-D7DC-9A9B-8EE951BBA025}"/>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1634CBE4-385A-8F5E-B700-5EF7E77F1EF9}"/>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57E5112F-BC7A-C632-8867-DA2F505FCB3F}"/>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6D49DEF4-F26E-0D33-A8DD-DDF3186C3573}"/>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2B64C598-AB32-FA9A-EC4E-5099969796AF}"/>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4" name="Rectangle 13">
              <a:extLst>
                <a:ext uri="{FF2B5EF4-FFF2-40B4-BE49-F238E27FC236}">
                  <a16:creationId xmlns:a16="http://schemas.microsoft.com/office/drawing/2014/main" id="{6511C8D8-458A-9A19-266D-9B10147BF1E0}"/>
                </a:ext>
              </a:extLst>
            </p:cNvPr>
            <p:cNvSpPr/>
            <p:nvPr/>
          </p:nvSpPr>
          <p:spPr>
            <a:xfrm>
              <a:off x="10975614" y="393443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5" name="Rectangle 14">
              <a:extLst>
                <a:ext uri="{FF2B5EF4-FFF2-40B4-BE49-F238E27FC236}">
                  <a16:creationId xmlns:a16="http://schemas.microsoft.com/office/drawing/2014/main" id="{8F9FB79D-B4C9-26E0-1479-3FBFE9A738FA}"/>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6" name="Rectangle 15">
              <a:extLst>
                <a:ext uri="{FF2B5EF4-FFF2-40B4-BE49-F238E27FC236}">
                  <a16:creationId xmlns:a16="http://schemas.microsoft.com/office/drawing/2014/main" id="{EFD7177D-977F-02EF-783D-07348059AE3F}"/>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24F9B84C-C060-CF8B-DDF3-B3D8B9DEF391}"/>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DA06DE2C-CCA4-FB9A-0E8D-6043DB4BFBEA}"/>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B33A6A46-BB7C-F6C5-45AC-62F4184F7EAC}"/>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EB57BDEA-077E-96C8-48ED-EDA03E21D47F}"/>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50A946DD-E7BA-AD42-3339-DB6FD6E97552}"/>
                </a:ext>
              </a:extLst>
            </p:cNvPr>
            <p:cNvCxnSpPr>
              <a:cxnSpLocks/>
              <a:endCxn id="14" idx="1"/>
            </p:cNvCxnSpPr>
            <p:nvPr/>
          </p:nvCxnSpPr>
          <p:spPr>
            <a:xfrm>
              <a:off x="8686800" y="4088423"/>
              <a:ext cx="2288814" cy="1"/>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44BAEFBE-EDB6-8948-5643-B2C71C9BCA0F}"/>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66076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2685C-E49D-4344-CD36-DDD7BB898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E42C0-8C22-F69C-2BCB-C2C4691F4C3E}"/>
              </a:ext>
            </a:extLst>
          </p:cNvPr>
          <p:cNvSpPr>
            <a:spLocks noGrp="1"/>
          </p:cNvSpPr>
          <p:nvPr>
            <p:ph type="title"/>
          </p:nvPr>
        </p:nvSpPr>
        <p:spPr/>
        <p:txBody>
          <a:bodyPr/>
          <a:lstStyle/>
          <a:p>
            <a:r>
              <a:rPr lang="en-US" dirty="0"/>
              <a:t>LRU approximation (Clock) 5</a:t>
            </a:r>
          </a:p>
        </p:txBody>
      </p:sp>
      <p:sp>
        <p:nvSpPr>
          <p:cNvPr id="3" name="Content Placeholder 2">
            <a:extLst>
              <a:ext uri="{FF2B5EF4-FFF2-40B4-BE49-F238E27FC236}">
                <a16:creationId xmlns:a16="http://schemas.microsoft.com/office/drawing/2014/main" id="{9B3CE36E-4426-5AE8-BB30-7D9B3EFD3317}"/>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dirty="0"/>
              <a:t>If page frame is dirty, schedule writing back to backing store</a:t>
            </a:r>
          </a:p>
          <a:p>
            <a:pPr marL="0" indent="0">
              <a:buNone/>
            </a:pPr>
            <a:endParaRPr lang="en-US" dirty="0"/>
          </a:p>
        </p:txBody>
      </p:sp>
      <p:grpSp>
        <p:nvGrpSpPr>
          <p:cNvPr id="6" name="Group 5" descr="Clock algorithm schedules this page frame to be written to backing store">
            <a:extLst>
              <a:ext uri="{FF2B5EF4-FFF2-40B4-BE49-F238E27FC236}">
                <a16:creationId xmlns:a16="http://schemas.microsoft.com/office/drawing/2014/main" id="{18F39561-6D58-A5CC-CC25-6268C041D7A8}"/>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15D02BFF-411E-B5B3-BA8E-15139DC37E3D}"/>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5A3BCD38-142F-13E7-81BE-CEF72F46F414}"/>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764540AC-625D-1B8E-9CAB-FEEAC2C67DB6}"/>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5EABAA50-9B72-2FC4-8196-D9C060509F37}"/>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73D83709-5C38-1579-EA16-DA711D79F493}"/>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4A3171FB-1486-3260-83FF-4C79CFAE5CC5}"/>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5EF68408-3D17-E602-D62C-B2AB87C540D3}"/>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8B7EBF4B-24FE-54BC-109C-DCF967BF1D83}"/>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DBA0AB7B-3984-F2A4-4037-D8F781B2D469}"/>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4" name="Rectangle 13">
              <a:extLst>
                <a:ext uri="{FF2B5EF4-FFF2-40B4-BE49-F238E27FC236}">
                  <a16:creationId xmlns:a16="http://schemas.microsoft.com/office/drawing/2014/main" id="{89B160EB-0745-09EF-136B-4D05B74DAE1D}"/>
                </a:ext>
              </a:extLst>
            </p:cNvPr>
            <p:cNvSpPr/>
            <p:nvPr/>
          </p:nvSpPr>
          <p:spPr>
            <a:xfrm>
              <a:off x="10975614" y="3934436"/>
              <a:ext cx="914400" cy="30797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5" name="Rectangle 14">
              <a:extLst>
                <a:ext uri="{FF2B5EF4-FFF2-40B4-BE49-F238E27FC236}">
                  <a16:creationId xmlns:a16="http://schemas.microsoft.com/office/drawing/2014/main" id="{5BB10BAE-40F7-8A29-E908-0CCAC595089D}"/>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6" name="Rectangle 15">
              <a:extLst>
                <a:ext uri="{FF2B5EF4-FFF2-40B4-BE49-F238E27FC236}">
                  <a16:creationId xmlns:a16="http://schemas.microsoft.com/office/drawing/2014/main" id="{ACA51550-8400-C265-3C35-CA59B23709AC}"/>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C4AA88E7-94F2-912F-6D03-522B7F5C4CF0}"/>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BA9053BF-1540-0AD6-D4A3-87ACF451A619}"/>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8221B0E2-8D46-13FA-C29E-B93C8243C8A7}"/>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28834A00-CC29-72D3-FC89-94600194972C}"/>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70D53793-04ED-F714-F0BD-64D466D7CC56}"/>
                </a:ext>
              </a:extLst>
            </p:cNvPr>
            <p:cNvCxnSpPr>
              <a:cxnSpLocks/>
              <a:endCxn id="14" idx="1"/>
            </p:cNvCxnSpPr>
            <p:nvPr/>
          </p:nvCxnSpPr>
          <p:spPr>
            <a:xfrm>
              <a:off x="8686800" y="4088423"/>
              <a:ext cx="2288814" cy="1"/>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9B8E5825-BABE-A090-395A-88BFA59B8B3D}"/>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41019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33D8-EB6D-E964-D22F-BDFEC8C9E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99CE0-C991-DFAC-DA35-39CEC2274E86}"/>
              </a:ext>
            </a:extLst>
          </p:cNvPr>
          <p:cNvSpPr>
            <a:spLocks noGrp="1"/>
          </p:cNvSpPr>
          <p:nvPr>
            <p:ph type="title"/>
          </p:nvPr>
        </p:nvSpPr>
        <p:spPr/>
        <p:txBody>
          <a:bodyPr/>
          <a:lstStyle/>
          <a:p>
            <a:r>
              <a:rPr lang="en-US" dirty="0"/>
              <a:t>LRU approximation (Clock) 7</a:t>
            </a:r>
          </a:p>
        </p:txBody>
      </p:sp>
      <p:sp>
        <p:nvSpPr>
          <p:cNvPr id="3" name="Content Placeholder 2">
            <a:extLst>
              <a:ext uri="{FF2B5EF4-FFF2-40B4-BE49-F238E27FC236}">
                <a16:creationId xmlns:a16="http://schemas.microsoft.com/office/drawing/2014/main" id="{73168350-C32D-23E0-A241-AB5AEFF07C79}"/>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dirty="0"/>
              <a:t>If page frame is dirty, schedule writing back to backing store</a:t>
            </a:r>
          </a:p>
        </p:txBody>
      </p:sp>
      <p:grpSp>
        <p:nvGrpSpPr>
          <p:cNvPr id="11" name="Group 10" descr="The page frame table entry for this page frame is updated indicating the page was referenced. Notice that this is the page frame that Clock had just set to not referenced.">
            <a:extLst>
              <a:ext uri="{FF2B5EF4-FFF2-40B4-BE49-F238E27FC236}">
                <a16:creationId xmlns:a16="http://schemas.microsoft.com/office/drawing/2014/main" id="{E1FD2859-38F0-9682-BAB8-D1354184A3F6}"/>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7C97D5AE-A2F2-3C8D-16FD-D2E5173ACEAA}"/>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C45F1A5C-BDB3-595E-4258-590D93B9DFA6}"/>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3EFE7ECF-6E3D-8730-F23B-593E2A909CB2}"/>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DD28CA19-2B37-4D8A-DB1F-9B0C5954004C}"/>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7057FE58-3A11-4DE2-DA5C-F3059B325C6C}"/>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F6B5BD24-A795-2F02-1198-5C6AEFD1E794}"/>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D3412C66-9F30-97B6-38CC-F524CC710324}"/>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074D4D97-C2A6-044B-218D-44C4F43BAEF1}"/>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5" name="Rectangle 14">
              <a:extLst>
                <a:ext uri="{FF2B5EF4-FFF2-40B4-BE49-F238E27FC236}">
                  <a16:creationId xmlns:a16="http://schemas.microsoft.com/office/drawing/2014/main" id="{718ABFDC-14B9-E342-D770-5ED45FBDC460}"/>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rPr>
                <a:t>ref, ¬dirty</a:t>
              </a:r>
            </a:p>
          </p:txBody>
        </p:sp>
        <p:sp>
          <p:nvSpPr>
            <p:cNvPr id="16" name="Rectangle 15">
              <a:extLst>
                <a:ext uri="{FF2B5EF4-FFF2-40B4-BE49-F238E27FC236}">
                  <a16:creationId xmlns:a16="http://schemas.microsoft.com/office/drawing/2014/main" id="{46C8AFCC-A8EA-E2FE-D90F-F1E39F303A62}"/>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364C33F1-DC6D-B617-74FD-3578B4BD6CF8}"/>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C6C95266-452A-3F1E-419F-53170A89F3FA}"/>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E9E9912E-F5B1-673C-6955-BB3A78EE7BAB}"/>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DD40BC07-7074-DED7-E601-1E272C257954}"/>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32" name="Oval 31">
              <a:extLst>
                <a:ext uri="{FF2B5EF4-FFF2-40B4-BE49-F238E27FC236}">
                  <a16:creationId xmlns:a16="http://schemas.microsoft.com/office/drawing/2014/main" id="{B7536A7F-6DBE-A251-0F12-B5E36FEACA30}"/>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1313E84-CB53-46DD-9C18-AEFB948EA7A7}"/>
                </a:ext>
              </a:extLst>
            </p:cNvPr>
            <p:cNvSpPr/>
            <p:nvPr/>
          </p:nvSpPr>
          <p:spPr>
            <a:xfrm>
              <a:off x="10975614" y="3934436"/>
              <a:ext cx="914400" cy="30797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cxnSp>
          <p:nvCxnSpPr>
            <p:cNvPr id="21" name="Straight Arrow Connector 20">
              <a:extLst>
                <a:ext uri="{FF2B5EF4-FFF2-40B4-BE49-F238E27FC236}">
                  <a16:creationId xmlns:a16="http://schemas.microsoft.com/office/drawing/2014/main" id="{9133AF51-9899-F19F-792E-7BD97CD51A73}"/>
                </a:ext>
              </a:extLst>
            </p:cNvPr>
            <p:cNvCxnSpPr>
              <a:cxnSpLocks/>
            </p:cNvCxnSpPr>
            <p:nvPr/>
          </p:nvCxnSpPr>
          <p:spPr>
            <a:xfrm>
              <a:off x="8686800" y="4088423"/>
              <a:ext cx="2288814" cy="1"/>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D59BD301-5E9F-C999-8258-AE44CC72BF38}"/>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grpSp>
      <p:sp>
        <p:nvSpPr>
          <p:cNvPr id="22" name="TextBox 21">
            <a:extLst>
              <a:ext uri="{FF2B5EF4-FFF2-40B4-BE49-F238E27FC236}">
                <a16:creationId xmlns:a16="http://schemas.microsoft.com/office/drawing/2014/main" id="{7C8966C0-D3D7-7B6E-AE79-94FA2C8D5B49}"/>
              </a:ext>
            </a:extLst>
          </p:cNvPr>
          <p:cNvSpPr txBox="1"/>
          <p:nvPr/>
        </p:nvSpPr>
        <p:spPr>
          <a:xfrm>
            <a:off x="10264723" y="936480"/>
            <a:ext cx="1694739" cy="646331"/>
          </a:xfrm>
          <a:prstGeom prst="rect">
            <a:avLst/>
          </a:prstGeom>
          <a:noFill/>
        </p:spPr>
        <p:txBody>
          <a:bodyPr wrap="square" rtlCol="0">
            <a:spAutoFit/>
          </a:bodyPr>
          <a:lstStyle/>
          <a:p>
            <a:pPr algn="ctr"/>
            <a:r>
              <a:rPr lang="en-US" dirty="0"/>
              <a:t>page in this frame is read </a:t>
            </a:r>
          </a:p>
        </p:txBody>
      </p:sp>
      <p:cxnSp>
        <p:nvCxnSpPr>
          <p:cNvPr id="23" name="Straight Arrow Connector 22">
            <a:extLst>
              <a:ext uri="{FF2B5EF4-FFF2-40B4-BE49-F238E27FC236}">
                <a16:creationId xmlns:a16="http://schemas.microsoft.com/office/drawing/2014/main" id="{A5D623F6-F8DA-6768-CA0D-888637C01229}"/>
              </a:ext>
            </a:extLst>
          </p:cNvPr>
          <p:cNvCxnSpPr>
            <a:cxnSpLocks/>
            <a:stCxn id="22" idx="2"/>
          </p:cNvCxnSpPr>
          <p:nvPr/>
        </p:nvCxnSpPr>
        <p:spPr>
          <a:xfrm flipH="1">
            <a:off x="11048766" y="1582811"/>
            <a:ext cx="63327" cy="171576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8095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85261-409F-5EBE-D8CB-23AE5EFC0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40BA9-CB03-AAD4-0DB4-22DEB2D8DCAA}"/>
              </a:ext>
            </a:extLst>
          </p:cNvPr>
          <p:cNvSpPr>
            <a:spLocks noGrp="1"/>
          </p:cNvSpPr>
          <p:nvPr>
            <p:ph type="title"/>
          </p:nvPr>
        </p:nvSpPr>
        <p:spPr/>
        <p:txBody>
          <a:bodyPr/>
          <a:lstStyle/>
          <a:p>
            <a:r>
              <a:rPr lang="en-US" dirty="0"/>
              <a:t>LRU approximation (Clock) 9</a:t>
            </a:r>
          </a:p>
        </p:txBody>
      </p:sp>
      <p:sp>
        <p:nvSpPr>
          <p:cNvPr id="3" name="Content Placeholder 2">
            <a:extLst>
              <a:ext uri="{FF2B5EF4-FFF2-40B4-BE49-F238E27FC236}">
                <a16:creationId xmlns:a16="http://schemas.microsoft.com/office/drawing/2014/main" id="{14CD1934-CF4F-F1BE-38C6-7ECF58816810}"/>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dirty="0"/>
              <a:t>If page frame is dirty, schedule writing back to backing store</a:t>
            </a:r>
          </a:p>
        </p:txBody>
      </p:sp>
      <p:grpSp>
        <p:nvGrpSpPr>
          <p:cNvPr id="14" name="Group 13" descr="The page frame table entry is updated indicating that the page is referenced and dirty">
            <a:extLst>
              <a:ext uri="{FF2B5EF4-FFF2-40B4-BE49-F238E27FC236}">
                <a16:creationId xmlns:a16="http://schemas.microsoft.com/office/drawing/2014/main" id="{95FB6F74-48B4-524C-EE80-2BB62FD267B4}"/>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620D4499-B113-A3F4-F8F0-D0337716CC82}"/>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6C244F0A-072D-5C7A-AFC6-2D1EB41FC7E8}"/>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2796A741-B4AB-5F62-3F4A-BB54A64ED646}"/>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C228AAD1-EEE1-B40E-FBE0-283EFD2BB242}"/>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3D6E8D27-66C5-6494-4F69-40CB8D7F77F3}"/>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ED740C9C-B5A7-1A98-0879-41F8FD4DC926}"/>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BE140A55-ACDE-C504-0AD3-42F1AF08A11F}"/>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rPr>
                <a:t>ref, dirty</a:t>
              </a:r>
            </a:p>
          </p:txBody>
        </p:sp>
        <p:sp>
          <p:nvSpPr>
            <p:cNvPr id="12" name="Rectangle 11">
              <a:extLst>
                <a:ext uri="{FF2B5EF4-FFF2-40B4-BE49-F238E27FC236}">
                  <a16:creationId xmlns:a16="http://schemas.microsoft.com/office/drawing/2014/main" id="{1041BDC5-A2DD-C60E-6DCC-E43FC33471AD}"/>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E4113C3D-B848-5ABA-11B7-3928F4AE8555}"/>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5" name="Rectangle 14">
              <a:extLst>
                <a:ext uri="{FF2B5EF4-FFF2-40B4-BE49-F238E27FC236}">
                  <a16:creationId xmlns:a16="http://schemas.microsoft.com/office/drawing/2014/main" id="{2083FACC-8A7B-729C-BA6B-47F129ED37EF}"/>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6" name="Rectangle 15">
              <a:extLst>
                <a:ext uri="{FF2B5EF4-FFF2-40B4-BE49-F238E27FC236}">
                  <a16:creationId xmlns:a16="http://schemas.microsoft.com/office/drawing/2014/main" id="{95F6B0C4-8C53-EE9B-EED1-6186C5F32991}"/>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9FDD82BA-0512-5A9E-D9FF-3FD45EE50375}"/>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66B432CB-E568-DCE3-7513-6FBADF606E2F}"/>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D51DAC1D-9F22-8EFA-A500-65CB0375368C}"/>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090E0BF7-8804-EFC2-7429-7588B93BF97C}"/>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32" name="Oval 31">
              <a:extLst>
                <a:ext uri="{FF2B5EF4-FFF2-40B4-BE49-F238E27FC236}">
                  <a16:creationId xmlns:a16="http://schemas.microsoft.com/office/drawing/2014/main" id="{3F2ECA26-D6DF-80D3-499F-20C41F19FE93}"/>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1DFADA2-782D-16F8-F334-25EA6D71F097}"/>
                </a:ext>
              </a:extLst>
            </p:cNvPr>
            <p:cNvSpPr/>
            <p:nvPr/>
          </p:nvSpPr>
          <p:spPr>
            <a:xfrm>
              <a:off x="10975614" y="3934436"/>
              <a:ext cx="914400" cy="30797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cxnSp>
          <p:nvCxnSpPr>
            <p:cNvPr id="21" name="Straight Arrow Connector 20">
              <a:extLst>
                <a:ext uri="{FF2B5EF4-FFF2-40B4-BE49-F238E27FC236}">
                  <a16:creationId xmlns:a16="http://schemas.microsoft.com/office/drawing/2014/main" id="{422D8320-745F-51E0-C162-AB80FC7F041F}"/>
                </a:ext>
              </a:extLst>
            </p:cNvPr>
            <p:cNvCxnSpPr>
              <a:cxnSpLocks/>
            </p:cNvCxnSpPr>
            <p:nvPr/>
          </p:nvCxnSpPr>
          <p:spPr>
            <a:xfrm>
              <a:off x="8686800" y="4088423"/>
              <a:ext cx="2288814" cy="1"/>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F4114416-60E3-5669-0AB9-CD96046BED6F}"/>
              </a:ext>
            </a:extLst>
          </p:cNvPr>
          <p:cNvSpPr txBox="1"/>
          <p:nvPr/>
        </p:nvSpPr>
        <p:spPr>
          <a:xfrm>
            <a:off x="4410286" y="5059165"/>
            <a:ext cx="1875452" cy="646331"/>
          </a:xfrm>
          <a:prstGeom prst="rect">
            <a:avLst/>
          </a:prstGeom>
          <a:noFill/>
        </p:spPr>
        <p:txBody>
          <a:bodyPr wrap="square" rtlCol="0">
            <a:spAutoFit/>
          </a:bodyPr>
          <a:lstStyle/>
          <a:p>
            <a:pPr algn="ctr"/>
            <a:r>
              <a:rPr lang="en-US" dirty="0"/>
              <a:t>page in this frame is written </a:t>
            </a:r>
          </a:p>
        </p:txBody>
      </p:sp>
      <p:cxnSp>
        <p:nvCxnSpPr>
          <p:cNvPr id="23" name="Straight Arrow Connector 22">
            <a:extLst>
              <a:ext uri="{FF2B5EF4-FFF2-40B4-BE49-F238E27FC236}">
                <a16:creationId xmlns:a16="http://schemas.microsoft.com/office/drawing/2014/main" id="{BB424308-7294-3F68-C127-36990DA01298}"/>
              </a:ext>
            </a:extLst>
          </p:cNvPr>
          <p:cNvCxnSpPr>
            <a:cxnSpLocks/>
            <a:stCxn id="22" idx="3"/>
          </p:cNvCxnSpPr>
          <p:nvPr/>
        </p:nvCxnSpPr>
        <p:spPr>
          <a:xfrm flipV="1">
            <a:off x="6285738" y="5230085"/>
            <a:ext cx="573786" cy="1522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0396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2CD5-F651-8067-17FF-26290C6C3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FBB90-B4E3-05C1-675A-130EDB8520BB}"/>
              </a:ext>
            </a:extLst>
          </p:cNvPr>
          <p:cNvSpPr>
            <a:spLocks noGrp="1"/>
          </p:cNvSpPr>
          <p:nvPr>
            <p:ph type="title"/>
          </p:nvPr>
        </p:nvSpPr>
        <p:spPr/>
        <p:txBody>
          <a:bodyPr/>
          <a:lstStyle/>
          <a:p>
            <a:r>
              <a:rPr lang="en-US" dirty="0"/>
              <a:t>LRU approximation (Clock) 10</a:t>
            </a:r>
          </a:p>
        </p:txBody>
      </p:sp>
      <p:sp>
        <p:nvSpPr>
          <p:cNvPr id="3" name="Content Placeholder 2">
            <a:extLst>
              <a:ext uri="{FF2B5EF4-FFF2-40B4-BE49-F238E27FC236}">
                <a16:creationId xmlns:a16="http://schemas.microsoft.com/office/drawing/2014/main" id="{3D9ADC62-02E7-FA9E-A919-030F74741734}"/>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dirty="0"/>
              <a:t>If page frame is dirty, schedule writing back to backing store</a:t>
            </a:r>
          </a:p>
        </p:txBody>
      </p:sp>
      <p:grpSp>
        <p:nvGrpSpPr>
          <p:cNvPr id="6" name="Group 5" descr="Clock hand advances to next page frame table entry">
            <a:extLst>
              <a:ext uri="{FF2B5EF4-FFF2-40B4-BE49-F238E27FC236}">
                <a16:creationId xmlns:a16="http://schemas.microsoft.com/office/drawing/2014/main" id="{C1BB20C1-B49D-0EF4-8DF1-F42566027F5E}"/>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C1BA0D50-19D4-BE66-44ED-2F7F9755BA6F}"/>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30AA985B-730C-087E-10CD-7270D5893179}"/>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E235654B-B0E9-58D4-80FB-6A1DCCC0896B}"/>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639A3815-7E6B-A088-CD4B-3EB9268E5E76}"/>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963C2C3C-BE59-27DD-CC47-9DB98711B613}"/>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3BFA36E3-BC99-2004-9230-2028B0BF2239}"/>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D9ADAA50-5DCF-11E8-FC33-C641CE720463}"/>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0CA04D99-9971-A9F4-AD01-EDE4464B7C0E}"/>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79B67A8A-3B42-E7FD-930A-6694B70B8202}"/>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5" name="Rectangle 14">
              <a:extLst>
                <a:ext uri="{FF2B5EF4-FFF2-40B4-BE49-F238E27FC236}">
                  <a16:creationId xmlns:a16="http://schemas.microsoft.com/office/drawing/2014/main" id="{BB7DBB1F-3BCC-5C6E-1BCE-A34B39BA0A22}"/>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6" name="Rectangle 15">
              <a:extLst>
                <a:ext uri="{FF2B5EF4-FFF2-40B4-BE49-F238E27FC236}">
                  <a16:creationId xmlns:a16="http://schemas.microsoft.com/office/drawing/2014/main" id="{5168D50A-B5F7-D220-2EA2-01F0534E78D3}"/>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DA964BF6-6998-CD1D-1CEE-F7B4EF8CB95B}"/>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295B8B0C-3537-46E2-4ACB-65CAC68018FF}"/>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2E4D3600-9FBF-B808-579E-EA6BF714ACAA}"/>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8BC166AE-7053-A5CC-3760-9698A52946B5}"/>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107540DD-8F76-CE00-E9C5-AE4E7209F13C}"/>
                </a:ext>
              </a:extLst>
            </p:cNvPr>
            <p:cNvCxnSpPr>
              <a:cxnSpLocks/>
              <a:endCxn id="17" idx="1"/>
            </p:cNvCxnSpPr>
            <p:nvPr/>
          </p:nvCxnSpPr>
          <p:spPr>
            <a:xfrm>
              <a:off x="8686800" y="4088423"/>
              <a:ext cx="1904766" cy="592993"/>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A2308F8F-5F4E-3650-89CD-3B1C88401D1B}"/>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A6B165E-8A48-1EDE-6A2B-4F1612F9AE66}"/>
                </a:ext>
              </a:extLst>
            </p:cNvPr>
            <p:cNvSpPr/>
            <p:nvPr/>
          </p:nvSpPr>
          <p:spPr>
            <a:xfrm>
              <a:off x="10975614" y="3934436"/>
              <a:ext cx="914400" cy="30797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grpSp>
    </p:spTree>
    <p:extLst>
      <p:ext uri="{BB962C8B-B14F-4D97-AF65-F5344CB8AC3E}">
        <p14:creationId xmlns:p14="http://schemas.microsoft.com/office/powerpoint/2010/main" val="384466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A90F9-A0FA-60DC-ABD1-83AA0AE8E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16A9E-9C15-9886-50FA-FE49EA821970}"/>
              </a:ext>
            </a:extLst>
          </p:cNvPr>
          <p:cNvSpPr>
            <a:spLocks noGrp="1"/>
          </p:cNvSpPr>
          <p:nvPr>
            <p:ph type="title"/>
          </p:nvPr>
        </p:nvSpPr>
        <p:spPr/>
        <p:txBody>
          <a:bodyPr/>
          <a:lstStyle/>
          <a:p>
            <a:r>
              <a:rPr lang="en-US" dirty="0"/>
              <a:t>LRU approximation (Clock) 11</a:t>
            </a:r>
          </a:p>
        </p:txBody>
      </p:sp>
      <p:sp>
        <p:nvSpPr>
          <p:cNvPr id="3" name="Content Placeholder 2">
            <a:extLst>
              <a:ext uri="{FF2B5EF4-FFF2-40B4-BE49-F238E27FC236}">
                <a16:creationId xmlns:a16="http://schemas.microsoft.com/office/drawing/2014/main" id="{EDCC3545-C012-1E61-A261-9CE91AD9BA86}"/>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dirty="0"/>
              <a:t>If page frame is dirty, schedule writing back to backing store</a:t>
            </a:r>
          </a:p>
        </p:txBody>
      </p:sp>
      <p:grpSp>
        <p:nvGrpSpPr>
          <p:cNvPr id="6" name="Group 5" descr="The page frame table entry marks the page frame as not referenced">
            <a:extLst>
              <a:ext uri="{FF2B5EF4-FFF2-40B4-BE49-F238E27FC236}">
                <a16:creationId xmlns:a16="http://schemas.microsoft.com/office/drawing/2014/main" id="{193C55A7-1F94-EA6F-C7FA-50DB77746AFD}"/>
              </a:ext>
            </a:extLst>
          </p:cNvPr>
          <p:cNvGrpSpPr/>
          <p:nvPr/>
        </p:nvGrpSpPr>
        <p:grpSpPr>
          <a:xfrm>
            <a:off x="5711952" y="1451282"/>
            <a:ext cx="6178062" cy="5209504"/>
            <a:chOff x="5711952" y="1451282"/>
            <a:chExt cx="6178062" cy="5209504"/>
          </a:xfrm>
        </p:grpSpPr>
        <p:sp>
          <p:nvSpPr>
            <p:cNvPr id="4" name="Rectangle 3">
              <a:extLst>
                <a:ext uri="{FF2B5EF4-FFF2-40B4-BE49-F238E27FC236}">
                  <a16:creationId xmlns:a16="http://schemas.microsoft.com/office/drawing/2014/main" id="{0E51CA47-48B2-B8EA-9286-3E27D413C361}"/>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E00191F4-7483-7048-1E1B-9CE83B1EBE54}"/>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9ED26DFF-47AB-1ED9-2DA7-497DE70E811E}"/>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15E49F86-78B4-203E-84A7-927ADCFA4D67}"/>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FE92B900-C521-1749-3E80-F8F9F9781EE3}"/>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18370FB8-0619-56AB-C130-076FE1A9C456}"/>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741F0503-B9A3-A724-ED7A-29ED637BA670}"/>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07C2C569-1146-6B6F-D1A0-838250B9E8CD}"/>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E5EC64E9-F30D-8E8B-A794-D2E349EE3804}"/>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5" name="Rectangle 14">
              <a:extLst>
                <a:ext uri="{FF2B5EF4-FFF2-40B4-BE49-F238E27FC236}">
                  <a16:creationId xmlns:a16="http://schemas.microsoft.com/office/drawing/2014/main" id="{BA939622-A5F1-8B82-1B79-52B0878FDA8A}"/>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6" name="Rectangle 15">
              <a:extLst>
                <a:ext uri="{FF2B5EF4-FFF2-40B4-BE49-F238E27FC236}">
                  <a16:creationId xmlns:a16="http://schemas.microsoft.com/office/drawing/2014/main" id="{929F35CE-5B3C-D2B0-9FE9-0AEFE5445D0B}"/>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4F1ACC1D-0189-FB38-7742-8F9ABFD65657}"/>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rPr>
                <a:t>¬</a:t>
              </a:r>
              <a:r>
                <a:rPr lang="en-US" sz="1200" b="1" dirty="0" err="1">
                  <a:solidFill>
                    <a:srgbClr val="FF0000"/>
                  </a:solidFill>
                </a:rPr>
                <a:t>ref,¬dirty</a:t>
              </a:r>
              <a:r>
                <a:rPr lang="en-US" sz="1200" b="1" dirty="0">
                  <a:solidFill>
                    <a:srgbClr val="FF0000"/>
                  </a:solidFill>
                </a:rPr>
                <a:t> </a:t>
              </a:r>
            </a:p>
          </p:txBody>
        </p:sp>
        <p:sp>
          <p:nvSpPr>
            <p:cNvPr id="18" name="Rectangle 17">
              <a:extLst>
                <a:ext uri="{FF2B5EF4-FFF2-40B4-BE49-F238E27FC236}">
                  <a16:creationId xmlns:a16="http://schemas.microsoft.com/office/drawing/2014/main" id="{AC96B044-1D56-41E9-CCA1-F6C50D93F4DC}"/>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C95C6EEA-527D-18CA-F562-4DC1A54B2E40}"/>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AF9239DC-F7B4-81E8-D3EE-BABB87FFD2C8}"/>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80FDAD11-4C47-BE0E-36E6-9293CBE92C9E}"/>
                </a:ext>
              </a:extLst>
            </p:cNvPr>
            <p:cNvCxnSpPr>
              <a:cxnSpLocks/>
              <a:endCxn id="17" idx="1"/>
            </p:cNvCxnSpPr>
            <p:nvPr/>
          </p:nvCxnSpPr>
          <p:spPr>
            <a:xfrm>
              <a:off x="8686800" y="4088423"/>
              <a:ext cx="1904766" cy="592993"/>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FCC81767-BBD6-9AB3-FC89-140B04C38EC9}"/>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8105A71-A8D0-89F3-749F-C6C0CDA030C3}"/>
                </a:ext>
              </a:extLst>
            </p:cNvPr>
            <p:cNvSpPr/>
            <p:nvPr/>
          </p:nvSpPr>
          <p:spPr>
            <a:xfrm>
              <a:off x="10975614" y="3934436"/>
              <a:ext cx="914400" cy="30797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grpSp>
    </p:spTree>
    <p:extLst>
      <p:ext uri="{BB962C8B-B14F-4D97-AF65-F5344CB8AC3E}">
        <p14:creationId xmlns:p14="http://schemas.microsoft.com/office/powerpoint/2010/main" val="2431935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F2E9-2CA0-9D39-BE0A-BF1B82363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B5BD6-8B41-76A5-FB55-848D51620751}"/>
              </a:ext>
            </a:extLst>
          </p:cNvPr>
          <p:cNvSpPr>
            <a:spLocks noGrp="1"/>
          </p:cNvSpPr>
          <p:nvPr>
            <p:ph type="title"/>
          </p:nvPr>
        </p:nvSpPr>
        <p:spPr/>
        <p:txBody>
          <a:bodyPr/>
          <a:lstStyle/>
          <a:p>
            <a:r>
              <a:rPr lang="en-US" dirty="0"/>
              <a:t>LRU approximation (Clock) 12</a:t>
            </a:r>
          </a:p>
        </p:txBody>
      </p:sp>
      <p:sp>
        <p:nvSpPr>
          <p:cNvPr id="3" name="Content Placeholder 2">
            <a:extLst>
              <a:ext uri="{FF2B5EF4-FFF2-40B4-BE49-F238E27FC236}">
                <a16:creationId xmlns:a16="http://schemas.microsoft.com/office/drawing/2014/main" id="{8B7697D6-397D-DAAC-8D4D-85F799820BB1}"/>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not dirty, mark as unreferenced</a:t>
            </a:r>
          </a:p>
          <a:p>
            <a:r>
              <a:rPr lang="en-US" dirty="0"/>
              <a:t>If page frame is dirty, schedule writing back to backing store</a:t>
            </a:r>
          </a:p>
        </p:txBody>
      </p:sp>
      <p:grpSp>
        <p:nvGrpSpPr>
          <p:cNvPr id="21" name="Group 20" descr="The page write to backing store completes. The page frame is marked as not referenced and not dirty">
            <a:extLst>
              <a:ext uri="{FF2B5EF4-FFF2-40B4-BE49-F238E27FC236}">
                <a16:creationId xmlns:a16="http://schemas.microsoft.com/office/drawing/2014/main" id="{6CFB7C05-A59E-6F84-0A8C-ACE157047621}"/>
              </a:ext>
            </a:extLst>
          </p:cNvPr>
          <p:cNvGrpSpPr/>
          <p:nvPr/>
        </p:nvGrpSpPr>
        <p:grpSpPr>
          <a:xfrm>
            <a:off x="5711952" y="936480"/>
            <a:ext cx="6247510" cy="5724306"/>
            <a:chOff x="5711952" y="936480"/>
            <a:chExt cx="6247510" cy="5724306"/>
          </a:xfrm>
        </p:grpSpPr>
        <p:sp>
          <p:nvSpPr>
            <p:cNvPr id="4" name="Rectangle 3">
              <a:extLst>
                <a:ext uri="{FF2B5EF4-FFF2-40B4-BE49-F238E27FC236}">
                  <a16:creationId xmlns:a16="http://schemas.microsoft.com/office/drawing/2014/main" id="{B3449AA3-0715-BD78-89C0-16148A1593A8}"/>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FCA29281-458A-E5A1-1EE1-19A7EEFC1248}"/>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EF015582-C907-21A4-67BB-B390A9DB909A}"/>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FBB1ED71-7A86-C260-0BBD-63E7D7C287FC}"/>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E99C607A-C171-7839-45D8-4F14E0F6F7B4}"/>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01B97DD4-A21B-07B9-51B1-83BC3EEE38E2}"/>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9C17D1AD-21E8-7DFD-2DEE-CC0DA9194D51}"/>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39B61917-057D-0F57-62E5-3F279AA76DC4}"/>
                </a:ext>
              </a:extLst>
            </p:cNvPr>
            <p:cNvSpPr/>
            <p:nvPr/>
          </p:nvSpPr>
          <p:spPr>
            <a:xfrm>
              <a:off x="7371002" y="574510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55F4C873-4141-C89B-A508-0C43E7E0116D}"/>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5" name="Rectangle 14">
              <a:extLst>
                <a:ext uri="{FF2B5EF4-FFF2-40B4-BE49-F238E27FC236}">
                  <a16:creationId xmlns:a16="http://schemas.microsoft.com/office/drawing/2014/main" id="{44BB7F7E-3B2F-8446-0D17-1B26F9DAA6D8}"/>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6" name="Rectangle 15">
              <a:extLst>
                <a:ext uri="{FF2B5EF4-FFF2-40B4-BE49-F238E27FC236}">
                  <a16:creationId xmlns:a16="http://schemas.microsoft.com/office/drawing/2014/main" id="{1D914789-52E2-2E61-F7F2-7211171191FF}"/>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6553FF53-D99D-BF9B-B138-12E793F39902}"/>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8" name="Rectangle 17">
              <a:extLst>
                <a:ext uri="{FF2B5EF4-FFF2-40B4-BE49-F238E27FC236}">
                  <a16:creationId xmlns:a16="http://schemas.microsoft.com/office/drawing/2014/main" id="{8FC45311-E7B4-9D55-41EF-531201A10EEC}"/>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9" name="Rectangle 18">
              <a:extLst>
                <a:ext uri="{FF2B5EF4-FFF2-40B4-BE49-F238E27FC236}">
                  <a16:creationId xmlns:a16="http://schemas.microsoft.com/office/drawing/2014/main" id="{0D300EAF-5127-5E23-7BDC-3A6DB0141A04}"/>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06ED87D0-93BB-2EFC-4268-C702056F44B3}"/>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C1D56C67-5569-2AC8-D982-4FE2D265BE85}"/>
                </a:ext>
              </a:extLst>
            </p:cNvPr>
            <p:cNvCxnSpPr>
              <a:cxnSpLocks/>
              <a:endCxn id="17" idx="1"/>
            </p:cNvCxnSpPr>
            <p:nvPr/>
          </p:nvCxnSpPr>
          <p:spPr>
            <a:xfrm>
              <a:off x="8686800" y="4088423"/>
              <a:ext cx="1904766" cy="592993"/>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332C45F5-F5E6-D794-DF45-73392BF64C48}"/>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401C131-5BD5-02A0-7691-40741B77657D}"/>
                </a:ext>
              </a:extLst>
            </p:cNvPr>
            <p:cNvSpPr/>
            <p:nvPr/>
          </p:nvSpPr>
          <p:spPr>
            <a:xfrm>
              <a:off x="10975614" y="3934436"/>
              <a:ext cx="914400" cy="307975"/>
            </a:xfrm>
            <a:prstGeom prst="rect">
              <a:avLst/>
            </a:prstGeom>
            <a:solidFill>
              <a:schemeClr val="accent2">
                <a:lumMod val="20000"/>
                <a:lumOff val="80000"/>
              </a:scheme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rPr>
                <a:t>¬</a:t>
              </a:r>
              <a:r>
                <a:rPr lang="en-US" sz="1200" b="1" dirty="0" err="1">
                  <a:solidFill>
                    <a:srgbClr val="FF0000"/>
                  </a:solidFill>
                </a:rPr>
                <a:t>ref,¬dirty</a:t>
              </a:r>
              <a:r>
                <a:rPr lang="en-US" sz="1200" b="1" dirty="0">
                  <a:solidFill>
                    <a:srgbClr val="FF0000"/>
                  </a:solidFill>
                </a:rPr>
                <a:t> </a:t>
              </a:r>
            </a:p>
          </p:txBody>
        </p:sp>
        <p:sp>
          <p:nvSpPr>
            <p:cNvPr id="14" name="TextBox 13">
              <a:extLst>
                <a:ext uri="{FF2B5EF4-FFF2-40B4-BE49-F238E27FC236}">
                  <a16:creationId xmlns:a16="http://schemas.microsoft.com/office/drawing/2014/main" id="{14AF7247-5A05-F633-E5F5-103D2D080E92}"/>
                </a:ext>
              </a:extLst>
            </p:cNvPr>
            <p:cNvSpPr txBox="1"/>
            <p:nvPr/>
          </p:nvSpPr>
          <p:spPr>
            <a:xfrm>
              <a:off x="10264723" y="936480"/>
              <a:ext cx="1694739" cy="923330"/>
            </a:xfrm>
            <a:prstGeom prst="rect">
              <a:avLst/>
            </a:prstGeom>
            <a:noFill/>
          </p:spPr>
          <p:txBody>
            <a:bodyPr wrap="square" rtlCol="0">
              <a:spAutoFit/>
            </a:bodyPr>
            <a:lstStyle/>
            <a:p>
              <a:pPr algn="ctr"/>
              <a:r>
                <a:rPr lang="en-US" dirty="0"/>
                <a:t>page write to backing store completed</a:t>
              </a:r>
            </a:p>
          </p:txBody>
        </p:sp>
        <p:sp>
          <p:nvSpPr>
            <p:cNvPr id="26" name="Freeform 25">
              <a:extLst>
                <a:ext uri="{FF2B5EF4-FFF2-40B4-BE49-F238E27FC236}">
                  <a16:creationId xmlns:a16="http://schemas.microsoft.com/office/drawing/2014/main" id="{8D78C54D-8D2F-12C1-1319-D0E4328D705B}"/>
                </a:ext>
              </a:extLst>
            </p:cNvPr>
            <p:cNvSpPr/>
            <p:nvPr/>
          </p:nvSpPr>
          <p:spPr>
            <a:xfrm>
              <a:off x="11113477" y="1887415"/>
              <a:ext cx="725042" cy="1992923"/>
            </a:xfrm>
            <a:custGeom>
              <a:avLst/>
              <a:gdLst>
                <a:gd name="connsiteX0" fmla="*/ 0 w 725042"/>
                <a:gd name="connsiteY0" fmla="*/ 0 h 1992923"/>
                <a:gd name="connsiteX1" fmla="*/ 715108 w 725042"/>
                <a:gd name="connsiteY1" fmla="*/ 961293 h 1992923"/>
                <a:gd name="connsiteX2" fmla="*/ 351692 w 725042"/>
                <a:gd name="connsiteY2" fmla="*/ 1992923 h 1992923"/>
              </a:gdLst>
              <a:ahLst/>
              <a:cxnLst>
                <a:cxn ang="0">
                  <a:pos x="connsiteX0" y="connsiteY0"/>
                </a:cxn>
                <a:cxn ang="0">
                  <a:pos x="connsiteX1" y="connsiteY1"/>
                </a:cxn>
                <a:cxn ang="0">
                  <a:pos x="connsiteX2" y="connsiteY2"/>
                </a:cxn>
              </a:cxnLst>
              <a:rect l="l" t="t" r="r" b="b"/>
              <a:pathLst>
                <a:path w="725042" h="1992923">
                  <a:moveTo>
                    <a:pt x="0" y="0"/>
                  </a:moveTo>
                  <a:cubicBezTo>
                    <a:pt x="328246" y="314569"/>
                    <a:pt x="656493" y="629139"/>
                    <a:pt x="715108" y="961293"/>
                  </a:cubicBezTo>
                  <a:cubicBezTo>
                    <a:pt x="773723" y="1293447"/>
                    <a:pt x="562707" y="1643185"/>
                    <a:pt x="351692" y="1992923"/>
                  </a:cubicBezTo>
                </a:path>
              </a:pathLst>
            </a:custGeom>
            <a:noFill/>
            <a:ln>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08217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792ED-FCD5-03FB-FA5D-771679B94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78814-5F03-93DD-FB77-2A53E2F511DE}"/>
              </a:ext>
            </a:extLst>
          </p:cNvPr>
          <p:cNvSpPr>
            <a:spLocks noGrp="1"/>
          </p:cNvSpPr>
          <p:nvPr>
            <p:ph type="title"/>
          </p:nvPr>
        </p:nvSpPr>
        <p:spPr/>
        <p:txBody>
          <a:bodyPr/>
          <a:lstStyle/>
          <a:p>
            <a:r>
              <a:rPr lang="en-US" dirty="0"/>
              <a:t>LRU approximation (Clock) 13</a:t>
            </a:r>
          </a:p>
        </p:txBody>
      </p:sp>
      <p:sp>
        <p:nvSpPr>
          <p:cNvPr id="3" name="Content Placeholder 2">
            <a:extLst>
              <a:ext uri="{FF2B5EF4-FFF2-40B4-BE49-F238E27FC236}">
                <a16:creationId xmlns:a16="http://schemas.microsoft.com/office/drawing/2014/main" id="{4E773D21-C951-95A5-E0CD-6F1A01AC71F1}"/>
              </a:ext>
            </a:extLst>
          </p:cNvPr>
          <p:cNvSpPr>
            <a:spLocks noGrp="1"/>
          </p:cNvSpPr>
          <p:nvPr>
            <p:ph idx="1"/>
          </p:nvPr>
        </p:nvSpPr>
        <p:spPr>
          <a:xfrm>
            <a:off x="301986" y="1825625"/>
            <a:ext cx="5409966" cy="4351338"/>
          </a:xfrm>
        </p:spPr>
        <p:txBody>
          <a:bodyPr>
            <a:normAutofit/>
          </a:bodyPr>
          <a:lstStyle/>
          <a:p>
            <a:pPr marL="0" indent="0">
              <a:buNone/>
            </a:pPr>
            <a:r>
              <a:rPr lang="en-US" b="1" dirty="0"/>
              <a:t>Clock</a:t>
            </a:r>
            <a:r>
              <a:rPr lang="en-US" dirty="0"/>
              <a:t>: Operating system moves “hand” across frame table at some rate:</a:t>
            </a:r>
          </a:p>
          <a:p>
            <a:r>
              <a:rPr lang="en-US" dirty="0"/>
              <a:t>If page frame is dirty, schedule writing back to backing store</a:t>
            </a:r>
          </a:p>
          <a:p>
            <a:r>
              <a:rPr lang="en-US" dirty="0"/>
              <a:t>If page frame is not dirty, mark as unreferenced</a:t>
            </a:r>
          </a:p>
          <a:p>
            <a:pPr marL="0" indent="0">
              <a:buNone/>
            </a:pPr>
            <a:r>
              <a:rPr lang="en-US" dirty="0"/>
              <a:t>If </a:t>
            </a:r>
            <a:r>
              <a:rPr lang="en-US" b="1" dirty="0">
                <a:solidFill>
                  <a:srgbClr val="FF0000"/>
                </a:solidFill>
              </a:rPr>
              <a:t>need a frame</a:t>
            </a:r>
            <a:r>
              <a:rPr lang="en-US" dirty="0"/>
              <a:t>, find the first frame ahead of the hand that is not referenced</a:t>
            </a:r>
          </a:p>
          <a:p>
            <a:pPr marL="0" indent="0">
              <a:buNone/>
            </a:pPr>
            <a:endParaRPr lang="en-US" dirty="0"/>
          </a:p>
          <a:p>
            <a:pPr marL="0" indent="0">
              <a:buNone/>
            </a:pPr>
            <a:endParaRPr lang="en-US" dirty="0"/>
          </a:p>
        </p:txBody>
      </p:sp>
      <p:grpSp>
        <p:nvGrpSpPr>
          <p:cNvPr id="22" name="Group 21" descr="A page fault requires a page frame. The first not referenced and not dirty page frame ahead of the clock hand is selected for replacement">
            <a:extLst>
              <a:ext uri="{FF2B5EF4-FFF2-40B4-BE49-F238E27FC236}">
                <a16:creationId xmlns:a16="http://schemas.microsoft.com/office/drawing/2014/main" id="{66086E8D-47E1-93B4-0488-3F1E07D73DFF}"/>
              </a:ext>
            </a:extLst>
          </p:cNvPr>
          <p:cNvGrpSpPr/>
          <p:nvPr/>
        </p:nvGrpSpPr>
        <p:grpSpPr>
          <a:xfrm>
            <a:off x="5572194" y="1451282"/>
            <a:ext cx="6317820" cy="5296503"/>
            <a:chOff x="5572194" y="1451282"/>
            <a:chExt cx="6317820" cy="5296503"/>
          </a:xfrm>
        </p:grpSpPr>
        <p:sp>
          <p:nvSpPr>
            <p:cNvPr id="4" name="Rectangle 3">
              <a:extLst>
                <a:ext uri="{FF2B5EF4-FFF2-40B4-BE49-F238E27FC236}">
                  <a16:creationId xmlns:a16="http://schemas.microsoft.com/office/drawing/2014/main" id="{5712D199-85FC-A183-B680-103FABA31CE6}"/>
                </a:ext>
              </a:extLst>
            </p:cNvPr>
            <p:cNvSpPr/>
            <p:nvPr/>
          </p:nvSpPr>
          <p:spPr>
            <a:xfrm>
              <a:off x="8355274" y="145128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5" name="Rectangle 4">
              <a:extLst>
                <a:ext uri="{FF2B5EF4-FFF2-40B4-BE49-F238E27FC236}">
                  <a16:creationId xmlns:a16="http://schemas.microsoft.com/office/drawing/2014/main" id="{971B8991-4A46-B51E-8EE8-8EB7BF5BD990}"/>
                </a:ext>
              </a:extLst>
            </p:cNvPr>
            <p:cNvSpPr/>
            <p:nvPr/>
          </p:nvSpPr>
          <p:spPr>
            <a:xfrm>
              <a:off x="8355274" y="635281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7" name="Rectangle 6">
              <a:extLst>
                <a:ext uri="{FF2B5EF4-FFF2-40B4-BE49-F238E27FC236}">
                  <a16:creationId xmlns:a16="http://schemas.microsoft.com/office/drawing/2014/main" id="{538E9918-A002-0C55-5F41-8BE0852FAA26}"/>
                </a:ext>
              </a:extLst>
            </p:cNvPr>
            <p:cNvSpPr/>
            <p:nvPr/>
          </p:nvSpPr>
          <p:spPr>
            <a:xfrm>
              <a:off x="5711952" y="3947142"/>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8" name="Rectangle 7">
              <a:extLst>
                <a:ext uri="{FF2B5EF4-FFF2-40B4-BE49-F238E27FC236}">
                  <a16:creationId xmlns:a16="http://schemas.microsoft.com/office/drawing/2014/main" id="{B8BA71C7-D86D-BFB2-E8A8-A2C7CE1E6231}"/>
                </a:ext>
              </a:extLst>
            </p:cNvPr>
            <p:cNvSpPr/>
            <p:nvPr/>
          </p:nvSpPr>
          <p:spPr>
            <a:xfrm>
              <a:off x="6096000" y="331128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9" name="Rectangle 8">
              <a:extLst>
                <a:ext uri="{FF2B5EF4-FFF2-40B4-BE49-F238E27FC236}">
                  <a16:creationId xmlns:a16="http://schemas.microsoft.com/office/drawing/2014/main" id="{F40A1C28-2DAA-3B91-3D6C-2C8749548077}"/>
                </a:ext>
              </a:extLst>
            </p:cNvPr>
            <p:cNvSpPr/>
            <p:nvPr/>
          </p:nvSpPr>
          <p:spPr>
            <a:xfrm>
              <a:off x="6859524" y="2675343"/>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0" name="Rectangle 9">
              <a:extLst>
                <a:ext uri="{FF2B5EF4-FFF2-40B4-BE49-F238E27FC236}">
                  <a16:creationId xmlns:a16="http://schemas.microsoft.com/office/drawing/2014/main" id="{6432CC9E-733F-B051-4CEE-C24E97EF0993}"/>
                </a:ext>
              </a:extLst>
            </p:cNvPr>
            <p:cNvSpPr/>
            <p:nvPr/>
          </p:nvSpPr>
          <p:spPr>
            <a:xfrm>
              <a:off x="6096000" y="4540134"/>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1" name="Rectangle 10">
              <a:extLst>
                <a:ext uri="{FF2B5EF4-FFF2-40B4-BE49-F238E27FC236}">
                  <a16:creationId xmlns:a16="http://schemas.microsoft.com/office/drawing/2014/main" id="{91930E8F-72AE-C164-B0E5-11E842060D0F}"/>
                </a:ext>
              </a:extLst>
            </p:cNvPr>
            <p:cNvSpPr/>
            <p:nvPr/>
          </p:nvSpPr>
          <p:spPr>
            <a:xfrm>
              <a:off x="6859524" y="507609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2" name="Rectangle 11">
              <a:extLst>
                <a:ext uri="{FF2B5EF4-FFF2-40B4-BE49-F238E27FC236}">
                  <a16:creationId xmlns:a16="http://schemas.microsoft.com/office/drawing/2014/main" id="{D9B7D46A-277A-C964-0A69-1F3B3E0D0846}"/>
                </a:ext>
              </a:extLst>
            </p:cNvPr>
            <p:cNvSpPr/>
            <p:nvPr/>
          </p:nvSpPr>
          <p:spPr>
            <a:xfrm>
              <a:off x="7371002" y="5745106"/>
              <a:ext cx="914400" cy="307975"/>
            </a:xfrm>
            <a:prstGeom prst="rect">
              <a:avLst/>
            </a:prstGeom>
            <a:solidFill>
              <a:schemeClr val="accent2">
                <a:lumMod val="20000"/>
                <a:lumOff val="80000"/>
              </a:schemeClr>
            </a:solid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3" name="Rectangle 12">
              <a:extLst>
                <a:ext uri="{FF2B5EF4-FFF2-40B4-BE49-F238E27FC236}">
                  <a16:creationId xmlns:a16="http://schemas.microsoft.com/office/drawing/2014/main" id="{68F47FCC-2F62-6CED-AFFC-0A92CA1CE280}"/>
                </a:ext>
              </a:extLst>
            </p:cNvPr>
            <p:cNvSpPr/>
            <p:nvPr/>
          </p:nvSpPr>
          <p:spPr>
            <a:xfrm>
              <a:off x="7371002" y="213397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5" name="Rectangle 14">
              <a:extLst>
                <a:ext uri="{FF2B5EF4-FFF2-40B4-BE49-F238E27FC236}">
                  <a16:creationId xmlns:a16="http://schemas.microsoft.com/office/drawing/2014/main" id="{F884082B-3015-3E7B-A2FF-BAF32906BCC0}"/>
                </a:ext>
              </a:extLst>
            </p:cNvPr>
            <p:cNvSpPr/>
            <p:nvPr/>
          </p:nvSpPr>
          <p:spPr>
            <a:xfrm>
              <a:off x="10591566" y="329857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6" name="Rectangle 15">
              <a:extLst>
                <a:ext uri="{FF2B5EF4-FFF2-40B4-BE49-F238E27FC236}">
                  <a16:creationId xmlns:a16="http://schemas.microsoft.com/office/drawing/2014/main" id="{DE11073D-34E0-1B66-A757-C709B9DBDA06}"/>
                </a:ext>
              </a:extLst>
            </p:cNvPr>
            <p:cNvSpPr/>
            <p:nvPr/>
          </p:nvSpPr>
          <p:spPr>
            <a:xfrm>
              <a:off x="9828042" y="2662637"/>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7" name="Rectangle 16">
              <a:extLst>
                <a:ext uri="{FF2B5EF4-FFF2-40B4-BE49-F238E27FC236}">
                  <a16:creationId xmlns:a16="http://schemas.microsoft.com/office/drawing/2014/main" id="{EB4DBD4D-58E2-31AF-1C4E-A4DEE564D6E1}"/>
                </a:ext>
              </a:extLst>
            </p:cNvPr>
            <p:cNvSpPr/>
            <p:nvPr/>
          </p:nvSpPr>
          <p:spPr>
            <a:xfrm>
              <a:off x="10591566" y="4527428"/>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18" name="Rectangle 17">
              <a:extLst>
                <a:ext uri="{FF2B5EF4-FFF2-40B4-BE49-F238E27FC236}">
                  <a16:creationId xmlns:a16="http://schemas.microsoft.com/office/drawing/2014/main" id="{94FC243A-1CE6-3100-E613-C0A8DD691906}"/>
                </a:ext>
              </a:extLst>
            </p:cNvPr>
            <p:cNvSpPr/>
            <p:nvPr/>
          </p:nvSpPr>
          <p:spPr>
            <a:xfrm>
              <a:off x="9828042" y="5063391"/>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sp>
          <p:nvSpPr>
            <p:cNvPr id="19" name="Rectangle 18">
              <a:extLst>
                <a:ext uri="{FF2B5EF4-FFF2-40B4-BE49-F238E27FC236}">
                  <a16:creationId xmlns:a16="http://schemas.microsoft.com/office/drawing/2014/main" id="{C12A39E1-5E52-EC93-C3FE-155FDF8FEDB0}"/>
                </a:ext>
              </a:extLst>
            </p:cNvPr>
            <p:cNvSpPr/>
            <p:nvPr/>
          </p:nvSpPr>
          <p:spPr>
            <a:xfrm>
              <a:off x="9316564" y="5732400"/>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a:t>
              </a:r>
            </a:p>
          </p:txBody>
        </p:sp>
        <p:sp>
          <p:nvSpPr>
            <p:cNvPr id="20" name="Rectangle 19">
              <a:extLst>
                <a:ext uri="{FF2B5EF4-FFF2-40B4-BE49-F238E27FC236}">
                  <a16:creationId xmlns:a16="http://schemas.microsoft.com/office/drawing/2014/main" id="{B08DC184-8F9D-8BDE-481C-0F097FE176B0}"/>
                </a:ext>
              </a:extLst>
            </p:cNvPr>
            <p:cNvSpPr/>
            <p:nvPr/>
          </p:nvSpPr>
          <p:spPr>
            <a:xfrm>
              <a:off x="9316564" y="2121265"/>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23" name="Straight Arrow Connector 22">
              <a:extLst>
                <a:ext uri="{FF2B5EF4-FFF2-40B4-BE49-F238E27FC236}">
                  <a16:creationId xmlns:a16="http://schemas.microsoft.com/office/drawing/2014/main" id="{176695DA-3901-AF9B-523F-9100DC7643AE}"/>
                </a:ext>
              </a:extLst>
            </p:cNvPr>
            <p:cNvCxnSpPr>
              <a:cxnSpLocks/>
              <a:endCxn id="17" idx="1"/>
            </p:cNvCxnSpPr>
            <p:nvPr/>
          </p:nvCxnSpPr>
          <p:spPr>
            <a:xfrm>
              <a:off x="8686800" y="4088423"/>
              <a:ext cx="1904766" cy="592993"/>
            </a:xfrm>
            <a:prstGeom prst="straightConnector1">
              <a:avLst/>
            </a:prstGeom>
            <a:ln w="635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F523B72A-756F-11AE-435C-831FCBCF286D}"/>
                </a:ext>
              </a:extLst>
            </p:cNvPr>
            <p:cNvSpPr>
              <a:spLocks noChangeAspect="1"/>
            </p:cNvSpPr>
            <p:nvPr/>
          </p:nvSpPr>
          <p:spPr>
            <a:xfrm>
              <a:off x="8635456" y="4013753"/>
              <a:ext cx="137160" cy="13716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A28FCA5-32EC-D888-81B0-8729B55301FB}"/>
                </a:ext>
              </a:extLst>
            </p:cNvPr>
            <p:cNvSpPr/>
            <p:nvPr/>
          </p:nvSpPr>
          <p:spPr>
            <a:xfrm>
              <a:off x="10975614" y="3934436"/>
              <a:ext cx="914400" cy="3079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¬ref, ¬dirty </a:t>
              </a:r>
            </a:p>
          </p:txBody>
        </p:sp>
        <p:cxnSp>
          <p:nvCxnSpPr>
            <p:cNvPr id="6" name="Straight Arrow Connector 5">
              <a:extLst>
                <a:ext uri="{FF2B5EF4-FFF2-40B4-BE49-F238E27FC236}">
                  <a16:creationId xmlns:a16="http://schemas.microsoft.com/office/drawing/2014/main" id="{25813563-7524-E408-2B62-3BBA528BE1EB}"/>
                </a:ext>
              </a:extLst>
            </p:cNvPr>
            <p:cNvCxnSpPr/>
            <p:nvPr/>
          </p:nvCxnSpPr>
          <p:spPr>
            <a:xfrm flipV="1">
              <a:off x="6591182" y="6057960"/>
              <a:ext cx="744650" cy="312436"/>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A1A3EF0-31B2-4570-A586-9136C066418B}"/>
                </a:ext>
              </a:extLst>
            </p:cNvPr>
            <p:cNvSpPr txBox="1"/>
            <p:nvPr/>
          </p:nvSpPr>
          <p:spPr>
            <a:xfrm>
              <a:off x="5572194" y="6378453"/>
              <a:ext cx="1962012" cy="369332"/>
            </a:xfrm>
            <a:prstGeom prst="rect">
              <a:avLst/>
            </a:prstGeom>
            <a:noFill/>
          </p:spPr>
          <p:txBody>
            <a:bodyPr wrap="none" rtlCol="0">
              <a:spAutoFit/>
            </a:bodyPr>
            <a:lstStyle/>
            <a:p>
              <a:r>
                <a:rPr lang="en-US" dirty="0"/>
                <a:t>release this frame</a:t>
              </a:r>
            </a:p>
          </p:txBody>
        </p:sp>
      </p:grpSp>
    </p:spTree>
    <p:extLst>
      <p:ext uri="{BB962C8B-B14F-4D97-AF65-F5344CB8AC3E}">
        <p14:creationId xmlns:p14="http://schemas.microsoft.com/office/powerpoint/2010/main" val="833176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96AD-E6F8-CEEC-FE69-F9EE9DAB15E6}"/>
              </a:ext>
            </a:extLst>
          </p:cNvPr>
          <p:cNvSpPr>
            <a:spLocks noGrp="1"/>
          </p:cNvSpPr>
          <p:nvPr>
            <p:ph type="title"/>
          </p:nvPr>
        </p:nvSpPr>
        <p:spPr/>
        <p:txBody>
          <a:bodyPr/>
          <a:lstStyle/>
          <a:p>
            <a:r>
              <a:rPr lang="en-US" dirty="0"/>
              <a:t>Virtual memory: wrap up</a:t>
            </a:r>
          </a:p>
        </p:txBody>
      </p:sp>
      <p:sp>
        <p:nvSpPr>
          <p:cNvPr id="3" name="Content Placeholder 2">
            <a:extLst>
              <a:ext uri="{FF2B5EF4-FFF2-40B4-BE49-F238E27FC236}">
                <a16:creationId xmlns:a16="http://schemas.microsoft.com/office/drawing/2014/main" id="{A1DA97AD-BFC5-C30B-EB67-D9DD9FA34571}"/>
              </a:ext>
            </a:extLst>
          </p:cNvPr>
          <p:cNvSpPr>
            <a:spLocks noGrp="1"/>
          </p:cNvSpPr>
          <p:nvPr>
            <p:ph idx="1"/>
          </p:nvPr>
        </p:nvSpPr>
        <p:spPr/>
        <p:txBody>
          <a:bodyPr/>
          <a:lstStyle/>
          <a:p>
            <a:pPr marL="0" indent="0">
              <a:buNone/>
            </a:pPr>
            <a:r>
              <a:rPr lang="en-US" dirty="0"/>
              <a:t>There are lots of details we’ve omitted!</a:t>
            </a:r>
          </a:p>
          <a:p>
            <a:r>
              <a:rPr lang="en-US" dirty="0"/>
              <a:t>Hardware support to make this even faster</a:t>
            </a:r>
          </a:p>
          <a:p>
            <a:pPr lvl="1"/>
            <a:r>
              <a:rPr lang="en-US" dirty="0"/>
              <a:t>Memory caches</a:t>
            </a:r>
          </a:p>
          <a:p>
            <a:pPr lvl="1"/>
            <a:r>
              <a:rPr lang="en-US" dirty="0"/>
              <a:t>Translation lookaside buffers (TLB)</a:t>
            </a:r>
          </a:p>
          <a:p>
            <a:r>
              <a:rPr lang="en-US" dirty="0"/>
              <a:t>As addresses get longer (</a:t>
            </a:r>
            <a:r>
              <a:rPr lang="en-US" dirty="0" err="1"/>
              <a:t>eg</a:t>
            </a:r>
            <a:r>
              <a:rPr lang="en-US" dirty="0"/>
              <a:t>, 64 bit) page tables can get huge</a:t>
            </a:r>
          </a:p>
          <a:p>
            <a:pPr lvl="1"/>
            <a:r>
              <a:rPr lang="en-US" dirty="0"/>
              <a:t>Multi-level page tables</a:t>
            </a:r>
          </a:p>
          <a:p>
            <a:r>
              <a:rPr lang="en-US" dirty="0"/>
              <a:t>Prefetching pages: paging something in </a:t>
            </a:r>
            <a:r>
              <a:rPr lang="en-US" i="1" dirty="0"/>
              <a:t>before</a:t>
            </a:r>
            <a:r>
              <a:rPr lang="en-US" dirty="0"/>
              <a:t> it is referenced</a:t>
            </a:r>
          </a:p>
          <a:p>
            <a:r>
              <a:rPr lang="en-US" dirty="0"/>
              <a:t>Avoiding paging out by memory compression</a:t>
            </a:r>
          </a:p>
        </p:txBody>
      </p:sp>
      <p:sp>
        <p:nvSpPr>
          <p:cNvPr id="4" name="TextBox 3">
            <a:extLst>
              <a:ext uri="{FF2B5EF4-FFF2-40B4-BE49-F238E27FC236}">
                <a16:creationId xmlns:a16="http://schemas.microsoft.com/office/drawing/2014/main" id="{8EF75880-FB15-AA81-3360-A2DEBDEE888E}"/>
              </a:ext>
            </a:extLst>
          </p:cNvPr>
          <p:cNvSpPr txBox="1"/>
          <p:nvPr/>
        </p:nvSpPr>
        <p:spPr>
          <a:xfrm>
            <a:off x="2645664" y="5934670"/>
            <a:ext cx="9546336" cy="923330"/>
          </a:xfrm>
          <a:prstGeom prst="rect">
            <a:avLst/>
          </a:prstGeom>
          <a:solidFill>
            <a:schemeClr val="accent6">
              <a:lumMod val="20000"/>
              <a:lumOff val="80000"/>
            </a:schemeClr>
          </a:solidFill>
        </p:spPr>
        <p:txBody>
          <a:bodyPr wrap="square" rtlCol="0">
            <a:spAutoFit/>
          </a:bodyPr>
          <a:lstStyle/>
          <a:p>
            <a:pPr marL="0" indent="0">
              <a:buNone/>
            </a:pPr>
            <a:r>
              <a:rPr lang="en-US" dirty="0"/>
              <a:t>ACM Transactions on Computer Systems Volume 14, Number 4: </a:t>
            </a:r>
            <a:r>
              <a:rPr lang="en-US" i="1" dirty="0"/>
              <a:t>Implementation and performance of integrated application-controlled file caching, prefetching, and disk scheduling</a:t>
            </a:r>
          </a:p>
          <a:p>
            <a:pPr marL="0" indent="0">
              <a:buNone/>
            </a:pPr>
            <a:r>
              <a:rPr lang="en-US" dirty="0">
                <a:hlinkClick r:id="rId2"/>
              </a:rPr>
              <a:t>https://</a:t>
            </a:r>
            <a:r>
              <a:rPr lang="en-US" dirty="0" err="1">
                <a:hlinkClick r:id="rId2"/>
              </a:rPr>
              <a:t>dl.acm.org</a:t>
            </a:r>
            <a:r>
              <a:rPr lang="en-US" dirty="0">
                <a:hlinkClick r:id="rId2"/>
              </a:rPr>
              <a:t>/</a:t>
            </a:r>
            <a:r>
              <a:rPr lang="en-US" dirty="0" err="1">
                <a:hlinkClick r:id="rId2"/>
              </a:rPr>
              <a:t>doi</a:t>
            </a:r>
            <a:r>
              <a:rPr lang="en-US" dirty="0">
                <a:hlinkClick r:id="rId2"/>
              </a:rPr>
              <a:t>/10.1145/235543.235544</a:t>
            </a:r>
            <a:endParaRPr lang="en-US" dirty="0"/>
          </a:p>
        </p:txBody>
      </p:sp>
    </p:spTree>
    <p:extLst>
      <p:ext uri="{BB962C8B-B14F-4D97-AF65-F5344CB8AC3E}">
        <p14:creationId xmlns:p14="http://schemas.microsoft.com/office/powerpoint/2010/main" val="682619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46535-F1F6-3F4F-A104-BB0C85DE4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FF49F-5E7E-708C-5C8C-7882D05B3A1B}"/>
              </a:ext>
            </a:extLst>
          </p:cNvPr>
          <p:cNvSpPr>
            <a:spLocks noGrp="1"/>
          </p:cNvSpPr>
          <p:nvPr>
            <p:ph type="title"/>
          </p:nvPr>
        </p:nvSpPr>
        <p:spPr/>
        <p:txBody>
          <a:bodyPr/>
          <a:lstStyle/>
          <a:p>
            <a:r>
              <a:rPr lang="en-US" dirty="0"/>
              <a:t>Software week key points</a:t>
            </a:r>
          </a:p>
        </p:txBody>
      </p:sp>
      <p:sp>
        <p:nvSpPr>
          <p:cNvPr id="3" name="Content Placeholder 2">
            <a:extLst>
              <a:ext uri="{FF2B5EF4-FFF2-40B4-BE49-F238E27FC236}">
                <a16:creationId xmlns:a16="http://schemas.microsoft.com/office/drawing/2014/main" id="{1F546333-84DC-2DD9-3F57-4603F58CFF53}"/>
              </a:ext>
            </a:extLst>
          </p:cNvPr>
          <p:cNvSpPr>
            <a:spLocks noGrp="1"/>
          </p:cNvSpPr>
          <p:nvPr>
            <p:ph idx="1"/>
          </p:nvPr>
        </p:nvSpPr>
        <p:spPr/>
        <p:txBody>
          <a:bodyPr>
            <a:normAutofit/>
          </a:bodyPr>
          <a:lstStyle/>
          <a:p>
            <a:r>
              <a:rPr lang="en-US" dirty="0"/>
              <a:t>Why we usually – but not always – program using higher-level languages</a:t>
            </a:r>
          </a:p>
          <a:p>
            <a:r>
              <a:rPr lang="en-US" dirty="0"/>
              <a:t>The bird’s-eye view and worm’s-eye view of software systems</a:t>
            </a:r>
          </a:p>
          <a:p>
            <a:r>
              <a:rPr lang="en-US" dirty="0"/>
              <a:t>Virtualization of resources</a:t>
            </a:r>
          </a:p>
          <a:p>
            <a:r>
              <a:rPr lang="en-US" dirty="0"/>
              <a:t>Context switching and threads, processes, and virtual machines</a:t>
            </a:r>
          </a:p>
          <a:p>
            <a:r>
              <a:rPr lang="en-US" dirty="0"/>
              <a:t>Virtual memory: memory management units</a:t>
            </a:r>
          </a:p>
          <a:p>
            <a:r>
              <a:rPr lang="en-US" dirty="0"/>
              <a:t>Virtual memory: demand paging and why the page replacement policy is important</a:t>
            </a:r>
          </a:p>
        </p:txBody>
      </p:sp>
    </p:spTree>
    <p:extLst>
      <p:ext uri="{BB962C8B-B14F-4D97-AF65-F5344CB8AC3E}">
        <p14:creationId xmlns:p14="http://schemas.microsoft.com/office/powerpoint/2010/main" val="3030800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D3E0-DBCF-771A-D7F7-60DFC3E19785}"/>
              </a:ext>
            </a:extLst>
          </p:cNvPr>
          <p:cNvSpPr>
            <a:spLocks noGrp="1"/>
          </p:cNvSpPr>
          <p:nvPr>
            <p:ph type="title"/>
          </p:nvPr>
        </p:nvSpPr>
        <p:spPr/>
        <p:txBody>
          <a:bodyPr/>
          <a:lstStyle/>
          <a:p>
            <a:r>
              <a:rPr lang="en-US" dirty="0"/>
              <a:t>Guest lecture: Values in Internet architecture</a:t>
            </a:r>
          </a:p>
        </p:txBody>
      </p:sp>
      <p:sp>
        <p:nvSpPr>
          <p:cNvPr id="3" name="Content Placeholder 2">
            <a:extLst>
              <a:ext uri="{FF2B5EF4-FFF2-40B4-BE49-F238E27FC236}">
                <a16:creationId xmlns:a16="http://schemas.microsoft.com/office/drawing/2014/main" id="{0AC963AB-0E9D-7637-7C5D-17EF7BBED0F0}"/>
              </a:ext>
            </a:extLst>
          </p:cNvPr>
          <p:cNvSpPr>
            <a:spLocks noGrp="1"/>
          </p:cNvSpPr>
          <p:nvPr>
            <p:ph idx="1"/>
          </p:nvPr>
        </p:nvSpPr>
        <p:spPr>
          <a:xfrm>
            <a:off x="2743200" y="2546985"/>
            <a:ext cx="8533268" cy="2634615"/>
          </a:xfrm>
        </p:spPr>
        <p:txBody>
          <a:bodyPr>
            <a:normAutofit/>
          </a:bodyPr>
          <a:lstStyle/>
          <a:p>
            <a:pPr marL="0" indent="0">
              <a:buNone/>
            </a:pPr>
            <a:r>
              <a:rPr lang="en-US" sz="2000" dirty="0"/>
              <a:t>Dr. Katie Shilton is a professor in the College of Information. She leads the Ethics &amp; Values in Design (</a:t>
            </a:r>
            <a:r>
              <a:rPr lang="en-US" sz="2000" dirty="0" err="1"/>
              <a:t>EViD</a:t>
            </a:r>
            <a:r>
              <a:rPr lang="en-US" sz="2000" dirty="0"/>
              <a:t>) Lab. Her research focuses on technology and data ethics. She is a co-PI of the NSF and NIST-funded TRAILS Institute focused on trustworthy AI, and a co-PI of UMD’s Values Centered AI Initiative. She was also recently the PI of the PERVADE project, a multi-campus collaboration focused on big data research ethics. Other projects include improving online content moderation with human-in-the-loop machine learning techniques and designing experiential data ethics education.</a:t>
            </a:r>
          </a:p>
        </p:txBody>
      </p:sp>
      <p:pic>
        <p:nvPicPr>
          <p:cNvPr id="5" name="Picture 4" descr="A photo of Professor Katie Shilton">
            <a:extLst>
              <a:ext uri="{FF2B5EF4-FFF2-40B4-BE49-F238E27FC236}">
                <a16:creationId xmlns:a16="http://schemas.microsoft.com/office/drawing/2014/main" id="{83F8846B-CD87-77EC-860E-C0F9505A5DFC}"/>
              </a:ext>
            </a:extLst>
          </p:cNvPr>
          <p:cNvPicPr>
            <a:picLocks noChangeAspect="1"/>
          </p:cNvPicPr>
          <p:nvPr/>
        </p:nvPicPr>
        <p:blipFill>
          <a:blip r:embed="rId2"/>
          <a:stretch>
            <a:fillRect/>
          </a:stretch>
        </p:blipFill>
        <p:spPr>
          <a:xfrm>
            <a:off x="838200" y="2649358"/>
            <a:ext cx="1905000" cy="2374900"/>
          </a:xfrm>
          <a:prstGeom prst="rect">
            <a:avLst/>
          </a:prstGeom>
        </p:spPr>
      </p:pic>
    </p:spTree>
    <p:extLst>
      <p:ext uri="{BB962C8B-B14F-4D97-AF65-F5344CB8AC3E}">
        <p14:creationId xmlns:p14="http://schemas.microsoft.com/office/powerpoint/2010/main" val="8475037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C614-69D2-7153-BE81-7161C666CA46}"/>
              </a:ext>
            </a:extLst>
          </p:cNvPr>
          <p:cNvSpPr>
            <a:spLocks noGrp="1"/>
          </p:cNvSpPr>
          <p:nvPr>
            <p:ph type="title"/>
          </p:nvPr>
        </p:nvSpPr>
        <p:spPr>
          <a:xfrm>
            <a:off x="838200" y="238997"/>
            <a:ext cx="10515600" cy="1325563"/>
          </a:xfrm>
        </p:spPr>
        <p:txBody>
          <a:bodyPr/>
          <a:lstStyle/>
          <a:p>
            <a:r>
              <a:rPr lang="en-US" dirty="0"/>
              <a:t>Next week: Overview of the Internet</a:t>
            </a:r>
          </a:p>
        </p:txBody>
      </p:sp>
      <p:pic>
        <p:nvPicPr>
          <p:cNvPr id="4" name="Picture 3" descr="Computer Networking: A Top-Down Approach">
            <a:extLst>
              <a:ext uri="{FF2B5EF4-FFF2-40B4-BE49-F238E27FC236}">
                <a16:creationId xmlns:a16="http://schemas.microsoft.com/office/drawing/2014/main" id="{4BBA1A96-2F74-0549-AE4D-4AB26C9840C4}"/>
              </a:ext>
            </a:extLst>
          </p:cNvPr>
          <p:cNvPicPr>
            <a:picLocks noChangeAspect="1"/>
          </p:cNvPicPr>
          <p:nvPr/>
        </p:nvPicPr>
        <p:blipFill>
          <a:blip r:embed="rId3"/>
          <a:srcRect/>
          <a:stretch/>
        </p:blipFill>
        <p:spPr>
          <a:xfrm>
            <a:off x="5018817" y="1186181"/>
            <a:ext cx="6944669" cy="5432822"/>
          </a:xfrm>
          <a:prstGeom prst="rect">
            <a:avLst/>
          </a:prstGeom>
        </p:spPr>
      </p:pic>
      <p:sp>
        <p:nvSpPr>
          <p:cNvPr id="5" name="Rectangle 4">
            <a:extLst>
              <a:ext uri="{FF2B5EF4-FFF2-40B4-BE49-F238E27FC236}">
                <a16:creationId xmlns:a16="http://schemas.microsoft.com/office/drawing/2014/main" id="{034204C1-CA0C-F51D-1B00-511313ACF57F}"/>
              </a:ext>
            </a:extLst>
          </p:cNvPr>
          <p:cNvSpPr>
            <a:spLocks noChangeArrowheads="1"/>
          </p:cNvSpPr>
          <p:nvPr/>
        </p:nvSpPr>
        <p:spPr bwMode="auto">
          <a:xfrm>
            <a:off x="459642" y="5707360"/>
            <a:ext cx="3981504" cy="106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1800" dirty="0">
                <a:latin typeface="+mn-lt"/>
              </a:rPr>
              <a:t>Computer Networking: A Top-Down Approach . 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p>
        </p:txBody>
      </p:sp>
      <p:pic>
        <p:nvPicPr>
          <p:cNvPr id="6" name="Picture 5" descr="Computer Networking: A Top-Down Approach, 8th edition">
            <a:extLst>
              <a:ext uri="{FF2B5EF4-FFF2-40B4-BE49-F238E27FC236}">
                <a16:creationId xmlns:a16="http://schemas.microsoft.com/office/drawing/2014/main" id="{69606BF8-06AD-5444-165F-DFD1BC94826C}"/>
              </a:ext>
            </a:extLst>
          </p:cNvPr>
          <p:cNvPicPr>
            <a:picLocks noChangeAspect="1"/>
          </p:cNvPicPr>
          <p:nvPr/>
        </p:nvPicPr>
        <p:blipFill>
          <a:blip r:embed="rId4"/>
          <a:stretch>
            <a:fillRect/>
          </a:stretch>
        </p:blipFill>
        <p:spPr>
          <a:xfrm>
            <a:off x="459642" y="1746361"/>
            <a:ext cx="3040743" cy="3800929"/>
          </a:xfrm>
          <a:prstGeom prst="rect">
            <a:avLst/>
          </a:prstGeom>
        </p:spPr>
      </p:pic>
      <p:sp>
        <p:nvSpPr>
          <p:cNvPr id="7" name="Rectangle 6">
            <a:extLst>
              <a:ext uri="{FF2B5EF4-FFF2-40B4-BE49-F238E27FC236}">
                <a16:creationId xmlns:a16="http://schemas.microsoft.com/office/drawing/2014/main" id="{4E369B4F-E5FF-EE10-A980-C2CE3B004015}"/>
              </a:ext>
              <a:ext uri="{C183D7F6-B498-43B3-948B-1728B52AA6E4}">
                <adec:decorative xmlns:adec="http://schemas.microsoft.com/office/drawing/2017/decorative" val="1"/>
              </a:ext>
            </a:extLst>
          </p:cNvPr>
          <p:cNvSpPr/>
          <p:nvPr/>
        </p:nvSpPr>
        <p:spPr>
          <a:xfrm>
            <a:off x="6096000" y="3599945"/>
            <a:ext cx="5867486" cy="3019058"/>
          </a:xfrm>
          <a:prstGeom prst="rect">
            <a:avLst/>
          </a:prstGeom>
          <a:solidFill>
            <a:schemeClr val="bg2">
              <a:lumMod val="90000"/>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39AC785-BB41-49AB-05C2-021E75F2C6F3}"/>
              </a:ext>
            </a:extLst>
          </p:cNvPr>
          <p:cNvSpPr txBox="1"/>
          <p:nvPr/>
        </p:nvSpPr>
        <p:spPr>
          <a:xfrm>
            <a:off x="9626741" y="465673"/>
            <a:ext cx="2136328" cy="707886"/>
          </a:xfrm>
          <a:prstGeom prst="rect">
            <a:avLst/>
          </a:prstGeom>
          <a:solidFill>
            <a:srgbClr val="FFFF00"/>
          </a:solidFill>
        </p:spPr>
        <p:txBody>
          <a:bodyPr wrap="square" rtlCol="0">
            <a:spAutoFit/>
          </a:bodyPr>
          <a:lstStyle/>
          <a:p>
            <a:pPr algn="ctr"/>
            <a:r>
              <a:rPr lang="en-US" sz="2000" dirty="0"/>
              <a:t>Please read Sections 1.1-1.3 </a:t>
            </a:r>
            <a:endParaRPr lang="en-US" sz="2000" i="1" dirty="0"/>
          </a:p>
        </p:txBody>
      </p:sp>
    </p:spTree>
    <p:extLst>
      <p:ext uri="{BB962C8B-B14F-4D97-AF65-F5344CB8AC3E}">
        <p14:creationId xmlns:p14="http://schemas.microsoft.com/office/powerpoint/2010/main" val="3676333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21818</TotalTime>
  <Words>4147</Words>
  <Application>Microsoft Macintosh PowerPoint</Application>
  <PresentationFormat>Widescreen</PresentationFormat>
  <Paragraphs>891</Paragraphs>
  <Slides>45</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Aptos</vt:lpstr>
      <vt:lpstr>Aptos Display</vt:lpstr>
      <vt:lpstr>Aptos Narrow</vt:lpstr>
      <vt:lpstr>Arial</vt:lpstr>
      <vt:lpstr>Consolas</vt:lpstr>
      <vt:lpstr>PT Serif</vt:lpstr>
      <vt:lpstr>Office Theme</vt:lpstr>
      <vt:lpstr>INST 346 Spring 2025</vt:lpstr>
      <vt:lpstr>Lab this week</vt:lpstr>
      <vt:lpstr>Software Week learning objectives</vt:lpstr>
      <vt:lpstr>Computing Systems – hardware and software</vt:lpstr>
      <vt:lpstr>Machine language, assembler, and higher-level languages</vt:lpstr>
      <vt:lpstr>Fibonacci program</vt:lpstr>
      <vt:lpstr>“There’s plenty of room at the top”</vt:lpstr>
      <vt:lpstr>Software systems: Two points of view (1)</vt:lpstr>
      <vt:lpstr>Software systems: Two points of view (2)</vt:lpstr>
      <vt:lpstr>Multiprocessing: Sharing a processor</vt:lpstr>
      <vt:lpstr>Multiprocessing</vt:lpstr>
      <vt:lpstr>Threads</vt:lpstr>
      <vt:lpstr>Processes</vt:lpstr>
      <vt:lpstr>Virtual machines</vt:lpstr>
      <vt:lpstr>Virtual memory</vt:lpstr>
      <vt:lpstr>Why is virtual memory useful?</vt:lpstr>
      <vt:lpstr>Old-school virtual memory example</vt:lpstr>
      <vt:lpstr>Translating virtual addresses to physical addresses: Page table</vt:lpstr>
      <vt:lpstr>Translating virtual addresses to physical addresses: Page table (1)</vt:lpstr>
      <vt:lpstr>Translating virtual addresses to physical addresses: Page table (2)</vt:lpstr>
      <vt:lpstr>Translating virtual addresses to physical addresses: Page table (3)</vt:lpstr>
      <vt:lpstr>Translating virtual addresses to physical addresses: Page table (4)</vt:lpstr>
      <vt:lpstr>Translating virtual addresses to physical addresses: Page table (5)</vt:lpstr>
      <vt:lpstr>Translating virtual addresses to physical addresses: Page table (6)</vt:lpstr>
      <vt:lpstr>Translating virtual addresses to physical addresses: Page table (7)</vt:lpstr>
      <vt:lpstr>Translating virtual addresses to physical addresses: Page table (8)</vt:lpstr>
      <vt:lpstr>Virtual memory: Managing page frames</vt:lpstr>
      <vt:lpstr>Finding a  vacant page frame: Frame table</vt:lpstr>
      <vt:lpstr>Page replacement policy</vt:lpstr>
      <vt:lpstr>LRU and LRU approximation (Clock)</vt:lpstr>
      <vt:lpstr>LRU approximation (Clock) 1</vt:lpstr>
      <vt:lpstr>LRU approximation (Clock) 2</vt:lpstr>
      <vt:lpstr>LRU approximation (Clock) 3</vt:lpstr>
      <vt:lpstr>LRU approximation (Clock) 4</vt:lpstr>
      <vt:lpstr>LRU approximation (Clock) 5</vt:lpstr>
      <vt:lpstr>LRU approximation (Clock) 7</vt:lpstr>
      <vt:lpstr>LRU approximation (Clock) 9</vt:lpstr>
      <vt:lpstr>LRU approximation (Clock) 10</vt:lpstr>
      <vt:lpstr>LRU approximation (Clock) 11</vt:lpstr>
      <vt:lpstr>LRU approximation (Clock) 12</vt:lpstr>
      <vt:lpstr>LRU approximation (Clock) 13</vt:lpstr>
      <vt:lpstr>Virtual memory: wrap up</vt:lpstr>
      <vt:lpstr>Software week key points</vt:lpstr>
      <vt:lpstr>Guest lecture: Values in Internet architecture</vt:lpstr>
      <vt:lpstr>Next week: Overview of the Internet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keith marzullo</dc:creator>
  <cp:lastModifiedBy>Myles Javonni Sartor</cp:lastModifiedBy>
  <cp:revision>137</cp:revision>
  <dcterms:created xsi:type="dcterms:W3CDTF">2024-12-18T21:53:36Z</dcterms:created>
  <dcterms:modified xsi:type="dcterms:W3CDTF">2025-02-17T21:07:06Z</dcterms:modified>
</cp:coreProperties>
</file>