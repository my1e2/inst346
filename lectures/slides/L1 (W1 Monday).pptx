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3"/>
  </p:notesMasterIdLst>
  <p:sldIdLst>
    <p:sldId id="256" r:id="rId2"/>
    <p:sldId id="269" r:id="rId3"/>
    <p:sldId id="277" r:id="rId4"/>
    <p:sldId id="276" r:id="rId5"/>
    <p:sldId id="270" r:id="rId6"/>
    <p:sldId id="271" r:id="rId7"/>
    <p:sldId id="272" r:id="rId8"/>
    <p:sldId id="273" r:id="rId9"/>
    <p:sldId id="274" r:id="rId10"/>
    <p:sldId id="267" r:id="rId11"/>
    <p:sldId id="258" r:id="rId12"/>
    <p:sldId id="268" r:id="rId13"/>
    <p:sldId id="265" r:id="rId14"/>
    <p:sldId id="275" r:id="rId15"/>
    <p:sldId id="259" r:id="rId16"/>
    <p:sldId id="260" r:id="rId17"/>
    <p:sldId id="261" r:id="rId18"/>
    <p:sldId id="262" r:id="rId19"/>
    <p:sldId id="263" r:id="rId20"/>
    <p:sldId id="264" r:id="rId21"/>
    <p:sldId id="26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94"/>
    <p:restoredTop sz="94713"/>
  </p:normalViewPr>
  <p:slideViewPr>
    <p:cSldViewPr snapToGrid="0">
      <p:cViewPr varScale="1">
        <p:scale>
          <a:sx n="108" d="100"/>
          <a:sy n="108" d="100"/>
        </p:scale>
        <p:origin x="9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740D5-9FCB-6640-ADD7-88C109B0CE68}" type="datetimeFigureOut">
              <a:rPr lang="en-US" smtClean="0"/>
              <a:t>1/28/25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874D0E-096F-9B4C-8096-3DB7CCC55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92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74D0E-096F-9B4C-8096-3DB7CCC55B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70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74D0E-096F-9B4C-8096-3DB7CCC55B8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82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9F61-AAAF-634B-9135-B8C51606ED8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F49D-02E1-E748-AA5A-2082A917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32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9F61-AAAF-634B-9135-B8C51606ED8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F49D-02E1-E748-AA5A-2082A917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3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00">
            <a:alpha val="1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9F61-AAAF-634B-9135-B8C51606ED8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F49D-02E1-E748-AA5A-2082A917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91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9F61-AAAF-634B-9135-B8C51606ED8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F49D-02E1-E748-AA5A-2082A917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07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9F61-AAAF-634B-9135-B8C51606ED8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F49D-02E1-E748-AA5A-2082A917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6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9F61-AAAF-634B-9135-B8C51606ED8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F49D-02E1-E748-AA5A-2082A917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30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9F61-AAAF-634B-9135-B8C51606ED8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F49D-02E1-E748-AA5A-2082A917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591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9F61-AAAF-634B-9135-B8C51606ED8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F49D-02E1-E748-AA5A-2082A917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387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9F61-AAAF-634B-9135-B8C51606ED8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F49D-02E1-E748-AA5A-2082A917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7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9F61-AAAF-634B-9135-B8C51606ED8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F49D-02E1-E748-AA5A-2082A917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62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9F61-AAAF-634B-9135-B8C51606ED8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F49D-02E1-E748-AA5A-2082A917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697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1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EB9F61-AAAF-634B-9135-B8C51606ED8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3F49D-02E1-E748-AA5A-2082A917C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9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jcole124@umd.edu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oma.com/blog/the-most-connected-cities-in-the-us" TargetMode="Externa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56561-3A5E-1DD5-6A15-B60217F626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INST 346 Spring 2025</a:t>
            </a:r>
            <a:br>
              <a:rPr lang="en-US" dirty="0"/>
            </a:br>
            <a:r>
              <a:rPr lang="en-US" dirty="0"/>
              <a:t>Technologies, Infrastructure, and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10C9D0-9FA1-60B7-36C0-39EF48F87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1 </a:t>
            </a:r>
          </a:p>
          <a:p>
            <a:r>
              <a:rPr lang="en-US" dirty="0"/>
              <a:t>January 27, 2025</a:t>
            </a:r>
          </a:p>
          <a:p>
            <a:r>
              <a:rPr lang="en-US" dirty="0"/>
              <a:t>Professor Keith Marzullo</a:t>
            </a:r>
          </a:p>
        </p:txBody>
      </p:sp>
    </p:spTree>
    <p:extLst>
      <p:ext uri="{BB962C8B-B14F-4D97-AF65-F5344CB8AC3E}">
        <p14:creationId xmlns:p14="http://schemas.microsoft.com/office/powerpoint/2010/main" val="2486002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FDBA4A-2895-81DD-14FE-243C87426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about 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BB4131-8A4A-1241-0612-DA66E16FC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235"/>
            <a:ext cx="10515600" cy="5061640"/>
          </a:xfrm>
        </p:spPr>
        <p:txBody>
          <a:bodyPr>
            <a:normAutofit/>
          </a:bodyPr>
          <a:lstStyle/>
          <a:p>
            <a:r>
              <a:rPr lang="en-US" dirty="0"/>
              <a:t>My name is Keith Marzullo (</a:t>
            </a:r>
            <a:r>
              <a:rPr lang="en-US" i="1" dirty="0"/>
              <a:t>he/him</a:t>
            </a:r>
            <a:r>
              <a:rPr lang="en-US" dirty="0"/>
              <a:t>)</a:t>
            </a:r>
          </a:p>
          <a:p>
            <a:r>
              <a:rPr lang="en-US" dirty="0"/>
              <a:t>As well as the instructor for this course, I’m the dean of INFO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When you email me, please start the subject with “346:”</a:t>
            </a:r>
            <a:r>
              <a:rPr lang="en-US" b="1" dirty="0"/>
              <a:t> </a:t>
            </a:r>
          </a:p>
          <a:p>
            <a:r>
              <a:rPr lang="en-US" dirty="0"/>
              <a:t>I have an A.B. in Physics, an M.S. in Astrophysics, and a Ph.D. in Electrical Engineering</a:t>
            </a:r>
          </a:p>
          <a:p>
            <a:r>
              <a:rPr lang="en-US" dirty="0"/>
              <a:t>I’ve been a professor of Computer Science at Cornell University and UC San Diego (Department Chair for five years), and have taught at the University of Bologna and the University of </a:t>
            </a:r>
            <a:r>
              <a:rPr lang="en-US" dirty="0" err="1"/>
              <a:t>Tromsø</a:t>
            </a:r>
            <a:endParaRPr lang="en-US" dirty="0"/>
          </a:p>
          <a:p>
            <a:r>
              <a:rPr lang="en-US" dirty="0"/>
              <a:t>This is the first course I have taught in my eight years at UMD</a:t>
            </a:r>
          </a:p>
        </p:txBody>
      </p:sp>
    </p:spTree>
    <p:extLst>
      <p:ext uri="{BB962C8B-B14F-4D97-AF65-F5344CB8AC3E}">
        <p14:creationId xmlns:p14="http://schemas.microsoft.com/office/powerpoint/2010/main" val="614528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541BD-CA2D-F7BD-7FB6-7BE87E750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D951C2-E7CC-9E85-F2D4-11E87868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about 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64F8B5-D758-B3CE-8009-0B46FDEF5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235"/>
            <a:ext cx="10515600" cy="5061640"/>
          </a:xfrm>
        </p:spPr>
        <p:txBody>
          <a:bodyPr>
            <a:normAutofit/>
          </a:bodyPr>
          <a:lstStyle/>
          <a:p>
            <a:r>
              <a:rPr lang="en-US" dirty="0"/>
              <a:t>My research and professional activities have been in network protocols, primarily in terms of distributed coordination and fault tolerance.</a:t>
            </a:r>
          </a:p>
          <a:p>
            <a:pPr lvl="1"/>
            <a:r>
              <a:rPr lang="en-US" dirty="0"/>
              <a:t>For my Ph.D., I developed the clock synchronization protocol for the Xerox Research Internet</a:t>
            </a:r>
          </a:p>
          <a:p>
            <a:pPr lvl="1"/>
            <a:r>
              <a:rPr lang="en-US" dirty="0"/>
              <a:t>I was a principal in a high-tech startup (ISIS Distributed Systems)</a:t>
            </a:r>
          </a:p>
          <a:p>
            <a:pPr lvl="1"/>
            <a:r>
              <a:rPr lang="en-US" dirty="0"/>
              <a:t>I directed the Division of Network Systems of the National Science Foundation (NSF)</a:t>
            </a:r>
          </a:p>
          <a:p>
            <a:pPr lvl="1"/>
            <a:r>
              <a:rPr lang="en-US" dirty="0"/>
              <a:t>I directed the National Coordination Office for Network and Information Technology Research and Development (NITRD) White House Office of Science and Technology Policy (OSTP)</a:t>
            </a:r>
          </a:p>
          <a:p>
            <a:pPr marL="0" indent="0">
              <a:buNone/>
            </a:pPr>
            <a:r>
              <a:rPr lang="en-US" dirty="0"/>
              <a:t>I care a lot about the material covered in this course: its development, use, and impact</a:t>
            </a:r>
          </a:p>
        </p:txBody>
      </p:sp>
    </p:spTree>
    <p:extLst>
      <p:ext uri="{BB962C8B-B14F-4D97-AF65-F5344CB8AC3E}">
        <p14:creationId xmlns:p14="http://schemas.microsoft.com/office/powerpoint/2010/main" val="99849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8C9B8-95A9-5E52-FE79-4D0E25971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450"/>
            <a:ext cx="10515600" cy="1325563"/>
          </a:xfrm>
        </p:spPr>
        <p:txBody>
          <a:bodyPr/>
          <a:lstStyle/>
          <a:p>
            <a:r>
              <a:rPr lang="en-US" dirty="0"/>
              <a:t>A bit about the TA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44AC6AA0-A394-F189-42D2-FA7CA0BB431A}"/>
              </a:ext>
            </a:extLst>
          </p:cNvPr>
          <p:cNvSpPr txBox="1"/>
          <p:nvPr/>
        </p:nvSpPr>
        <p:spPr>
          <a:xfrm>
            <a:off x="3475007" y="1381684"/>
            <a:ext cx="8231088" cy="395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63"/>
              </a:lnSpc>
            </a:pPr>
            <a:r>
              <a:rPr lang="en-US" sz="2187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Our TA is Akshat Patel, or AK for short. He is a graduate student pursuing a Master’s in Cybersecurity at UMD. With a strong interest in networks, servers, and IT infrastructure, Akshat is excited to be a TA for the INST346 class this semester with Dr. Marzullo.</a:t>
            </a:r>
          </a:p>
          <a:p>
            <a:pPr algn="just">
              <a:lnSpc>
                <a:spcPts val="3063"/>
              </a:lnSpc>
            </a:pPr>
            <a:endParaRPr lang="en-US" sz="2187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just">
              <a:lnSpc>
                <a:spcPts val="3063"/>
              </a:lnSpc>
            </a:pPr>
            <a:r>
              <a:rPr lang="en-US" sz="2187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Akshat is here to help and encourages students to reach out anytime with questions, concerns, or feedback. You can contact him via email or ELMS Canvas messaging.</a:t>
            </a:r>
          </a:p>
          <a:p>
            <a:pPr algn="just">
              <a:lnSpc>
                <a:spcPts val="3063"/>
              </a:lnSpc>
            </a:pPr>
            <a:endParaRPr lang="en-US" sz="2187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ctr">
              <a:lnSpc>
                <a:spcPts val="3063"/>
              </a:lnSpc>
              <a:spcBef>
                <a:spcPct val="0"/>
              </a:spcBef>
            </a:pPr>
            <a:r>
              <a:rPr lang="en-US" sz="2187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"Let’s work together to make this a great semester!"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B224622D-D6DA-C4A9-0D28-4A5B744DB19C}"/>
              </a:ext>
            </a:extLst>
          </p:cNvPr>
          <p:cNvSpPr/>
          <p:nvPr/>
        </p:nvSpPr>
        <p:spPr>
          <a:xfrm>
            <a:off x="342870" y="6474327"/>
            <a:ext cx="404901" cy="338645"/>
          </a:xfrm>
          <a:custGeom>
            <a:avLst/>
            <a:gdLst/>
            <a:ahLst/>
            <a:cxnLst/>
            <a:rect l="l" t="t" r="r" b="b"/>
            <a:pathLst>
              <a:path w="607351" h="507967">
                <a:moveTo>
                  <a:pt x="0" y="0"/>
                </a:moveTo>
                <a:lnTo>
                  <a:pt x="607351" y="0"/>
                </a:lnTo>
                <a:lnTo>
                  <a:pt x="607351" y="507967"/>
                </a:lnTo>
                <a:lnTo>
                  <a:pt x="0" y="5079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22EDB7BF-4B2A-8A34-814F-F58B472DBA60}"/>
              </a:ext>
            </a:extLst>
          </p:cNvPr>
          <p:cNvSpPr/>
          <p:nvPr/>
        </p:nvSpPr>
        <p:spPr>
          <a:xfrm>
            <a:off x="7768303" y="5955286"/>
            <a:ext cx="336975" cy="245991"/>
          </a:xfrm>
          <a:custGeom>
            <a:avLst/>
            <a:gdLst/>
            <a:ahLst/>
            <a:cxnLst/>
            <a:rect l="l" t="t" r="r" b="b"/>
            <a:pathLst>
              <a:path w="505462" h="368987">
                <a:moveTo>
                  <a:pt x="0" y="0"/>
                </a:moveTo>
                <a:lnTo>
                  <a:pt x="505462" y="0"/>
                </a:lnTo>
                <a:lnTo>
                  <a:pt x="505462" y="368987"/>
                </a:lnTo>
                <a:lnTo>
                  <a:pt x="0" y="368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36EEE724-B8EA-F80B-8F33-E409E97D4976}"/>
              </a:ext>
            </a:extLst>
          </p:cNvPr>
          <p:cNvSpPr txBox="1"/>
          <p:nvPr/>
        </p:nvSpPr>
        <p:spPr>
          <a:xfrm>
            <a:off x="655776" y="4283988"/>
            <a:ext cx="2397670" cy="38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Akshat D Patel (AK)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2B4F29-D6D8-2F5F-3CED-373F5E4BC5B3}"/>
              </a:ext>
            </a:extLst>
          </p:cNvPr>
          <p:cNvSpPr txBox="1"/>
          <p:nvPr/>
        </p:nvSpPr>
        <p:spPr>
          <a:xfrm>
            <a:off x="460076" y="5929886"/>
            <a:ext cx="4332875" cy="239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5"/>
              </a:lnSpc>
              <a:spcBef>
                <a:spcPct val="0"/>
              </a:spcBef>
            </a:pPr>
            <a:r>
              <a:rPr lang="en-US" sz="13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https://www.linkedin.com/in/akshat-patel64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53F3BF-BFB4-A26C-4E4F-3C4545AB386C}"/>
              </a:ext>
            </a:extLst>
          </p:cNvPr>
          <p:cNvSpPr txBox="1"/>
          <p:nvPr/>
        </p:nvSpPr>
        <p:spPr>
          <a:xfrm>
            <a:off x="747771" y="6514957"/>
            <a:ext cx="4220700" cy="22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3"/>
              </a:lnSpc>
              <a:spcBef>
                <a:spcPct val="0"/>
              </a:spcBef>
            </a:pPr>
            <a:r>
              <a:rPr lang="en-US" sz="13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https://discord.com/users/711640063368233120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08271F-9893-17EC-B72E-C5B9A2A82160}"/>
              </a:ext>
            </a:extLst>
          </p:cNvPr>
          <p:cNvSpPr txBox="1"/>
          <p:nvPr/>
        </p:nvSpPr>
        <p:spPr>
          <a:xfrm>
            <a:off x="8214682" y="5963619"/>
            <a:ext cx="1843718" cy="239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51"/>
              </a:lnSpc>
              <a:spcBef>
                <a:spcPct val="0"/>
              </a:spcBef>
            </a:pPr>
            <a:r>
              <a:rPr lang="en-US" sz="139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akshat64@umd.edu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A4B99333-03E4-0A8C-8B12-83D23462503B}"/>
              </a:ext>
            </a:extLst>
          </p:cNvPr>
          <p:cNvSpPr/>
          <p:nvPr/>
        </p:nvSpPr>
        <p:spPr>
          <a:xfrm>
            <a:off x="596051" y="1470584"/>
            <a:ext cx="2521304" cy="2734665"/>
          </a:xfrm>
          <a:custGeom>
            <a:avLst/>
            <a:gdLst/>
            <a:ahLst/>
            <a:cxnLst/>
            <a:rect l="l" t="t" r="r" b="b"/>
            <a:pathLst>
              <a:path w="3781956" h="4101998">
                <a:moveTo>
                  <a:pt x="0" y="0"/>
                </a:moveTo>
                <a:lnTo>
                  <a:pt x="3781956" y="0"/>
                </a:lnTo>
                <a:lnTo>
                  <a:pt x="3781956" y="4101998"/>
                </a:lnTo>
                <a:lnTo>
                  <a:pt x="0" y="41019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231" r="-4231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E84B69FB-FCED-20DA-A100-13335FC806AD}"/>
              </a:ext>
            </a:extLst>
          </p:cNvPr>
          <p:cNvSpPr/>
          <p:nvPr/>
        </p:nvSpPr>
        <p:spPr>
          <a:xfrm>
            <a:off x="404841" y="5961884"/>
            <a:ext cx="280959" cy="280959"/>
          </a:xfrm>
          <a:custGeom>
            <a:avLst/>
            <a:gdLst/>
            <a:ahLst/>
            <a:cxnLst/>
            <a:rect l="l" t="t" r="r" b="b"/>
            <a:pathLst>
              <a:path w="421439" h="421439">
                <a:moveTo>
                  <a:pt x="0" y="0"/>
                </a:moveTo>
                <a:lnTo>
                  <a:pt x="421439" y="0"/>
                </a:lnTo>
                <a:lnTo>
                  <a:pt x="421439" y="421438"/>
                </a:lnTo>
                <a:lnTo>
                  <a:pt x="0" y="4214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79258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DE64C-1641-0B2E-3848-AF0BDEEFA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about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2738F-E913-A933-0BAC-4FAF57763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There are assigned videos and reading</a:t>
            </a:r>
          </a:p>
          <a:p>
            <a:r>
              <a:rPr lang="en-US" dirty="0"/>
              <a:t>Please read (or at least skim) them before the lectures</a:t>
            </a:r>
          </a:p>
          <a:p>
            <a:r>
              <a:rPr lang="en-US" dirty="0"/>
              <a:t>The textbook is “Computer Networking: A Top-Down</a:t>
            </a:r>
            <a:br>
              <a:rPr lang="en-US" dirty="0"/>
            </a:br>
            <a:r>
              <a:rPr lang="en-US" dirty="0"/>
              <a:t>Approach” by Jim Kurose and Keith Ross</a:t>
            </a:r>
          </a:p>
          <a:p>
            <a:pPr lvl="1"/>
            <a:r>
              <a:rPr lang="en-US" dirty="0"/>
              <a:t>We’ll start referring to this by Week 4</a:t>
            </a:r>
          </a:p>
          <a:p>
            <a:pPr marL="0" indent="0">
              <a:buNone/>
            </a:pPr>
            <a:r>
              <a:rPr lang="en-US" b="1" dirty="0"/>
              <a:t>There are weekly quizzes to complete</a:t>
            </a:r>
          </a:p>
          <a:p>
            <a:r>
              <a:rPr lang="en-US" dirty="0"/>
              <a:t>You can take them as many times as you wish</a:t>
            </a:r>
          </a:p>
          <a:p>
            <a:r>
              <a:rPr lang="en-US" dirty="0"/>
              <a:t>Completion counts for 13% of your grade</a:t>
            </a:r>
          </a:p>
          <a:p>
            <a:r>
              <a:rPr lang="en-US" dirty="0"/>
              <a:t>We’ll drop the lowest two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Computer Networking: A Top-Down Approach, 8th edition">
            <a:extLst>
              <a:ext uri="{FF2B5EF4-FFF2-40B4-BE49-F238E27FC236}">
                <a16:creationId xmlns:a16="http://schemas.microsoft.com/office/drawing/2014/main" id="{2DA905F2-DCB0-2D98-83B1-375F21283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5278" y="3687097"/>
            <a:ext cx="2536722" cy="317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09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64F17-7E59-54E8-AFC3-D8CF62CE0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091C0-69B6-1C42-8BA9-7E177A41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about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8A165-5C4E-D0E3-E5EF-76F6883F2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Friday labs are very important and required</a:t>
            </a:r>
          </a:p>
          <a:p>
            <a:r>
              <a:rPr lang="en-US" dirty="0"/>
              <a:t>These are in-person and account for 13% of your grade</a:t>
            </a:r>
          </a:p>
          <a:p>
            <a:r>
              <a:rPr lang="en-US" dirty="0"/>
              <a:t>Arriving more than 10 minutes late will count as an absence</a:t>
            </a:r>
          </a:p>
          <a:p>
            <a:r>
              <a:rPr lang="en-US" dirty="0"/>
              <a:t>Missed labs require scheduling  a make-up to complete</a:t>
            </a:r>
          </a:p>
          <a:p>
            <a:pPr lvl="1"/>
            <a:r>
              <a:rPr lang="en-US" dirty="0"/>
              <a:t>Up to two unexcused absences can be made up</a:t>
            </a:r>
          </a:p>
          <a:p>
            <a:pPr lvl="1"/>
            <a:r>
              <a:rPr lang="en-US" dirty="0"/>
              <a:t>Missed sessions must be made up within two weeks of the original session</a:t>
            </a:r>
          </a:p>
          <a:p>
            <a:pPr lvl="1"/>
            <a:r>
              <a:rPr lang="en-US" dirty="0"/>
              <a:t>Unexcused absences will also result in a two-point deduction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520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3BC4-791E-4C33-2B35-79BBFE42B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about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FB958-3DD7-9DB6-70B9-B99F10FC0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There will  be homework assignments that will cover material covered in lecture, in the textbook and videos, and the labs</a:t>
            </a:r>
          </a:p>
          <a:p>
            <a:r>
              <a:rPr lang="en-US" dirty="0"/>
              <a:t>The work needs to be your individual effort – no collaboration please</a:t>
            </a:r>
          </a:p>
          <a:p>
            <a:r>
              <a:rPr lang="en-US" dirty="0"/>
              <a:t>They together account for 28% of your grade</a:t>
            </a:r>
          </a:p>
          <a:p>
            <a:pPr lvl="1"/>
            <a:r>
              <a:rPr lang="en-US" dirty="0"/>
              <a:t>We will drop the lowest normalized score</a:t>
            </a:r>
          </a:p>
          <a:p>
            <a:pPr marL="0" indent="0">
              <a:buNone/>
            </a:pPr>
            <a:r>
              <a:rPr lang="en-US" b="1" dirty="0"/>
              <a:t>There will be separate Packet Tracer assignments</a:t>
            </a:r>
          </a:p>
          <a:p>
            <a:r>
              <a:rPr lang="en-US" dirty="0"/>
              <a:t>They together account for 36% of your grade</a:t>
            </a:r>
          </a:p>
          <a:p>
            <a:pPr lvl="1"/>
            <a:r>
              <a:rPr lang="en-US" dirty="0"/>
              <a:t>No scores dropped</a:t>
            </a:r>
          </a:p>
          <a:p>
            <a:pPr lvl="1"/>
            <a:r>
              <a:rPr lang="en-US" dirty="0"/>
              <a:t>No makeups</a:t>
            </a:r>
          </a:p>
          <a:p>
            <a:pPr lvl="1"/>
            <a:r>
              <a:rPr lang="en-US" dirty="0"/>
              <a:t>They will start during Week 5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82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CF4D5-F23D-0CD3-2D3B-071314583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C9BE0-4BED-E9E7-58C4-32ECBE591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about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33299-4A28-4834-5AE8-984957AD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There will be a take-home home final</a:t>
            </a:r>
          </a:p>
          <a:p>
            <a:r>
              <a:rPr lang="en-US" dirty="0"/>
              <a:t>It accounts for 10% of your grade</a:t>
            </a:r>
          </a:p>
          <a:p>
            <a:pPr marL="0" indent="0">
              <a:buNone/>
            </a:pPr>
            <a:r>
              <a:rPr lang="en-US" b="1" dirty="0"/>
              <a:t>There will be extra credit opportunities, if there is something you wish to explore more deeply</a:t>
            </a:r>
          </a:p>
          <a:p>
            <a:r>
              <a:rPr lang="en-US" dirty="0"/>
              <a:t>Discuss with me first</a:t>
            </a:r>
          </a:p>
          <a:p>
            <a:r>
              <a:rPr lang="en-US" dirty="0"/>
              <a:t>Can account for up to 10% of your grade</a:t>
            </a:r>
          </a:p>
          <a:p>
            <a:pPr marL="0" indent="0">
              <a:buNone/>
            </a:pPr>
            <a:r>
              <a:rPr lang="en-US" b="1" dirty="0"/>
              <a:t>We will ask you to live up to UMD’s Code of Academic Integrity</a:t>
            </a:r>
          </a:p>
          <a:p>
            <a:r>
              <a:rPr lang="en-US" dirty="0"/>
              <a:t>Please ask if you have any questions should this be the first time you have encountered the code</a:t>
            </a:r>
          </a:p>
        </p:txBody>
      </p:sp>
    </p:spTree>
    <p:extLst>
      <p:ext uri="{BB962C8B-B14F-4D97-AF65-F5344CB8AC3E}">
        <p14:creationId xmlns:p14="http://schemas.microsoft.com/office/powerpoint/2010/main" val="2259234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5BBAA-0BC4-D5F1-C5C4-6AF4355AA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about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3B574-CEF8-F4E6-7FFC-1C347F0B7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have time for out-of-class meetings (office hours)</a:t>
            </a:r>
          </a:p>
          <a:p>
            <a:r>
              <a:rPr lang="en-US" dirty="0"/>
              <a:t>On most Mondays and Wednesdays, I will remain in the Zoom session from 4:50 – 5:30 to meet with you</a:t>
            </a:r>
          </a:p>
          <a:p>
            <a:r>
              <a:rPr lang="en-US" dirty="0"/>
              <a:t>To arrange other meetings with me, please contact Joan Cole (</a:t>
            </a:r>
            <a:r>
              <a:rPr lang="en-US" dirty="0">
                <a:hlinkClick r:id="rId2"/>
              </a:rPr>
              <a:t>jcole124@umd.edu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We can meet in person or via Zoom</a:t>
            </a:r>
          </a:p>
          <a:p>
            <a:r>
              <a:rPr lang="en-US" dirty="0"/>
              <a:t>TA office hours will be announced on ELMS site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054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1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3ED003-4F05-204A-96B5-9CBFCB370F56}"/>
              </a:ext>
            </a:extLst>
          </p:cNvPr>
          <p:cNvSpPr txBox="1"/>
          <p:nvPr/>
        </p:nvSpPr>
        <p:spPr>
          <a:xfrm>
            <a:off x="145268" y="86738"/>
            <a:ext cx="65774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What is information science?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C7C518-085D-AC98-9633-214E2BDB0CA5}"/>
              </a:ext>
            </a:extLst>
          </p:cNvPr>
          <p:cNvSpPr txBox="1"/>
          <p:nvPr/>
        </p:nvSpPr>
        <p:spPr>
          <a:xfrm>
            <a:off x="113736" y="2096897"/>
            <a:ext cx="62693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Information science overlaps with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social sciences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mathematics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computer science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privacy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human-centered design</a:t>
            </a:r>
          </a:p>
          <a:p>
            <a:r>
              <a:rPr lang="en-US" sz="2400" dirty="0"/>
              <a:t>At UMD, Information science intersects with ARHU, BSOS, CMNS, Education, Journalism, Public Health, and Public Policy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C9479ED-393C-12E4-2DA8-990A427C9AB7}"/>
              </a:ext>
            </a:extLst>
          </p:cNvPr>
          <p:cNvSpPr/>
          <p:nvPr/>
        </p:nvSpPr>
        <p:spPr>
          <a:xfrm>
            <a:off x="5875822" y="978842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Information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FFBD28-FF4D-A998-CBF9-26D29DF932B3}"/>
              </a:ext>
            </a:extLst>
          </p:cNvPr>
          <p:cNvSpPr>
            <a:spLocks noChangeAspect="1"/>
          </p:cNvSpPr>
          <p:nvPr/>
        </p:nvSpPr>
        <p:spPr>
          <a:xfrm>
            <a:off x="8095561" y="978842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solidFill>
                  <a:schemeClr val="tx1"/>
                </a:solidFill>
              </a:rPr>
              <a:t>Technology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F5FA252-4AE4-D64E-38DC-FD253E4863B2}"/>
              </a:ext>
            </a:extLst>
          </p:cNvPr>
          <p:cNvSpPr>
            <a:spLocks noChangeAspect="1"/>
          </p:cNvSpPr>
          <p:nvPr/>
        </p:nvSpPr>
        <p:spPr>
          <a:xfrm>
            <a:off x="6959188" y="3105816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People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071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41B10-07CA-505B-DE12-1CD1F03CC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inventions of Information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B0CDF-0A35-599F-50C4-E6B03307C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Information theory</a:t>
            </a:r>
          </a:p>
          <a:p>
            <a:r>
              <a:rPr lang="en-US" dirty="0"/>
              <a:t>User interface design/human-computer interaction</a:t>
            </a:r>
          </a:p>
          <a:p>
            <a:r>
              <a:rPr lang="en-US" dirty="0"/>
              <a:t>Computers supporting communication (in addition to computation)</a:t>
            </a:r>
          </a:p>
          <a:p>
            <a:r>
              <a:rPr lang="en-US" dirty="0"/>
              <a:t>The World-Wide Web</a:t>
            </a:r>
          </a:p>
          <a:p>
            <a:r>
              <a:rPr lang="en-US" dirty="0"/>
              <a:t>Information behavior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598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706ED-4BA1-CF49-8E90-9672DBBB2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585358-B221-9070-348D-F50A3B66BAED}"/>
              </a:ext>
            </a:extLst>
          </p:cNvPr>
          <p:cNvSpPr txBox="1"/>
          <p:nvPr/>
        </p:nvSpPr>
        <p:spPr>
          <a:xfrm>
            <a:off x="-1" y="3574558"/>
            <a:ext cx="6312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course focuses on the </a:t>
            </a:r>
            <a:r>
              <a:rPr lang="en-US" sz="2400" b="1" dirty="0"/>
              <a:t>technical infrastructure </a:t>
            </a:r>
            <a:r>
              <a:rPr lang="en-US" sz="2400" dirty="0"/>
              <a:t>underlying Information Science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78ED531-2790-BFEA-C747-8B69E8BCCD61}"/>
              </a:ext>
            </a:extLst>
          </p:cNvPr>
          <p:cNvSpPr/>
          <p:nvPr/>
        </p:nvSpPr>
        <p:spPr>
          <a:xfrm>
            <a:off x="5875822" y="978842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Information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8C9D62-B5C8-4FA1-60E3-03A433C936F1}"/>
              </a:ext>
            </a:extLst>
          </p:cNvPr>
          <p:cNvSpPr>
            <a:spLocks noChangeAspect="1"/>
          </p:cNvSpPr>
          <p:nvPr/>
        </p:nvSpPr>
        <p:spPr>
          <a:xfrm>
            <a:off x="8095561" y="978842"/>
            <a:ext cx="3657600" cy="3657600"/>
          </a:xfrm>
          <a:prstGeom prst="ellipse">
            <a:avLst/>
          </a:prstGeom>
          <a:solidFill>
            <a:schemeClr val="accent5">
              <a:lumMod val="20000"/>
              <a:lumOff val="80000"/>
              <a:alpha val="5279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solidFill>
                  <a:schemeClr val="tx1"/>
                </a:solidFill>
              </a:rPr>
              <a:t>Technology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BD3DD0D-7252-C572-C47C-1EE02DC97520}"/>
              </a:ext>
            </a:extLst>
          </p:cNvPr>
          <p:cNvSpPr>
            <a:spLocks noChangeAspect="1"/>
          </p:cNvSpPr>
          <p:nvPr/>
        </p:nvSpPr>
        <p:spPr>
          <a:xfrm>
            <a:off x="6959188" y="3105816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People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0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9BAE-3399-6CE2-6F47-AAFEA9755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INST346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E9442-C2C4-BFC3-FC63-ABD4DABF9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Articulate major hardware, software and networking concepts and components that comprise current digital information infrastructure</a:t>
            </a:r>
          </a:p>
          <a:p>
            <a:r>
              <a:rPr lang="en-US" dirty="0"/>
              <a:t>Deploy a virtual system as a part of cloud architecture in a client/server environment</a:t>
            </a:r>
          </a:p>
          <a:p>
            <a:r>
              <a:rPr lang="en-US" dirty="0"/>
              <a:t>Evaluate hardware, software, and network solutions for organizational needs</a:t>
            </a:r>
          </a:p>
          <a:p>
            <a:r>
              <a:rPr lang="en-US" dirty="0"/>
              <a:t>Identify emerging threats to information security and develop effective approaches to addressing those threats</a:t>
            </a:r>
          </a:p>
          <a:p>
            <a:r>
              <a:rPr lang="en-US" dirty="0"/>
              <a:t>Construct an infrastructure and architecture proposal to solve a real-world problem related to solving social issues, supporting science, or conducting business operations</a:t>
            </a:r>
          </a:p>
          <a:p>
            <a:r>
              <a:rPr lang="en-US" dirty="0"/>
              <a:t>Implement a distributed computing solution that can be applied to an IoT, big data or computationally demanding organizational problem</a:t>
            </a:r>
          </a:p>
          <a:p>
            <a:r>
              <a:rPr lang="en-US" dirty="0"/>
              <a:t>Trace end-to-end causality in modern Internet-based systems</a:t>
            </a:r>
          </a:p>
          <a:p>
            <a:r>
              <a:rPr lang="en-US" dirty="0"/>
              <a:t>Explain how technical systems are situated in and reflect broader social and organizational structures, and the ethical and equity issues this entails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831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C2F88-C6A6-8A83-20DC-5BE05C031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INST346 running themes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034AF-9AC8-D2A1-4B54-B81F1AEB7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With abstraction, we can design, build, and understand immensely complex systems</a:t>
            </a:r>
          </a:p>
          <a:p>
            <a:r>
              <a:rPr lang="en-US" dirty="0"/>
              <a:t>The hardware, software, and communications systems we use are infrastructure with all the benefits and drawbacks thereof</a:t>
            </a:r>
          </a:p>
          <a:p>
            <a:r>
              <a:rPr lang="en-US" dirty="0"/>
              <a:t>The course covers a topic that has been changing rapidly for decades</a:t>
            </a:r>
          </a:p>
          <a:p>
            <a:pPr lvl="1"/>
            <a:r>
              <a:rPr lang="en-US" dirty="0"/>
              <a:t>“The best predictor of future behavior is past behavior” (many)</a:t>
            </a:r>
          </a:p>
          <a:p>
            <a:pPr lvl="1"/>
            <a:r>
              <a:rPr lang="en-US" dirty="0"/>
              <a:t>“Trying to predict the future is like trying to drive down a country road at night with no lights while looking out the back window” (Peter Drucker)</a:t>
            </a:r>
          </a:p>
          <a:p>
            <a:pPr lvl="1"/>
            <a:r>
              <a:rPr lang="en-US" dirty="0"/>
              <a:t>“Foresight is not about predicting the future; it's about minimizing surprise” (Karl Schroeder)</a:t>
            </a:r>
          </a:p>
          <a:p>
            <a:pPr lvl="1"/>
            <a:r>
              <a:rPr lang="en-US" dirty="0"/>
              <a:t>“All models are wrong, some are useful” (George Box)</a:t>
            </a:r>
          </a:p>
          <a:p>
            <a:pPr lvl="1"/>
            <a:r>
              <a:rPr lang="en-US" dirty="0"/>
              <a:t>“A goal without a plan is just a wish” (Antoine de Saint-</a:t>
            </a:r>
            <a:r>
              <a:rPr lang="en-US" dirty="0" err="1"/>
              <a:t>Exupéry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576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E9F0A-149A-8ADE-2DE6-9364B1AA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F8E8B-111B-B49A-8C83-A2C895C1B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resources (such as personnel, buildings, or equipment) required for an activity (Merriam-Webster)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Three aspects: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Infrastructure is </a:t>
            </a:r>
            <a:r>
              <a:rPr lang="en-US" b="1" dirty="0"/>
              <a:t>invisible to most of its users </a:t>
            </a:r>
            <a:r>
              <a:rPr lang="en-US" dirty="0"/>
              <a:t>until it breaks, but you can see it if you learn to look for it. It has both local specialized components and more widely distributed general components. There can be a wide variety in local components as long as they are compatible with and connected to the general components.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825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2031-7AAC-7335-9018-D7508D8A9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7409D-7E93-8BD4-7D1C-DB0338B37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/>
              <a:t>Infrastructure is both </a:t>
            </a:r>
            <a:r>
              <a:rPr lang="en-US" b="1" dirty="0"/>
              <a:t>enabling</a:t>
            </a:r>
            <a:r>
              <a:rPr lang="en-US" dirty="0"/>
              <a:t> and </a:t>
            </a:r>
            <a:r>
              <a:rPr lang="en-US" b="1" dirty="0"/>
              <a:t>constraining</a:t>
            </a:r>
            <a:r>
              <a:rPr lang="en-US" dirty="0"/>
              <a:t>. </a:t>
            </a:r>
            <a:r>
              <a:rPr lang="en-US" b="1" dirty="0"/>
              <a:t>Enabling</a:t>
            </a:r>
            <a:r>
              <a:rPr lang="en-US" dirty="0"/>
              <a:t> because of what it provides, what can expand it, and what can be built upon it. </a:t>
            </a:r>
            <a:r>
              <a:rPr lang="en-US" b="1" dirty="0"/>
              <a:t>Constraining</a:t>
            </a:r>
            <a:r>
              <a:rPr lang="en-US" dirty="0"/>
              <a:t> because its design reflects social values and norms.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dirty="0"/>
              <a:t>Infrastructure is </a:t>
            </a:r>
            <a:r>
              <a:rPr lang="en-US" b="1" dirty="0"/>
              <a:t>developed through a process of accretion </a:t>
            </a:r>
            <a:r>
              <a:rPr lang="en-US" dirty="0"/>
              <a:t>over long periods of time as new parts are added and integrated into what already exists. This process of accretion is not usually purely technical.</a:t>
            </a:r>
          </a:p>
          <a:p>
            <a:pPr marL="457200" lvl="1" indent="0">
              <a:buNone/>
            </a:pPr>
            <a:r>
              <a:rPr lang="en-US" dirty="0"/>
              <a:t>There are always </a:t>
            </a:r>
            <a:r>
              <a:rPr lang="en-US" b="1" dirty="0"/>
              <a:t>path dependencies</a:t>
            </a:r>
            <a:r>
              <a:rPr lang="en-US" dirty="0"/>
              <a:t>: adding things that are compatible with what already exists is much easier to do than adding things that are incompatible</a:t>
            </a:r>
          </a:p>
        </p:txBody>
      </p:sp>
    </p:spTree>
    <p:extLst>
      <p:ext uri="{BB962C8B-B14F-4D97-AF65-F5344CB8AC3E}">
        <p14:creationId xmlns:p14="http://schemas.microsoft.com/office/powerpoint/2010/main" val="3255845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E79DD-5174-E15B-7C8E-8968D1941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A5772-6C41-4AD8-37DF-D698467DF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Invisible until it breaks. Local specialized components.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Both enabling and constraining.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Developed through accretion.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an example of a major infrastructure, and how does it fit these three aspects?</a:t>
            </a:r>
          </a:p>
        </p:txBody>
      </p:sp>
    </p:spTree>
    <p:extLst>
      <p:ext uri="{BB962C8B-B14F-4D97-AF65-F5344CB8AC3E}">
        <p14:creationId xmlns:p14="http://schemas.microsoft.com/office/powerpoint/2010/main" val="1361964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0FD15-70D2-52CC-92E4-F57B66AE4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Internet: invisible until it breaks, local specialized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C09D2-3EED-6FE8-EEFE-0C62FC3E9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are most likely thinking about the Internet when we connect a new device (mobile device, some “smart” device, etc.)</a:t>
            </a:r>
          </a:p>
          <a:p>
            <a:pPr marL="0" indent="0">
              <a:buNone/>
            </a:pPr>
            <a:r>
              <a:rPr lang="en-US" dirty="0"/>
              <a:t>We also think about it when it goes away. COVID accentuated this.</a:t>
            </a:r>
          </a:p>
          <a:p>
            <a:r>
              <a:rPr lang="en-US" dirty="0"/>
              <a:t>CrowdStrike-induced outage July 19, 2024</a:t>
            </a:r>
          </a:p>
          <a:p>
            <a:r>
              <a:rPr lang="en-US" dirty="0"/>
              <a:t>Verizon outage September 30, 2024</a:t>
            </a:r>
          </a:p>
        </p:txBody>
      </p:sp>
    </p:spTree>
    <p:extLst>
      <p:ext uri="{BB962C8B-B14F-4D97-AF65-F5344CB8AC3E}">
        <p14:creationId xmlns:p14="http://schemas.microsoft.com/office/powerpoint/2010/main" val="880032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D6FA9-BE92-CD0B-03FC-3394352E2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2AF10-F843-A132-50DA-7773C3980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Internet: both enabling and constraining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4CCDF-6ADE-4C16-8691-CADB4F93C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83585"/>
            <a:ext cx="518160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/>
              <a:t>Most connected metropolitan areas</a:t>
            </a:r>
            <a:endParaRPr lang="en-US" sz="1600" dirty="0"/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Boulder CO: 95.5%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San Jose-Sunnyvale-Santa Clara, CA: 95.4%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Santa Rosa-Petaluma, California: 95.4 percent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Ogden-Clearfield, Utah: 95.3 percent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San Francisco-Oakland-Berkeley, California: 94.9 percent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Washington, D.C.-Arlington and Alexandria, Virginia, and parts of Maryland and West Virginia in the metro area: 94.9 percent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Manchester-Nashua, New Hampshire: 94.8 percent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Anchorage, Alaska: 94.8 percent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San Diego-Chula Vista-Carlsbad, California: 94.7 percent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Bremerton-Silverdale-Port Orchard, Washington, and Barnstable Town, Massachusetts (tie): 94.7 percent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DF164-9145-D5CA-42C0-98AEFB7E3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783585"/>
            <a:ext cx="5181600" cy="4351338"/>
          </a:xfrm>
        </p:spPr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/>
              <a:t>Least connected metropolitan areas</a:t>
            </a:r>
          </a:p>
          <a:p>
            <a:pPr marL="514350" marR="0" lvl="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Brownsville-Harlingen, Texas: 17 percent</a:t>
            </a:r>
            <a:endParaRPr lang="en-US" sz="2000" dirty="0">
              <a:effectLst/>
              <a:ea typeface="Times New Roman" panose="02020603050405020304" pitchFamily="18" charset="0"/>
            </a:endParaRPr>
          </a:p>
          <a:p>
            <a:pPr marL="514350" marR="0" lvl="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College Station-Bryan, Texas: 14.5 percent</a:t>
            </a:r>
            <a:endParaRPr lang="en-US" sz="2000" dirty="0">
              <a:effectLst/>
              <a:ea typeface="Times New Roman" panose="02020603050405020304" pitchFamily="18" charset="0"/>
            </a:endParaRPr>
          </a:p>
          <a:p>
            <a:pPr marL="514350" marR="0" lvl="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Charleston, West Virginia: 14.2 percent</a:t>
            </a:r>
            <a:endParaRPr lang="en-US" sz="2000" dirty="0">
              <a:effectLst/>
              <a:ea typeface="Times New Roman" panose="02020603050405020304" pitchFamily="18" charset="0"/>
            </a:endParaRPr>
          </a:p>
          <a:p>
            <a:pPr marL="514350" marR="0" lvl="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Mobile, Alabama: 14 percent</a:t>
            </a:r>
            <a:endParaRPr lang="en-US" sz="2000" dirty="0">
              <a:effectLst/>
              <a:ea typeface="Times New Roman" panose="02020603050405020304" pitchFamily="18" charset="0"/>
            </a:endParaRPr>
          </a:p>
          <a:p>
            <a:pPr marL="514350" marR="0" lvl="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Springfield, Missouri: 13.9 percent</a:t>
            </a:r>
            <a:endParaRPr lang="en-US" sz="2000" dirty="0">
              <a:effectLst/>
              <a:ea typeface="Times New Roman" panose="02020603050405020304" pitchFamily="18" charset="0"/>
            </a:endParaRPr>
          </a:p>
          <a:p>
            <a:pPr marL="514350" marR="0" lvl="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Longview, Texas: 13.9 percent</a:t>
            </a:r>
            <a:endParaRPr lang="en-US" sz="2000" dirty="0">
              <a:effectLst/>
              <a:ea typeface="Times New Roman" panose="02020603050405020304" pitchFamily="18" charset="0"/>
            </a:endParaRPr>
          </a:p>
          <a:p>
            <a:pPr marL="514350" marR="0" lvl="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Waco, Texas: 13.8 percent</a:t>
            </a:r>
            <a:endParaRPr lang="en-US" sz="2000" dirty="0">
              <a:effectLst/>
              <a:ea typeface="Times New Roman" panose="02020603050405020304" pitchFamily="18" charset="0"/>
            </a:endParaRPr>
          </a:p>
          <a:p>
            <a:pPr marL="514350" marR="0" lvl="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Corpus Christi, Texas: 13.7 percent</a:t>
            </a:r>
            <a:endParaRPr lang="en-US" sz="2000" dirty="0">
              <a:effectLst/>
              <a:ea typeface="Times New Roman" panose="02020603050405020304" pitchFamily="18" charset="0"/>
            </a:endParaRPr>
          </a:p>
          <a:p>
            <a:pPr marL="514350" marR="0" lvl="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Shreveport-Bossier City, Louisiana: 13.6 percent</a:t>
            </a:r>
            <a:endParaRPr lang="en-US" sz="2000" dirty="0">
              <a:effectLst/>
              <a:ea typeface="Times New Roman" panose="02020603050405020304" pitchFamily="18" charset="0"/>
            </a:endParaRPr>
          </a:p>
          <a:p>
            <a:pPr marL="514350" marR="0" lvl="0" indent="-51435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Canton-</a:t>
            </a:r>
            <a:r>
              <a:rPr lang="it-IT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Massillon</a:t>
            </a:r>
            <a:r>
              <a:rPr lang="it-IT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, Ohio, and Tuscaloosa, Alabama (</a:t>
            </a:r>
            <a:r>
              <a:rPr lang="it-IT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tie</a:t>
            </a:r>
            <a:r>
              <a:rPr lang="it-IT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): 13.5 </a:t>
            </a:r>
            <a:r>
              <a:rPr lang="it-IT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percent</a:t>
            </a:r>
            <a:endParaRPr lang="en-US" sz="20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9AE7CE-616A-0353-E162-6729975E67F9}"/>
              </a:ext>
            </a:extLst>
          </p:cNvPr>
          <p:cNvSpPr txBox="1"/>
          <p:nvPr/>
        </p:nvSpPr>
        <p:spPr>
          <a:xfrm>
            <a:off x="914401" y="1353563"/>
            <a:ext cx="972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 err="1"/>
              <a:t>Ooma.com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https://www.ooma.com/blog/the-most-connected-cities-in-the-us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896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5A55A-CF2F-1F5E-9ECD-46FA438C0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244D8-1CC2-2D5D-71E1-C9C6ABAE2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Internet: Developed through accretion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2B9E6-2FFA-FCB0-F2C9-EA6F572F0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/>
              <a:t>We will see many, many path dependencies with the Internet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Some have been expensive to overcome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Some leave major vulnerabilities in national security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966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C614-69D2-7153-BE81-7161C666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51CF0-CE50-6A19-2A86-02EFF4235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high-level tour through the major topics of the course</a:t>
            </a:r>
          </a:p>
        </p:txBody>
      </p:sp>
    </p:spTree>
    <p:extLst>
      <p:ext uri="{BB962C8B-B14F-4D97-AF65-F5344CB8AC3E}">
        <p14:creationId xmlns:p14="http://schemas.microsoft.com/office/powerpoint/2010/main" val="3676333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1621</TotalTime>
  <Words>1654</Words>
  <Application>Microsoft Macintosh PowerPoint</Application>
  <PresentationFormat>Widescreen</PresentationFormat>
  <Paragraphs>160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MS Mincho</vt:lpstr>
      <vt:lpstr>Aptos</vt:lpstr>
      <vt:lpstr>Aptos Display</vt:lpstr>
      <vt:lpstr>Arial</vt:lpstr>
      <vt:lpstr>Arial Bold</vt:lpstr>
      <vt:lpstr>Canva Sans</vt:lpstr>
      <vt:lpstr>Times New Roman</vt:lpstr>
      <vt:lpstr>Office Theme</vt:lpstr>
      <vt:lpstr>INST 346 Spring 2025 Technologies, Infrastructure, and Architecture</vt:lpstr>
      <vt:lpstr>A bit about me</vt:lpstr>
      <vt:lpstr>A bit about me</vt:lpstr>
      <vt:lpstr>A bit about the TA</vt:lpstr>
      <vt:lpstr>A bit about the course</vt:lpstr>
      <vt:lpstr>A bit about the course</vt:lpstr>
      <vt:lpstr>A bit about the course</vt:lpstr>
      <vt:lpstr>A bit about the course</vt:lpstr>
      <vt:lpstr>A bit about the course</vt:lpstr>
      <vt:lpstr>PowerPoint Presentation</vt:lpstr>
      <vt:lpstr>Some inventions of Information Science</vt:lpstr>
      <vt:lpstr>PowerPoint Presentation</vt:lpstr>
      <vt:lpstr>INST346 learning outcomes</vt:lpstr>
      <vt:lpstr>INST346 running themes</vt:lpstr>
      <vt:lpstr>Infrastructure</vt:lpstr>
      <vt:lpstr>Infrastructure</vt:lpstr>
      <vt:lpstr>Infrastructure</vt:lpstr>
      <vt:lpstr>The Internet: invisible until it breaks, local specialized components</vt:lpstr>
      <vt:lpstr>The Internet: both enabling and constraining</vt:lpstr>
      <vt:lpstr>The Internet: Developed through accretion</vt:lpstr>
      <vt:lpstr>Next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keith marzullo</dc:creator>
  <cp:lastModifiedBy>Myles Javonni Sartor</cp:lastModifiedBy>
  <cp:revision>27</cp:revision>
  <cp:lastPrinted>2025-01-10T17:48:53Z</cp:lastPrinted>
  <dcterms:created xsi:type="dcterms:W3CDTF">2024-12-18T21:53:36Z</dcterms:created>
  <dcterms:modified xsi:type="dcterms:W3CDTF">2025-01-28T22:33:13Z</dcterms:modified>
</cp:coreProperties>
</file>