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964" r:id="rId3"/>
    <p:sldId id="1164" r:id="rId4"/>
    <p:sldId id="1165" r:id="rId5"/>
    <p:sldId id="1166" r:id="rId6"/>
    <p:sldId id="1167" r:id="rId7"/>
    <p:sldId id="1301" r:id="rId8"/>
    <p:sldId id="1169" r:id="rId9"/>
    <p:sldId id="1170" r:id="rId10"/>
    <p:sldId id="1171" r:id="rId11"/>
    <p:sldId id="1172" r:id="rId12"/>
    <p:sldId id="1173" r:id="rId13"/>
    <p:sldId id="1174" r:id="rId14"/>
    <p:sldId id="1175" r:id="rId15"/>
    <p:sldId id="1176" r:id="rId16"/>
    <p:sldId id="1177" r:id="rId17"/>
    <p:sldId id="1178" r:id="rId18"/>
    <p:sldId id="1300" r:id="rId19"/>
    <p:sldId id="1192" r:id="rId20"/>
    <p:sldId id="1193" r:id="rId21"/>
    <p:sldId id="1294" r:id="rId22"/>
    <p:sldId id="1194" r:id="rId23"/>
    <p:sldId id="1195" r:id="rId24"/>
    <p:sldId id="1196" r:id="rId25"/>
    <p:sldId id="1197" r:id="rId26"/>
    <p:sldId id="1290" r:id="rId27"/>
    <p:sldId id="1198" r:id="rId28"/>
    <p:sldId id="1200" r:id="rId29"/>
    <p:sldId id="1291" r:id="rId30"/>
    <p:sldId id="1201" r:id="rId31"/>
    <p:sldId id="1292" r:id="rId32"/>
    <p:sldId id="1293" r:id="rId33"/>
    <p:sldId id="1202" r:id="rId34"/>
    <p:sldId id="1295" r:id="rId35"/>
    <p:sldId id="1299" r:id="rId36"/>
    <p:sldId id="1297" r:id="rId37"/>
    <p:sldId id="1296" r:id="rId38"/>
    <p:sldId id="1190" r:id="rId39"/>
    <p:sldId id="1191" r:id="rId40"/>
    <p:sldId id="1206" r:id="rId41"/>
    <p:sldId id="1207" r:id="rId42"/>
    <p:sldId id="1208" r:id="rId43"/>
    <p:sldId id="1209" r:id="rId44"/>
    <p:sldId id="1211" r:id="rId45"/>
    <p:sldId id="1212" r:id="rId46"/>
    <p:sldId id="1213" r:id="rId47"/>
    <p:sldId id="1214" r:id="rId48"/>
    <p:sldId id="1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DF"/>
    <a:srgbClr val="FFFCF5"/>
    <a:srgbClr val="F8F6F4"/>
    <a:srgbClr val="F8F6E3"/>
    <a:srgbClr val="F5F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/>
    <p:restoredTop sz="91293"/>
  </p:normalViewPr>
  <p:slideViewPr>
    <p:cSldViewPr snapToGrid="0">
      <p:cViewPr varScale="1">
        <p:scale>
          <a:sx n="116" d="100"/>
          <a:sy n="116" d="100"/>
        </p:scale>
        <p:origin x="832" y="192"/>
      </p:cViewPr>
      <p:guideLst/>
    </p:cSldViewPr>
  </p:slideViewPr>
  <p:outlineViewPr>
    <p:cViewPr>
      <p:scale>
        <a:sx n="33" d="100"/>
        <a:sy n="33" d="100"/>
      </p:scale>
      <p:origin x="0" y="-152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6453-750E-724B-BE6B-DF4ECAD2EAD3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08047-D801-1648-BFB7-E422111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9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8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9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3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7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9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66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FC65-A442-BBE4-A25C-66F5DBB5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1F51B-298C-98BA-D022-AE2E64477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E6085-383B-FE5B-1494-14F5C5175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34D48-9839-F799-09E9-8227DCADF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03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4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1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62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08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A5A0-086C-38CB-8304-3356739A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0D1BC-47B6-5644-4E7C-74C9D1B88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8D3EC-47B2-9983-A307-E22CF6B6C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965F1-3A14-5818-53AC-F83EA514A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45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23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80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BF05-92B0-DD1D-7A6B-4A5BCF9E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47208-B45C-D7E3-55E9-EC5DE7B3B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4F83C-5B56-CAD0-0E33-23B36B969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53FCC-EC65-2407-C0DB-9AE96EEE3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31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78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821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18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7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6123-1D13-D790-8D77-34E2D4A8A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39931-4C39-CA50-62B5-0B2BF834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AF843-83BD-E650-B9EB-47B5360AF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CDC12-3C43-A7D3-61F3-0D009DD69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46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87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58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CFC9-95FD-CA5D-4600-20D629766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75445-AE44-D2B5-6063-69F9DA2AC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A6072-C88A-D8BF-19E6-742767A26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005A4-2404-B56C-4983-127B6D126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9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2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899F-30C8-203F-EF16-7DBFC9B8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9C6E6-69E5-91EB-24AA-5ADDFC2DB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74C0A-E8E8-ADCF-6840-0B046399F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5B3A9-2F1A-279F-8B71-847C9C6F8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811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CA757-D86C-B3E1-533E-49583910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D069D-7390-3088-7FF8-0C2E83D08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CF1EB-931C-6AE5-75AB-C91B1B196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662A1-B4E1-4557-9A78-DF33FFF39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14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46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74EE-B931-3E66-D4A5-BD9FC28C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44866-B9E6-1043-F70A-45FF893B6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3A91E-E303-F74E-F54C-50AB63940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ED4B-4F5B-AFC5-EC76-69ADD31E1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7349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846F-CCD6-822B-53F6-6B2339D2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8782E-0C86-604A-367A-57C32A8E1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B17E4-E8B1-05C4-0056-CFE850D91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CF7DD-E446-9067-453A-2937A1B5D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65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DF88-B8AD-D751-D8C1-AEC2F94FD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AD2B8-0BFF-7782-B072-F94D38525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FDF7C-8D4B-37FE-D4D1-1D8DB9F9E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68907-B9B3-48B5-A7A2-C7A82908B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364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BE79-0BC0-FAC5-7866-AF318883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2EEC1-57E9-91D7-B946-B36FD422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7E52A-7A7C-63D7-CD5D-EEDE6529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CA34F-511D-A33E-14B8-D500E757F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26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764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25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807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817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386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004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270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586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7BAB-621F-99E6-0019-6C100310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42923-D756-6099-050A-FD03C1AB3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DB856-119C-7B26-367B-6BE24408E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969AC-9D25-95D3-C43C-EBCB29AB3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5A73-F1A6-7FE2-2DC0-59F6A608B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F5CA0-9313-A9F6-6B18-28FD7CB2E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FF97-7CB9-4933-C3F2-6FA80D59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935AA-ADA9-0ABE-FA76-B78343D8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A19F-535D-DCDA-13EF-7918CCCC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8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879F8-E637-966C-C2B9-448D356C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7F910-C644-4F76-1676-932A001CC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85E6-9865-6D3B-AC2A-40F5ACA2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8C11-9BEF-CF6B-DB44-A9C8896D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0379-A108-400E-23F9-F58DEE76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1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44AC-39C2-82AD-F182-CCFBD461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DE7A-19C5-1F83-E234-66E6EE683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2BEA6-1CC9-3704-3CEB-E019B423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83CD7-B872-ABB1-B0D0-8A04AA721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5AE01-48BA-9149-7C8E-06316C4C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3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E82C-38F0-39F4-B9E8-2B8499C0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971E-8473-2136-9343-FC87E6C4B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9B9AB-EFFA-5754-F56F-B42D6D04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E6A9F-0791-9988-4468-29EB2A5F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185DD-E073-8C2E-67E7-DB0F7503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E5CCB-0C42-BC54-BBAA-33506B63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D673A-0690-53D2-98D4-0B03373D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D754E-FF04-70A2-BA8C-D3D523A1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B3A45-CF6A-4F40-30AD-5E4CD095C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10C20-0B71-4AC3-6D43-A25C2CAC1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0524F-9F35-0A15-E28E-539B02958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9F0BC-8716-1D79-58DA-CD52B927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F52A1-3FAA-2683-099A-40C88055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9A612-3A35-3264-50AC-3106CDF2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3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BD0B-892B-B5C5-C2E6-FD29650E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00A42-C39D-8CB0-17C7-92C73883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BA52B-43AE-27A2-1FCA-9CCE59B5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028E3-53D9-7235-68DC-A29CD9AD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88603-58C0-B2C9-0154-911F9687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6D60A-BC2D-23F4-C871-4E134242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DAE3C-751C-8CCB-C6D1-4BA25F36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7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E007-0454-2953-6B78-799109D6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87A90-24BF-21A6-8CCB-AA4B1990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8D8F2-5EE5-3916-6F7A-0CB77B84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AA4E0-EB1F-5413-B913-1990BAC4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DFC74-6CCF-BCA1-9024-BD3DFC89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E7B1B-D48D-1777-711F-D5B47ED9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1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28EE-DD3D-8CF2-8C3A-FB885B71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5B8F2-FAE3-91CF-5F2E-288757C19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B81AB-331B-187D-AB9F-A590EABCD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A0465-BCB6-A683-9F21-32BF1169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25F60-400E-9B76-1A7C-AC2685E9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C59F8-8B68-48AC-34B6-FD7D7860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D1A1-8E6C-5C2D-BF58-15F86E5E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C2732-E758-7DD0-AA8C-2CCAFEEA6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D62C9-F275-D537-A035-9B239BF2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9B2F7-8803-6D19-D092-657D9CCB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477A-B84B-092E-4E67-236184B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2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AFB8E-747B-48C1-B6AA-8850333A8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43F2C-5DB2-0CAA-3ACB-29582DDF6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E58E-D677-DF7E-1D80-075EF4A9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E530-1A4C-8E9F-798D-74639477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E047-2D83-86D3-5C58-B4361446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3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EC894-7AE1-02D6-C6DB-02FCF336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C704-2C7D-32A2-0D67-5FE256869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3520-EE92-94F7-B336-AFEF5B764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BBD9A-1EFC-CE40-A13E-952BF6BE397F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5B3BD-BB61-C7E2-A82A-E19080207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5218C-19B6-2DD7-3906-E0CFF9888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4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4.wm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wm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wmf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wmf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wmf"/><Relationship Id="rId5" Type="http://schemas.openxmlformats.org/officeDocument/2006/relationships/image" Target="../media/image15.wmf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wmf"/><Relationship Id="rId4" Type="http://schemas.openxmlformats.org/officeDocument/2006/relationships/image" Target="../media/image4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BEE0-E3AE-7F43-0A5B-25DAD014B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 346 Spring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09E59-C154-C1A8-CF0A-802409C96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Lectures 25-26</a:t>
            </a:r>
          </a:p>
          <a:p>
            <a:r>
              <a:rPr lang="en-US" dirty="0"/>
              <a:t>April 28 and 30, 2025</a:t>
            </a:r>
          </a:p>
          <a:p>
            <a:r>
              <a:rPr lang="en-US" dirty="0"/>
              <a:t>Professor Keith Marzullo</a:t>
            </a:r>
          </a:p>
        </p:txBody>
      </p:sp>
    </p:spTree>
    <p:extLst>
      <p:ext uri="{BB962C8B-B14F-4D97-AF65-F5344CB8AC3E}">
        <p14:creationId xmlns:p14="http://schemas.microsoft.com/office/powerpoint/2010/main" val="151506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Network security key points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>
                <a:solidFill>
                  <a:srgbClr val="C00000"/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buClr>
                <a:srgbClr val="011199"/>
              </a:buClr>
            </a:pPr>
            <a:r>
              <a:rPr lang="en-US" dirty="0"/>
              <a:t>Message integrity, authentication</a:t>
            </a:r>
          </a:p>
          <a:p>
            <a:pPr marL="130175" indent="0">
              <a:buClr>
                <a:srgbClr val="011199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9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is network security?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confidentiality: </a:t>
            </a:r>
            <a:r>
              <a:rPr lang="en-US" dirty="0"/>
              <a:t>only sender, intended receiver should “</a:t>
            </a:r>
            <a:r>
              <a:rPr lang="en-US" altLang="ja-JP" dirty="0"/>
              <a:t>understand” message contents</a:t>
            </a:r>
          </a:p>
          <a:p>
            <a:pPr lvl="1"/>
            <a:r>
              <a:rPr lang="en-US" sz="2800" dirty="0"/>
              <a:t>sender encrypts message</a:t>
            </a:r>
          </a:p>
          <a:p>
            <a:pPr lvl="1"/>
            <a:r>
              <a:rPr lang="en-US" sz="28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authentication: </a:t>
            </a:r>
            <a:r>
              <a:rPr lang="en-US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message integrity: </a:t>
            </a:r>
            <a:r>
              <a:rPr lang="en-US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access and availability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services must be accessible and available to users</a:t>
            </a:r>
          </a:p>
        </p:txBody>
      </p:sp>
    </p:spTree>
    <p:extLst>
      <p:ext uri="{BB962C8B-B14F-4D97-AF65-F5344CB8AC3E}">
        <p14:creationId xmlns:p14="http://schemas.microsoft.com/office/powerpoint/2010/main" val="40115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41783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grpSp>
        <p:nvGrpSpPr>
          <p:cNvPr id="6" name="Group 5" descr="Scenario: Alice and Bob are communicating while Trudy is intruding.">
            <a:extLst>
              <a:ext uri="{FF2B5EF4-FFF2-40B4-BE49-F238E27FC236}">
                <a16:creationId xmlns:a16="http://schemas.microsoft.com/office/drawing/2014/main" id="{956A18A9-C62A-8BDA-9590-2CF963C1F4C1}"/>
              </a:ext>
            </a:extLst>
          </p:cNvPr>
          <p:cNvGrpSpPr/>
          <p:nvPr/>
        </p:nvGrpSpPr>
        <p:grpSpPr>
          <a:xfrm>
            <a:off x="1196931" y="3421063"/>
            <a:ext cx="8158240" cy="3357800"/>
            <a:chOff x="1196931" y="3421063"/>
            <a:chExt cx="8158240" cy="33578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72E102F-B559-D74C-B1F7-42B1D4330A9B}"/>
                </a:ext>
              </a:extLst>
            </p:cNvPr>
            <p:cNvGrpSpPr/>
            <p:nvPr/>
          </p:nvGrpSpPr>
          <p:grpSpPr>
            <a:xfrm>
              <a:off x="4313903" y="4515085"/>
              <a:ext cx="1909916" cy="306675"/>
              <a:chOff x="1616358" y="2551230"/>
              <a:chExt cx="2141698" cy="21851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F546669-9553-174C-8C04-88D4B8B5E631}"/>
                  </a:ext>
                </a:extLst>
              </p:cNvPr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100000">
                    <a:srgbClr val="011199"/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87D9967-A24E-F544-9A59-FD2A48433B92}"/>
                  </a:ext>
                </a:extLst>
              </p:cNvPr>
              <p:cNvSpPr/>
              <p:nvPr/>
            </p:nvSpPr>
            <p:spPr>
              <a:xfrm>
                <a:off x="1616358" y="2551231"/>
                <a:ext cx="114299" cy="216734"/>
              </a:xfrm>
              <a:prstGeom prst="ellipse">
                <a:avLst/>
              </a:prstGeom>
              <a:solidFill>
                <a:srgbClr val="7ACCF4"/>
              </a:solidFill>
              <a:ln w="6350">
                <a:solidFill>
                  <a:srgbClr val="0111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E93D35B-8FAD-964F-98EB-85771990F25E}"/>
                  </a:ext>
                </a:extLst>
              </p:cNvPr>
              <p:cNvSpPr/>
              <p:nvPr/>
            </p:nvSpPr>
            <p:spPr>
              <a:xfrm>
                <a:off x="3643756" y="2551230"/>
                <a:ext cx="114300" cy="218510"/>
              </a:xfrm>
              <a:prstGeom prst="ellipse">
                <a:avLst/>
              </a:prstGeom>
              <a:gradFill flip="none" rotWithShape="1">
                <a:gsLst>
                  <a:gs pos="0">
                    <a:srgbClr val="011199"/>
                  </a:gs>
                  <a:gs pos="100000">
                    <a:srgbClr val="011199"/>
                  </a:gs>
                  <a:gs pos="50000">
                    <a:srgbClr val="7ACCF4"/>
                  </a:gs>
                </a:gsLst>
                <a:lin ang="16200000" scaled="0"/>
                <a:tileRect/>
              </a:gradFill>
              <a:ln w="6350">
                <a:solidFill>
                  <a:srgbClr val="0111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FC56D7B-912D-134F-A0C1-5929F034B9E3}"/>
                  </a:ext>
                </a:extLst>
              </p:cNvPr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100000">
                    <a:srgbClr val="011199"/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 dirty="0"/>
              </a:p>
            </p:txBody>
          </p:sp>
        </p:grpSp>
        <p:pic>
          <p:nvPicPr>
            <p:cNvPr id="7" name="Picture 6" descr="Alice">
              <a:extLst>
                <a:ext uri="{FF2B5EF4-FFF2-40B4-BE49-F238E27FC236}">
                  <a16:creationId xmlns:a16="http://schemas.microsoft.com/office/drawing/2014/main" id="{D41C01D5-C522-4441-86E3-6D530C05B8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0559" y="3421063"/>
              <a:ext cx="698500" cy="862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Bob">
              <a:extLst>
                <a:ext uri="{FF2B5EF4-FFF2-40B4-BE49-F238E27FC236}">
                  <a16:creationId xmlns:a16="http://schemas.microsoft.com/office/drawing/2014/main" id="{27314ED6-3AD0-5E4A-B3AB-B14814BF06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434" y="3468688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A92F29AA-F23F-2547-B160-DA6CE271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959" y="4256088"/>
              <a:ext cx="1293813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B6E3E372-2ADE-2A43-9779-A64AB5BA3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511" y="4246492"/>
              <a:ext cx="104387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sender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317176-141A-5F47-AE82-67DD4D8411A3}"/>
                </a:ext>
              </a:extLst>
            </p:cNvPr>
            <p:cNvGrpSpPr/>
            <p:nvPr/>
          </p:nvGrpSpPr>
          <p:grpSpPr>
            <a:xfrm>
              <a:off x="6455950" y="4272446"/>
              <a:ext cx="1293812" cy="839374"/>
              <a:chOff x="7224576" y="4365211"/>
              <a:chExt cx="1293812" cy="839374"/>
            </a:xfrm>
          </p:grpSpPr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5386017F-3A55-9C49-945C-0928FAEDA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4576" y="4401310"/>
                <a:ext cx="1293812" cy="803275"/>
              </a:xfrm>
              <a:prstGeom prst="rect">
                <a:avLst/>
              </a:prstGeom>
              <a:solidFill>
                <a:srgbClr val="0012A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en-US" sz="2000" dirty="0">
                  <a:cs typeface="Arial" charset="0"/>
                </a:endParaRPr>
              </a:p>
            </p:txBody>
          </p:sp>
          <p:sp>
            <p:nvSpPr>
              <p:cNvPr id="14" name="Text Box 14">
                <a:extLst>
                  <a:ext uri="{FF2B5EF4-FFF2-40B4-BE49-F238E27FC236}">
                    <a16:creationId xmlns:a16="http://schemas.microsoft.com/office/drawing/2014/main" id="{1F0FE550-BD73-1149-8513-63C825B3BC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1886" y="4365211"/>
                <a:ext cx="119391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sz="2400" dirty="0">
                    <a:solidFill>
                      <a:schemeClr val="bg1"/>
                    </a:solidFill>
                    <a:latin typeface="+mn-lt"/>
                    <a:cs typeface="Arial" charset="0"/>
                  </a:rPr>
                  <a:t>secure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+mn-lt"/>
                    <a:cs typeface="Arial" charset="0"/>
                  </a:rPr>
                  <a:t>receiver</a:t>
                </a:r>
              </a:p>
            </p:txBody>
          </p:sp>
        </p:grp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2871BD83-FEA5-F04B-9AD0-59A6E9B63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372" y="3511550"/>
              <a:ext cx="11721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latin typeface="+mn-lt"/>
                  <a:cs typeface="Arial" charset="0"/>
                </a:rPr>
                <a:t>channel</a:t>
              </a:r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ED0D5246-4FE6-EB49-A4F4-63EFE600E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334" y="3933825"/>
              <a:ext cx="238125" cy="449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FB737BEF-635E-0B4E-9C2B-7E984A418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7634" y="4667250"/>
              <a:ext cx="246062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A088F030-4F36-0E40-BDB5-E25C442EF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134" y="3468688"/>
              <a:ext cx="188912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  <a:cs typeface="Arial" charset="0"/>
                </a:rPr>
                <a:t>data, control messages</a:t>
              </a:r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CAD963E2-1C4F-3E4B-8B7E-980218B68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9272" y="4086225"/>
              <a:ext cx="223837" cy="517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AB38AEF3-BCB8-E74B-A27C-43FD3B8F6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059" y="4765930"/>
              <a:ext cx="573088" cy="914400"/>
            </a:xfrm>
            <a:custGeom>
              <a:avLst/>
              <a:gdLst>
                <a:gd name="T0" fmla="*/ 0 w 344"/>
                <a:gd name="T1" fmla="*/ 0 h 789"/>
                <a:gd name="T2" fmla="*/ 2147483647 w 344"/>
                <a:gd name="T3" fmla="*/ 2147483647 h 789"/>
                <a:gd name="T4" fmla="*/ 2147483647 w 344"/>
                <a:gd name="T5" fmla="*/ 2147483647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7C6916B8-170A-BB43-A2C3-595906F3DF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91747" y="4779090"/>
              <a:ext cx="573087" cy="914400"/>
            </a:xfrm>
            <a:custGeom>
              <a:avLst/>
              <a:gdLst>
                <a:gd name="T0" fmla="*/ 0 w 344"/>
                <a:gd name="T1" fmla="*/ 0 h 789"/>
                <a:gd name="T2" fmla="*/ 2147483647 w 344"/>
                <a:gd name="T3" fmla="*/ 2147483647 h 789"/>
                <a:gd name="T4" fmla="*/ 2147483647 w 344"/>
                <a:gd name="T5" fmla="*/ 2147483647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EF78E35C-D23D-F54E-B7D2-D0B863099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147" y="4644462"/>
              <a:ext cx="8143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F78D243C-DAD1-2545-8A7F-EFA469532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931" y="4440955"/>
              <a:ext cx="7374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70EA62CC-094B-3C41-A09D-B3C2234B0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52447" y="4673293"/>
              <a:ext cx="8143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6801AEE1-C5DF-2E4D-A000-7105881F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7725" y="4462411"/>
              <a:ext cx="7374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id="{9914A3F1-3112-2F44-A2A9-D16F0B8DE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519" y="3564145"/>
              <a:ext cx="7873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0012A0"/>
                  </a:solidFill>
                  <a:latin typeface="+mn-lt"/>
                  <a:cs typeface="Arial" charset="0"/>
                </a:rPr>
                <a:t>Alice</a:t>
              </a:r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43A34027-1F74-E84A-8D3E-88B03152D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6175" y="3548753"/>
              <a:ext cx="75854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Bob</a:t>
              </a: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7911D325-AAB9-0840-9130-68C94E244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1759" y="5778500"/>
              <a:ext cx="8869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000099"/>
                  </a:solidFill>
                  <a:latin typeface="+mn-lt"/>
                  <a:cs typeface="Arial" charset="0"/>
                </a:rPr>
                <a:t>Trudy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96E64F-5925-4BC4-139B-78E8953E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3134" y="5701466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98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-117475">
              <a:buNone/>
            </a:pPr>
            <a:r>
              <a:rPr lang="en-US" sz="3200" dirty="0"/>
              <a:t>Who might Bob and Alice be?</a:t>
            </a:r>
          </a:p>
          <a:p>
            <a:pPr marL="461963" indent="-250825"/>
            <a:r>
              <a:rPr lang="en-US" dirty="0"/>
              <a:t>… well, </a:t>
            </a:r>
            <a:r>
              <a:rPr lang="en-US" i="1" dirty="0"/>
              <a:t>real-life</a:t>
            </a:r>
            <a:r>
              <a:rPr lang="en-US" dirty="0"/>
              <a:t> Bobs and Alices!</a:t>
            </a:r>
          </a:p>
          <a:p>
            <a:pPr marL="461963" indent="-250825"/>
            <a:r>
              <a:rPr lang="en-US" dirty="0"/>
              <a:t>Web browser/server for electronic transactions (e.g., on-line purchases)</a:t>
            </a:r>
          </a:p>
          <a:p>
            <a:pPr marL="461963" indent="-250825"/>
            <a:r>
              <a:rPr lang="en-US" dirty="0"/>
              <a:t>on-line banking client/server</a:t>
            </a:r>
          </a:p>
          <a:p>
            <a:pPr marL="461963" indent="-250825"/>
            <a:r>
              <a:rPr lang="en-US" dirty="0"/>
              <a:t>DNS servers</a:t>
            </a:r>
          </a:p>
          <a:p>
            <a:pPr marL="461963" indent="-250825"/>
            <a:r>
              <a:rPr lang="en-US" dirty="0"/>
              <a:t>BGP routers exchanging routing table updates</a:t>
            </a:r>
          </a:p>
          <a:p>
            <a:pPr marL="461963" indent="-250825"/>
            <a:r>
              <a:rPr lang="en-US" dirty="0"/>
              <a:t>many other examples</a:t>
            </a:r>
          </a:p>
        </p:txBody>
      </p:sp>
    </p:spTree>
    <p:extLst>
      <p:ext uri="{BB962C8B-B14F-4D97-AF65-F5344CB8AC3E}">
        <p14:creationId xmlns:p14="http://schemas.microsoft.com/office/powerpoint/2010/main" val="173869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can adversaries do?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eavesdrop: </a:t>
            </a:r>
            <a:r>
              <a:rPr lang="en-US" sz="3200" dirty="0"/>
              <a:t>intercept messages</a:t>
            </a:r>
          </a:p>
          <a:p>
            <a:r>
              <a:rPr lang="en-US" sz="3200" dirty="0"/>
              <a:t>actively </a:t>
            </a:r>
            <a:r>
              <a:rPr lang="en-US" sz="3200" dirty="0">
                <a:solidFill>
                  <a:srgbClr val="C00000"/>
                </a:solidFill>
              </a:rPr>
              <a:t>insert</a:t>
            </a:r>
            <a:r>
              <a:rPr lang="en-US" sz="3200" dirty="0"/>
              <a:t> messages into connection</a:t>
            </a:r>
          </a:p>
          <a:p>
            <a:r>
              <a:rPr lang="en-US" sz="3200" dirty="0">
                <a:solidFill>
                  <a:srgbClr val="C00000"/>
                </a:solidFill>
              </a:rPr>
              <a:t>impersonation: </a:t>
            </a:r>
            <a:r>
              <a:rPr lang="en-US" sz="3200" dirty="0"/>
              <a:t>can fake (spoof) source address in packet (or any field in packet)</a:t>
            </a:r>
          </a:p>
          <a:p>
            <a:r>
              <a:rPr lang="en-US" sz="3200" dirty="0">
                <a:solidFill>
                  <a:srgbClr val="C00000"/>
                </a:solidFill>
              </a:rPr>
              <a:t>hijacking: </a:t>
            </a:r>
            <a:r>
              <a:rPr lang="en-US" altLang="ja-JP" sz="3200" dirty="0"/>
              <a:t>“take over” ongoing connection by removing sender or receiver, inserting himself in place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denial of service: </a:t>
            </a:r>
            <a:r>
              <a:rPr lang="en-US" sz="3200" dirty="0"/>
              <a:t>prevent service from being used by others (e.g.,  by overloading resources)</a:t>
            </a:r>
          </a:p>
          <a:p>
            <a:pPr marL="461963" indent="-2508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75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2BE6-0420-FB50-5296-42F1D41B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4BAA-6EB7-5797-E44F-FFE3911D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Network security key points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F912097-CBF2-98FF-B628-7E588D135B00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/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>
                <a:solidFill>
                  <a:srgbClr val="C00000"/>
                </a:solidFill>
              </a:rPr>
              <a:t>Principles of cryptography</a:t>
            </a:r>
          </a:p>
          <a:p>
            <a:pPr>
              <a:buClr>
                <a:srgbClr val="011199"/>
              </a:buClr>
            </a:pPr>
            <a:r>
              <a:rPr lang="en-US" dirty="0"/>
              <a:t>Message integrity, authentication</a:t>
            </a:r>
          </a:p>
          <a:p>
            <a:pPr marL="130175" indent="0">
              <a:buClr>
                <a:srgbClr val="011199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8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0" y="4692444"/>
            <a:ext cx="8637831" cy="2038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(m’) </a:t>
            </a:r>
            <a:r>
              <a:rPr lang="en-US" dirty="0"/>
              <a:t>for m’ not encrypted by K</a:t>
            </a:r>
            <a:r>
              <a:rPr lang="en-US" baseline="-25000" dirty="0"/>
              <a:t>A</a:t>
            </a:r>
            <a:r>
              <a:rPr lang="en-US" dirty="0"/>
              <a:t> is detectable as such</a:t>
            </a:r>
          </a:p>
          <a:p>
            <a:pPr>
              <a:buFont typeface="Wingdings" charset="0"/>
              <a:buNone/>
            </a:pP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grpSp>
        <p:nvGrpSpPr>
          <p:cNvPr id="5" name="Group 4" descr="Terminology encryption/decryption in secure communication">
            <a:extLst>
              <a:ext uri="{FF2B5EF4-FFF2-40B4-BE49-F238E27FC236}">
                <a16:creationId xmlns:a16="http://schemas.microsoft.com/office/drawing/2014/main" id="{B409DC84-31E9-911E-CA69-4321F31CBA22}"/>
              </a:ext>
            </a:extLst>
          </p:cNvPr>
          <p:cNvGrpSpPr/>
          <p:nvPr/>
        </p:nvGrpSpPr>
        <p:grpSpPr>
          <a:xfrm>
            <a:off x="1585013" y="1529453"/>
            <a:ext cx="8408370" cy="3232280"/>
            <a:chOff x="1585013" y="1529453"/>
            <a:chExt cx="8408370" cy="3232280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D734669E-61CB-D549-AB3B-9FA516F1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5013" y="2641910"/>
              <a:ext cx="12795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plaintext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339D451-1A35-EA43-A191-2CBFB5AB1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9521" y="2644056"/>
              <a:ext cx="12795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plaintext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F0757022-6774-C94A-BAA4-D350B1EA7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4627" y="2648985"/>
              <a:ext cx="1455738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7D16B6C-3FBA-664E-8508-1CA080948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3706" y="1762818"/>
              <a:ext cx="509588" cy="582613"/>
              <a:chOff x="203" y="1789"/>
              <a:chExt cx="321" cy="367"/>
            </a:xfrm>
          </p:grpSpPr>
          <p:sp>
            <p:nvSpPr>
              <p:cNvPr id="31" name="Text Box 9">
                <a:extLst>
                  <a:ext uri="{FF2B5EF4-FFF2-40B4-BE49-F238E27FC236}">
                    <a16:creationId xmlns:a16="http://schemas.microsoft.com/office/drawing/2014/main" id="{A6D7B9C7-CE2B-2E4F-B690-78DA63F083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1789"/>
                <a:ext cx="217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K</a:t>
                </a:r>
              </a:p>
            </p:txBody>
          </p: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id="{CF36D666-0D47-A340-A5EE-2F56800D40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" y="186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  <p:pic>
          <p:nvPicPr>
            <p:cNvPr id="10" name="Picture 11" descr="Alice">
              <a:extLst>
                <a:ext uri="{FF2B5EF4-FFF2-40B4-BE49-F238E27FC236}">
                  <a16:creationId xmlns:a16="http://schemas.microsoft.com/office/drawing/2014/main" id="{0452868E-2DCB-044D-8E12-3E12E0509C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0787" y="1706149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AD1F12B2-FF58-C84A-9FEE-E90ECF217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3369" y="2691503"/>
              <a:ext cx="1433513" cy="8604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91A2ABD-8921-C24C-B9A7-FD940B031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694" y="2759766"/>
              <a:ext cx="1536700" cy="75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encryption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330108AB-253A-2F4F-B115-B277A1569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106" y="2705791"/>
              <a:ext cx="1460500" cy="8540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38440821-15F2-844A-8721-2FD8A32BB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081" y="2770878"/>
              <a:ext cx="1604963" cy="75723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decryption 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D7A11F5F-767A-EC4C-B0AA-6D4085AF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606" y="3156641"/>
              <a:ext cx="573088" cy="914400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9570F99C-C488-E54E-B34B-F9DE1A458E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08294" y="3155054"/>
              <a:ext cx="573088" cy="914400"/>
            </a:xfrm>
            <a:custGeom>
              <a:avLst/>
              <a:gdLst>
                <a:gd name="T0" fmla="*/ 0 w 344"/>
                <a:gd name="T1" fmla="*/ 0 h 789"/>
                <a:gd name="T2" fmla="*/ 458 w 344"/>
                <a:gd name="T3" fmla="*/ 11 h 789"/>
                <a:gd name="T4" fmla="*/ 484 w 344"/>
                <a:gd name="T5" fmla="*/ 64 h 789"/>
                <a:gd name="T6" fmla="*/ 0 60000 65536"/>
                <a:gd name="T7" fmla="*/ 0 60000 65536"/>
                <a:gd name="T8" fmla="*/ 0 60000 65536"/>
                <a:gd name="T9" fmla="*/ 0 w 344"/>
                <a:gd name="T10" fmla="*/ 0 h 789"/>
                <a:gd name="T11" fmla="*/ 344 w 344"/>
                <a:gd name="T12" fmla="*/ 789 h 7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789">
                  <a:moveTo>
                    <a:pt x="0" y="0"/>
                  </a:moveTo>
                  <a:cubicBezTo>
                    <a:pt x="52" y="24"/>
                    <a:pt x="255" y="10"/>
                    <a:pt x="310" y="142"/>
                  </a:cubicBezTo>
                  <a:cubicBezTo>
                    <a:pt x="344" y="248"/>
                    <a:pt x="324" y="654"/>
                    <a:pt x="328" y="78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C0B23DD9-B76B-B44C-8FA0-D0B4E6E00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719" y="1529453"/>
              <a:ext cx="1824038" cy="985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Alice’</a:t>
              </a:r>
              <a:r>
                <a:rPr lang="en-US" altLang="ja-JP" sz="2400" dirty="0">
                  <a:latin typeface="+mn-lt"/>
                  <a:cs typeface="Arial" charset="0"/>
                </a:rPr>
                <a:t>s </a:t>
              </a:r>
            </a:p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encryption</a:t>
              </a:r>
            </a:p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key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809532EF-4B73-154F-9DF4-497717810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7556" y="1597716"/>
              <a:ext cx="1657350" cy="985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Bob</a:t>
              </a:r>
              <a:r>
                <a:rPr lang="en-US" altLang="ja-JP" sz="2400" dirty="0">
                  <a:latin typeface="+mn-lt"/>
                  <a:cs typeface="Arial" charset="0"/>
                </a:rPr>
                <a:t>’s </a:t>
              </a:r>
            </a:p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decryption</a:t>
              </a:r>
            </a:p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key</a:t>
              </a:r>
            </a:p>
          </p:txBody>
        </p:sp>
        <p:pic>
          <p:nvPicPr>
            <p:cNvPr id="23" name="Picture 24" descr="Bob">
              <a:extLst>
                <a:ext uri="{FF2B5EF4-FFF2-40B4-BE49-F238E27FC236}">
                  <a16:creationId xmlns:a16="http://schemas.microsoft.com/office/drawing/2014/main" id="{B7CDFDA3-AD05-5641-9F13-C959774E7E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0583" y="1802434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" name="Group 25">
              <a:extLst>
                <a:ext uri="{FF2B5EF4-FFF2-40B4-BE49-F238E27FC236}">
                  <a16:creationId xmlns:a16="http://schemas.microsoft.com/office/drawing/2014/main" id="{06D5526A-A0B2-5B43-ABCA-4D728897DE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7181" y="1892991"/>
              <a:ext cx="501650" cy="568325"/>
              <a:chOff x="203" y="1789"/>
              <a:chExt cx="316" cy="358"/>
            </a:xfrm>
          </p:grpSpPr>
          <p:sp>
            <p:nvSpPr>
              <p:cNvPr id="29" name="Text Box 26">
                <a:extLst>
                  <a:ext uri="{FF2B5EF4-FFF2-40B4-BE49-F238E27FC236}">
                    <a16:creationId xmlns:a16="http://schemas.microsoft.com/office/drawing/2014/main" id="{D458364F-30A7-7344-97AF-28982E182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1789"/>
                <a:ext cx="217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K</a:t>
                </a:r>
              </a:p>
            </p:txBody>
          </p:sp>
          <p:sp>
            <p:nvSpPr>
              <p:cNvPr id="30" name="Text Box 27">
                <a:extLst>
                  <a:ext uri="{FF2B5EF4-FFF2-40B4-BE49-F238E27FC236}">
                    <a16:creationId xmlns:a16="http://schemas.microsoft.com/office/drawing/2014/main" id="{4388AB91-D971-914B-AF4F-86973D7BE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" y="1856"/>
                <a:ext cx="2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B</a:t>
                </a:r>
              </a:p>
            </p:txBody>
          </p:sp>
        </p:grpSp>
        <p:pic>
          <p:nvPicPr>
            <p:cNvPr id="27" name="Picture 30" descr="BS00768_[1]">
              <a:extLst>
                <a:ext uri="{FF2B5EF4-FFF2-40B4-BE49-F238E27FC236}">
                  <a16:creationId xmlns:a16="http://schemas.microsoft.com/office/drawing/2014/main" id="{C0A58FD0-B1BA-6943-8103-EA9945A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227044" y="1540566"/>
              <a:ext cx="46513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31" descr="BS00768_[1]">
              <a:extLst>
                <a:ext uri="{FF2B5EF4-FFF2-40B4-BE49-F238E27FC236}">
                  <a16:creationId xmlns:a16="http://schemas.microsoft.com/office/drawing/2014/main" id="{79041123-EFD9-1349-B259-90D4031AD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805269" y="1634228"/>
              <a:ext cx="46513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857C3A9-AC99-194E-85B8-BD0A22FA2997}"/>
                </a:ext>
              </a:extLst>
            </p:cNvPr>
            <p:cNvCxnSpPr>
              <a:cxnSpLocks/>
            </p:cNvCxnSpPr>
            <p:nvPr/>
          </p:nvCxnSpPr>
          <p:spPr>
            <a:xfrm>
              <a:off x="7027307" y="2279113"/>
              <a:ext cx="0" cy="31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58AE3B5-3946-E448-9D70-EEE25B9A2AAA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34" y="2238402"/>
              <a:ext cx="0" cy="31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3E9D92B-A75B-A241-89FA-02F2039EE03C}"/>
                </a:ext>
              </a:extLst>
            </p:cNvPr>
            <p:cNvCxnSpPr/>
            <p:nvPr/>
          </p:nvCxnSpPr>
          <p:spPr>
            <a:xfrm>
              <a:off x="2081048" y="3144094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115FF13-B579-1348-9B44-398AED47D510}"/>
                </a:ext>
              </a:extLst>
            </p:cNvPr>
            <p:cNvCxnSpPr/>
            <p:nvPr/>
          </p:nvCxnSpPr>
          <p:spPr>
            <a:xfrm>
              <a:off x="8355952" y="3124216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FC48485-D587-5C49-BD51-2D1EDE649A0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646" y="3089705"/>
              <a:ext cx="21729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B34743-91D0-4B3C-8CC0-E8A9AF111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8358" y="3684336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Breaking an encryption scheme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586949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two approaches:</a:t>
            </a:r>
          </a:p>
          <a:p>
            <a:pPr lvl="2"/>
            <a:r>
              <a:rPr lang="en-US" sz="2800" dirty="0"/>
              <a:t>brute force: search through all </a:t>
            </a:r>
            <a:r>
              <a:rPr lang="en-US" sz="2400" dirty="0"/>
              <a:t>keys </a:t>
            </a:r>
          </a:p>
          <a:p>
            <a:pPr lvl="2"/>
            <a:r>
              <a:rPr lang="en-US" sz="2400" dirty="0"/>
              <a:t>statistical 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r>
              <a:rPr lang="en-US" sz="3200" dirty="0"/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24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cryptography</a:t>
            </a:r>
            <a:endParaRPr lang="en-US" sz="4400" dirty="0"/>
          </a:p>
        </p:txBody>
      </p:sp>
      <p:grpSp>
        <p:nvGrpSpPr>
          <p:cNvPr id="3" name="Group 2" descr="Symmetric key crypto">
            <a:extLst>
              <a:ext uri="{FF2B5EF4-FFF2-40B4-BE49-F238E27FC236}">
                <a16:creationId xmlns:a16="http://schemas.microsoft.com/office/drawing/2014/main" id="{C00380E9-EC20-646F-DF47-B5368E90A1D1}"/>
              </a:ext>
            </a:extLst>
          </p:cNvPr>
          <p:cNvGrpSpPr/>
          <p:nvPr/>
        </p:nvGrpSpPr>
        <p:grpSpPr>
          <a:xfrm>
            <a:off x="1585013" y="1533872"/>
            <a:ext cx="8408370" cy="2044196"/>
            <a:chOff x="1585013" y="1533872"/>
            <a:chExt cx="8408370" cy="2044196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D734669E-61CB-D549-AB3B-9FA516F1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5013" y="2469633"/>
              <a:ext cx="12795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plaintext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339D451-1A35-EA43-A191-2CBFB5AB1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9521" y="2471779"/>
              <a:ext cx="12795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plaintext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7D16B6C-3FBA-664E-8508-1CA080948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7289" y="1564035"/>
              <a:ext cx="490538" cy="582613"/>
              <a:chOff x="203" y="1789"/>
              <a:chExt cx="309" cy="367"/>
            </a:xfrm>
          </p:grpSpPr>
          <p:sp>
            <p:nvSpPr>
              <p:cNvPr id="31" name="Text Box 9">
                <a:extLst>
                  <a:ext uri="{FF2B5EF4-FFF2-40B4-BE49-F238E27FC236}">
                    <a16:creationId xmlns:a16="http://schemas.microsoft.com/office/drawing/2014/main" id="{A6D7B9C7-CE2B-2E4F-B690-78DA63F083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1789"/>
                <a:ext cx="217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K</a:t>
                </a:r>
              </a:p>
            </p:txBody>
          </p: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id="{CF36D666-0D47-A340-A5EE-2F56800D40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" y="1865"/>
                <a:ext cx="20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S</a:t>
                </a:r>
              </a:p>
            </p:txBody>
          </p:sp>
        </p:grpSp>
        <p:pic>
          <p:nvPicPr>
            <p:cNvPr id="10" name="Picture 11" descr="Alice">
              <a:extLst>
                <a:ext uri="{FF2B5EF4-FFF2-40B4-BE49-F238E27FC236}">
                  <a16:creationId xmlns:a16="http://schemas.microsoft.com/office/drawing/2014/main" id="{0452868E-2DCB-044D-8E12-3E12E0509C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0787" y="1533872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AD1F12B2-FF58-C84A-9FEE-E90ECF217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3369" y="2519226"/>
              <a:ext cx="1433513" cy="8604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91A2ABD-8921-C24C-B9A7-FD940B031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694" y="2587489"/>
              <a:ext cx="1536700" cy="75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encryption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330108AB-253A-2F4F-B115-B277A1569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106" y="2533514"/>
              <a:ext cx="1460500" cy="8540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38440821-15F2-844A-8721-2FD8A32BB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081" y="2598601"/>
              <a:ext cx="1604963" cy="75723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decryption 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pic>
          <p:nvPicPr>
            <p:cNvPr id="23" name="Picture 24" descr="Bob">
              <a:extLst>
                <a:ext uri="{FF2B5EF4-FFF2-40B4-BE49-F238E27FC236}">
                  <a16:creationId xmlns:a16="http://schemas.microsoft.com/office/drawing/2014/main" id="{B7CDFDA3-AD05-5641-9F13-C959774E7E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0583" y="1630157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" name="Group 25">
              <a:extLst>
                <a:ext uri="{FF2B5EF4-FFF2-40B4-BE49-F238E27FC236}">
                  <a16:creationId xmlns:a16="http://schemas.microsoft.com/office/drawing/2014/main" id="{06D5526A-A0B2-5B43-ABCA-4D728897DE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7023" y="1561686"/>
              <a:ext cx="488950" cy="568325"/>
              <a:chOff x="203" y="1789"/>
              <a:chExt cx="308" cy="358"/>
            </a:xfrm>
          </p:grpSpPr>
          <p:sp>
            <p:nvSpPr>
              <p:cNvPr id="29" name="Text Box 26">
                <a:extLst>
                  <a:ext uri="{FF2B5EF4-FFF2-40B4-BE49-F238E27FC236}">
                    <a16:creationId xmlns:a16="http://schemas.microsoft.com/office/drawing/2014/main" id="{D458364F-30A7-7344-97AF-28982E182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" y="1789"/>
                <a:ext cx="217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K</a:t>
                </a:r>
              </a:p>
            </p:txBody>
          </p:sp>
          <p:sp>
            <p:nvSpPr>
              <p:cNvPr id="30" name="Text Box 27">
                <a:extLst>
                  <a:ext uri="{FF2B5EF4-FFF2-40B4-BE49-F238E27FC236}">
                    <a16:creationId xmlns:a16="http://schemas.microsoft.com/office/drawing/2014/main" id="{4388AB91-D971-914B-AF4F-86973D7BE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" y="1856"/>
                <a:ext cx="20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S</a:t>
                </a:r>
              </a:p>
            </p:txBody>
          </p:sp>
        </p:grpSp>
        <p:pic>
          <p:nvPicPr>
            <p:cNvPr id="27" name="Picture 30" descr="BS00768_[1]">
              <a:extLst>
                <a:ext uri="{FF2B5EF4-FFF2-40B4-BE49-F238E27FC236}">
                  <a16:creationId xmlns:a16="http://schemas.microsoft.com/office/drawing/2014/main" id="{C0A58FD0-B1BA-6943-8103-EA9945A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3227044" y="1686340"/>
              <a:ext cx="46513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31" descr="BS00768_[1]">
              <a:extLst>
                <a:ext uri="{FF2B5EF4-FFF2-40B4-BE49-F238E27FC236}">
                  <a16:creationId xmlns:a16="http://schemas.microsoft.com/office/drawing/2014/main" id="{79041123-EFD9-1349-B259-90D4031AD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898033" y="1740245"/>
              <a:ext cx="46513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857C3A9-AC99-194E-85B8-BD0A22FA2997}"/>
                </a:ext>
              </a:extLst>
            </p:cNvPr>
            <p:cNvCxnSpPr>
              <a:cxnSpLocks/>
            </p:cNvCxnSpPr>
            <p:nvPr/>
          </p:nvCxnSpPr>
          <p:spPr>
            <a:xfrm>
              <a:off x="7027307" y="2106836"/>
              <a:ext cx="0" cy="31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58AE3B5-3946-E448-9D70-EEE25B9A2AAA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34" y="2066125"/>
              <a:ext cx="0" cy="31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3E9D92B-A75B-A241-89FA-02F2039EE03C}"/>
                </a:ext>
              </a:extLst>
            </p:cNvPr>
            <p:cNvCxnSpPr/>
            <p:nvPr/>
          </p:nvCxnSpPr>
          <p:spPr>
            <a:xfrm>
              <a:off x="2081048" y="2971817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115FF13-B579-1348-9B44-398AED47D510}"/>
                </a:ext>
              </a:extLst>
            </p:cNvPr>
            <p:cNvCxnSpPr/>
            <p:nvPr/>
          </p:nvCxnSpPr>
          <p:spPr>
            <a:xfrm>
              <a:off x="8355952" y="2951939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FC48485-D587-5C49-BD51-2D1EDE649A0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646" y="2917428"/>
              <a:ext cx="21729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23D78889-5D58-7B49-852E-A4D7CE204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4627" y="2476708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  <p:sp>
          <p:nvSpPr>
            <p:cNvPr id="37" name="Text Box 27">
              <a:extLst>
                <a:ext uri="{FF2B5EF4-FFF2-40B4-BE49-F238E27FC236}">
                  <a16:creationId xmlns:a16="http://schemas.microsoft.com/office/drawing/2014/main" id="{2F4A5A09-FA83-434F-92C3-28E1DB3EE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2640" y="2924315"/>
              <a:ext cx="103906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B230A58D-9373-144C-92D9-84B3F53C7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0333" y="3116403"/>
              <a:ext cx="3257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D5E2051B-B645-DE43-BBCC-96C0307D24A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</a:t>
            </a:r>
            <a:r>
              <a:rPr lang="en-US" sz="3200" dirty="0"/>
              <a:t>: Bob and Alice share same (symmetric) key: K</a:t>
            </a:r>
          </a:p>
          <a:p>
            <a:r>
              <a:rPr lang="en-US" i="1" dirty="0"/>
              <a:t>e.g., </a:t>
            </a:r>
            <a:r>
              <a:rPr lang="en-US" dirty="0"/>
              <a:t>key is knowing substitution pattern in mono alphabetic substitution cipher</a:t>
            </a: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i="1" u="sng" dirty="0">
                <a:solidFill>
                  <a:srgbClr val="C00000"/>
                </a:solidFill>
              </a:rPr>
              <a:t>Q: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how do Bob and Alice agree on key value?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95107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substitution cipher: </a:t>
            </a:r>
            <a:r>
              <a:rPr lang="en-US" dirty="0"/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/>
              <a:t>monoalphabetic cipher: substitute one letter for another</a:t>
            </a:r>
            <a:endParaRPr lang="en-US" sz="3200" dirty="0"/>
          </a:p>
        </p:txBody>
      </p:sp>
      <p:grpSp>
        <p:nvGrpSpPr>
          <p:cNvPr id="3" name="Group 2" descr="Example of a substitution encryption scheme">
            <a:extLst>
              <a:ext uri="{FF2B5EF4-FFF2-40B4-BE49-F238E27FC236}">
                <a16:creationId xmlns:a16="http://schemas.microsoft.com/office/drawing/2014/main" id="{8D9D228D-D8B7-1668-3F70-334D15734B59}"/>
              </a:ext>
            </a:extLst>
          </p:cNvPr>
          <p:cNvGrpSpPr/>
          <p:nvPr/>
        </p:nvGrpSpPr>
        <p:grpSpPr>
          <a:xfrm>
            <a:off x="1565725" y="2463180"/>
            <a:ext cx="7387810" cy="2438102"/>
            <a:chOff x="1565725" y="2463180"/>
            <a:chExt cx="7387810" cy="2438102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B3412139-8CBB-DD4E-91B7-450CC2CAA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04" y="2463180"/>
              <a:ext cx="72031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Courier New" charset="0"/>
                </a:rPr>
                <a:t>plaintext:  abcdefghijklmnopqrstuvwxyz</a:t>
              </a: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F6BD0E9A-C7F8-5F4E-AE93-E336351F1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725" y="3242642"/>
              <a:ext cx="7387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Courier New" charset="0"/>
                </a:rPr>
                <a:t>ciphertext:  mnbvcxzasdfghjklpoiuytrewq</a:t>
              </a:r>
            </a:p>
          </p:txBody>
        </p:sp>
        <p:sp>
          <p:nvSpPr>
            <p:cNvPr id="45" name="Line 6">
              <a:extLst>
                <a:ext uri="{FF2B5EF4-FFF2-40B4-BE49-F238E27FC236}">
                  <a16:creationId xmlns:a16="http://schemas.microsoft.com/office/drawing/2014/main" id="{4A7E4B0C-B805-8D45-B761-B5546DF09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298" y="2872755"/>
              <a:ext cx="0" cy="4937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" name="Line 7">
              <a:extLst>
                <a:ext uri="{FF2B5EF4-FFF2-40B4-BE49-F238E27FC236}">
                  <a16:creationId xmlns:a16="http://schemas.microsoft.com/office/drawing/2014/main" id="{15944278-71E1-604D-A12B-C3FC18367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6886" y="2836242"/>
              <a:ext cx="0" cy="4937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39C5A038-5B82-9445-AEB5-8EB6B0C16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442" y="4014167"/>
              <a:ext cx="53463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Courier New" charset="0"/>
                </a:rPr>
                <a:t>Plaintext: we attack at noon</a:t>
              </a:r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80D4BCB1-BB8B-1140-8F2A-FE5981733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975" y="4439617"/>
              <a:ext cx="55306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Courier New" charset="0"/>
                </a:rPr>
                <a:t>ciphertext: </a:t>
              </a:r>
              <a:r>
                <a:rPr lang="en-US" sz="2400" b="1" dirty="0" err="1">
                  <a:latin typeface="Courier New" charset="0"/>
                </a:rPr>
                <a:t>rc</a:t>
              </a:r>
              <a:r>
                <a:rPr lang="en-US" sz="2400" b="1" dirty="0">
                  <a:latin typeface="Courier New" charset="0"/>
                </a:rPr>
                <a:t> </a:t>
              </a:r>
              <a:r>
                <a:rPr lang="en-US" sz="2400" b="1" dirty="0" err="1">
                  <a:latin typeface="Courier New" charset="0"/>
                </a:rPr>
                <a:t>muumbf</a:t>
              </a:r>
              <a:r>
                <a:rPr lang="en-US" sz="2400" b="1" dirty="0">
                  <a:latin typeface="Courier New" charset="0"/>
                </a:rPr>
                <a:t> mu </a:t>
              </a:r>
              <a:r>
                <a:rPr lang="en-US" sz="2400" b="1" dirty="0" err="1">
                  <a:latin typeface="Courier New" charset="0"/>
                </a:rPr>
                <a:t>jkkj</a:t>
              </a:r>
              <a:endParaRPr lang="en-US" sz="2400" b="1" dirty="0">
                <a:latin typeface="Courier New" charset="0"/>
              </a:endParaRPr>
            </a:p>
          </p:txBody>
        </p:sp>
        <p:sp>
          <p:nvSpPr>
            <p:cNvPr id="49" name="Text Box 10">
              <a:extLst>
                <a:ext uri="{FF2B5EF4-FFF2-40B4-BE49-F238E27FC236}">
                  <a16:creationId xmlns:a16="http://schemas.microsoft.com/office/drawing/2014/main" id="{9653B653-82E5-3F44-AD23-2BB86DB4F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623" y="3949080"/>
              <a:ext cx="7826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e.g.:</a:t>
              </a:r>
            </a:p>
          </p:txBody>
        </p:sp>
      </p:grp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+mn-lt"/>
              </a:rPr>
              <a:t>Encryption key: </a:t>
            </a:r>
            <a:r>
              <a:rPr lang="en-US" sz="3200" dirty="0">
                <a:latin typeface="+mn-lt"/>
              </a:rPr>
              <a:t>mapping from set of 26 letters</a:t>
            </a:r>
          </a:p>
          <a:p>
            <a:r>
              <a:rPr lang="en-US" sz="3200" dirty="0">
                <a:latin typeface="+mn-lt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doggo: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 </a:t>
            </a:r>
            <a:endParaRPr lang="en-US" baseline="-25000" dirty="0">
              <a:solidFill>
                <a:srgbClr val="008000"/>
              </a:solidFill>
            </a:endParaRP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  <a:p>
            <a:pPr lvl="1"/>
            <a:r>
              <a:rPr lang="en-US" sz="2800" dirty="0"/>
              <a:t>key need not be just n-bit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crypto: DES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37BF43-2D44-0746-9CC6-CB87B013203F}"/>
              </a:ext>
            </a:extLst>
          </p:cNvPr>
          <p:cNvSpPr txBox="1">
            <a:spLocks noChangeArrowheads="1"/>
          </p:cNvSpPr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DES: Data Encryption Standard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US encryption standard [NIST 1993]</a:t>
            </a:r>
          </a:p>
          <a:p>
            <a:r>
              <a:rPr lang="en-US" dirty="0"/>
              <a:t>56-bit symmetric key, 64-bit plaintext input</a:t>
            </a:r>
          </a:p>
          <a:p>
            <a:r>
              <a:rPr lang="en-US" dirty="0"/>
              <a:t>block cipher with cipher block chaining</a:t>
            </a:r>
          </a:p>
          <a:p>
            <a:r>
              <a:rPr lang="en-US" dirty="0"/>
              <a:t>how secure is DES?</a:t>
            </a:r>
          </a:p>
          <a:p>
            <a:pPr lvl="1"/>
            <a:r>
              <a:rPr lang="en-US" sz="2800" dirty="0"/>
              <a:t>DES Challenge: 56-bit-key-encrypted phrase  decrypted (brute force) in less than a day</a:t>
            </a:r>
          </a:p>
          <a:p>
            <a:pPr lvl="1"/>
            <a:r>
              <a:rPr lang="en-US" sz="2800" dirty="0"/>
              <a:t>no known good analytic attack</a:t>
            </a:r>
          </a:p>
          <a:p>
            <a:r>
              <a:rPr lang="en-US" dirty="0"/>
              <a:t>making DES more secure:</a:t>
            </a:r>
          </a:p>
          <a:p>
            <a:pPr lvl="1"/>
            <a:r>
              <a:rPr lang="en-US" sz="2800" dirty="0"/>
              <a:t>3DES: encrypt 3 times with 3 different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AES: Advanced Encryption Standard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667AF7-BF48-5243-985F-E9DDCE1AFF39}"/>
              </a:ext>
            </a:extLst>
          </p:cNvPr>
          <p:cNvSpPr txBox="1">
            <a:spLocks noChangeArrowheads="1"/>
          </p:cNvSpPr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symmetric-key NIST standard, replaced DES (Nov 2001)</a:t>
            </a:r>
          </a:p>
          <a:p>
            <a:r>
              <a:rPr lang="en-US" sz="3200" dirty="0"/>
              <a:t>processes data in 128 bit blocks</a:t>
            </a:r>
          </a:p>
          <a:p>
            <a:r>
              <a:rPr lang="en-US" sz="3200" dirty="0"/>
              <a:t>128, 192, or 256 bit keys</a:t>
            </a:r>
          </a:p>
          <a:p>
            <a:r>
              <a:rPr lang="en-US" sz="3200" dirty="0"/>
              <a:t>brute force decryption (try each key) taking 1 sec on DES, takes 149 trillion years for AES</a:t>
            </a:r>
          </a:p>
        </p:txBody>
      </p:sp>
    </p:spTree>
    <p:extLst>
      <p:ext uri="{BB962C8B-B14F-4D97-AF65-F5344CB8AC3E}">
        <p14:creationId xmlns:p14="http://schemas.microsoft.com/office/powerpoint/2010/main" val="9921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4"/>
            <a:ext cx="4935261" cy="4451111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lightbulb signifying an idea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grpSp>
        <p:nvGrpSpPr>
          <p:cNvPr id="3" name="Group 2" descr="Terminology of public key cryptography">
            <a:extLst>
              <a:ext uri="{FF2B5EF4-FFF2-40B4-BE49-F238E27FC236}">
                <a16:creationId xmlns:a16="http://schemas.microsoft.com/office/drawing/2014/main" id="{029B54F5-88D3-437F-40C2-7C5652C2FEEA}"/>
              </a:ext>
            </a:extLst>
          </p:cNvPr>
          <p:cNvGrpSpPr/>
          <p:nvPr/>
        </p:nvGrpSpPr>
        <p:grpSpPr>
          <a:xfrm>
            <a:off x="1322224" y="1485072"/>
            <a:ext cx="9769847" cy="3232497"/>
            <a:chOff x="1322224" y="1485072"/>
            <a:chExt cx="9769847" cy="3232497"/>
          </a:xfrm>
        </p:grpSpPr>
        <p:pic>
          <p:nvPicPr>
            <p:cNvPr id="49" name="Picture 5" descr="Alice">
              <a:extLst>
                <a:ext uri="{FF2B5EF4-FFF2-40B4-BE49-F238E27FC236}">
                  <a16:creationId xmlns:a16="http://schemas.microsoft.com/office/drawing/2014/main" id="{DA4FFCE3-3AE4-544C-8D5B-C3BA43672B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6539" y="2922312"/>
              <a:ext cx="511175" cy="630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12" descr="Bob">
              <a:extLst>
                <a:ext uri="{FF2B5EF4-FFF2-40B4-BE49-F238E27FC236}">
                  <a16:creationId xmlns:a16="http://schemas.microsoft.com/office/drawing/2014/main" id="{C0216B91-AA56-D447-82C5-145B19963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291" y="2939774"/>
              <a:ext cx="665162" cy="677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4" name="Group 29">
              <a:extLst>
                <a:ext uri="{FF2B5EF4-FFF2-40B4-BE49-F238E27FC236}">
                  <a16:creationId xmlns:a16="http://schemas.microsoft.com/office/drawing/2014/main" id="{7BD7980D-FCF0-3C4A-93D5-EAE9F1C30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2834" y="4080981"/>
              <a:ext cx="1885950" cy="636588"/>
              <a:chOff x="2413" y="3394"/>
              <a:chExt cx="1188" cy="401"/>
            </a:xfrm>
          </p:grpSpPr>
          <p:sp>
            <p:nvSpPr>
              <p:cNvPr id="75" name="Text Box 30">
                <a:extLst>
                  <a:ext uri="{FF2B5EF4-FFF2-40B4-BE49-F238E27FC236}">
                    <a16:creationId xmlns:a16="http://schemas.microsoft.com/office/drawing/2014/main" id="{E2514AB3-88CA-4541-9CE9-713B944F4B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3434"/>
                <a:ext cx="11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m = K  </a:t>
                </a:r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  <a:r>
                  <a:rPr lang="en-US" sz="24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)</a:t>
                </a:r>
              </a:p>
            </p:txBody>
          </p:sp>
          <p:sp>
            <p:nvSpPr>
              <p:cNvPr id="76" name="Text Box 31">
                <a:extLst>
                  <a:ext uri="{FF2B5EF4-FFF2-40B4-BE49-F238E27FC236}">
                    <a16:creationId xmlns:a16="http://schemas.microsoft.com/office/drawing/2014/main" id="{4153A745-501E-0545-A470-D433A0EAE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0" y="3582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77" name="Text Box 32">
                <a:extLst>
                  <a:ext uri="{FF2B5EF4-FFF2-40B4-BE49-F238E27FC236}">
                    <a16:creationId xmlns:a16="http://schemas.microsoft.com/office/drawing/2014/main" id="{5A82004A-529C-F540-B693-874631623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2" y="3400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  <p:sp>
            <p:nvSpPr>
              <p:cNvPr id="78" name="Text Box 33">
                <a:extLst>
                  <a:ext uri="{FF2B5EF4-FFF2-40B4-BE49-F238E27FC236}">
                    <a16:creationId xmlns:a16="http://schemas.microsoft.com/office/drawing/2014/main" id="{FC50E53E-9F9B-654F-9FA8-ECCEF77A7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" y="3570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79" name="Text Box 34">
                <a:extLst>
                  <a:ext uri="{FF2B5EF4-FFF2-40B4-BE49-F238E27FC236}">
                    <a16:creationId xmlns:a16="http://schemas.microsoft.com/office/drawing/2014/main" id="{EDF2B244-5719-2F45-A42A-402B66223E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94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83" name="Text Box 6">
              <a:extLst>
                <a:ext uri="{FF2B5EF4-FFF2-40B4-BE49-F238E27FC236}">
                  <a16:creationId xmlns:a16="http://schemas.microsoft.com/office/drawing/2014/main" id="{6CC01E21-09EC-DC40-8599-EEA1BC508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2043" y="3584964"/>
              <a:ext cx="1279525" cy="461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plaintext</a:t>
              </a: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889B7A33-37EE-4D46-B817-164D2D6B6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891" y="3632411"/>
              <a:ext cx="1433513" cy="8604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85" name="Text Box 14">
              <a:extLst>
                <a:ext uri="{FF2B5EF4-FFF2-40B4-BE49-F238E27FC236}">
                  <a16:creationId xmlns:a16="http://schemas.microsoft.com/office/drawing/2014/main" id="{ECBBD5A2-07AE-1344-92CC-97064DC6F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216" y="3700674"/>
              <a:ext cx="1536700" cy="75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encryption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sp>
          <p:nvSpPr>
            <p:cNvPr id="86" name="Rectangle 15">
              <a:extLst>
                <a:ext uri="{FF2B5EF4-FFF2-40B4-BE49-F238E27FC236}">
                  <a16:creationId xmlns:a16="http://schemas.microsoft.com/office/drawing/2014/main" id="{60AEB48B-8CF1-8E42-A0B2-02C05B89B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7628" y="3646699"/>
              <a:ext cx="1460500" cy="8540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87" name="Text Box 16">
              <a:extLst>
                <a:ext uri="{FF2B5EF4-FFF2-40B4-BE49-F238E27FC236}">
                  <a16:creationId xmlns:a16="http://schemas.microsoft.com/office/drawing/2014/main" id="{638D795E-2C6D-CB48-9019-7A6554CD3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603" y="3711786"/>
              <a:ext cx="1604963" cy="75723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decryption </a:t>
              </a:r>
            </a:p>
            <a:p>
              <a:pPr algn="ctr">
                <a:lnSpc>
                  <a:spcPct val="9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algorithm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426637B-377D-7B4D-99F1-F721A3FF4606}"/>
                </a:ext>
              </a:extLst>
            </p:cNvPr>
            <p:cNvCxnSpPr/>
            <p:nvPr/>
          </p:nvCxnSpPr>
          <p:spPr>
            <a:xfrm>
              <a:off x="2213570" y="4085002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108EBEE-85B2-AD4A-ACE2-254B3FCAB316}"/>
                </a:ext>
              </a:extLst>
            </p:cNvPr>
            <p:cNvCxnSpPr/>
            <p:nvPr/>
          </p:nvCxnSpPr>
          <p:spPr>
            <a:xfrm>
              <a:off x="8488474" y="4065124"/>
              <a:ext cx="85133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AA03BC1-BA79-2B42-9CE7-DBF51217C896}"/>
                </a:ext>
              </a:extLst>
            </p:cNvPr>
            <p:cNvCxnSpPr>
              <a:cxnSpLocks/>
            </p:cNvCxnSpPr>
            <p:nvPr/>
          </p:nvCxnSpPr>
          <p:spPr>
            <a:xfrm>
              <a:off x="4683168" y="4030613"/>
              <a:ext cx="21729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0A1163E-E166-654E-B7B1-EF42611270BE}"/>
                </a:ext>
              </a:extLst>
            </p:cNvPr>
            <p:cNvGrpSpPr/>
            <p:nvPr/>
          </p:nvGrpSpPr>
          <p:grpSpPr>
            <a:xfrm>
              <a:off x="4967149" y="3589893"/>
              <a:ext cx="1455738" cy="1044298"/>
              <a:chOff x="4967149" y="3589893"/>
              <a:chExt cx="1455738" cy="1044298"/>
            </a:xfrm>
          </p:grpSpPr>
          <p:grpSp>
            <p:nvGrpSpPr>
              <p:cNvPr id="62" name="Group 17">
                <a:extLst>
                  <a:ext uri="{FF2B5EF4-FFF2-40B4-BE49-F238E27FC236}">
                    <a16:creationId xmlns:a16="http://schemas.microsoft.com/office/drawing/2014/main" id="{BF5A27BD-7C5D-CD46-AACC-04980CD415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6429" y="4016653"/>
                <a:ext cx="876300" cy="617538"/>
                <a:chOff x="2351" y="2077"/>
                <a:chExt cx="552" cy="389"/>
              </a:xfrm>
            </p:grpSpPr>
            <p:sp>
              <p:nvSpPr>
                <p:cNvPr id="63" name="Text Box 18">
                  <a:extLst>
                    <a:ext uri="{FF2B5EF4-FFF2-40B4-BE49-F238E27FC236}">
                      <a16:creationId xmlns:a16="http://schemas.microsoft.com/office/drawing/2014/main" id="{6A92BBF9-E8F3-DF4A-ADAE-98CEF3966B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1" y="2132"/>
                  <a:ext cx="55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 (m)</a:t>
                  </a:r>
                </a:p>
              </p:txBody>
            </p:sp>
            <p:sp>
              <p:nvSpPr>
                <p:cNvPr id="64" name="Text Box 19">
                  <a:extLst>
                    <a:ext uri="{FF2B5EF4-FFF2-40B4-BE49-F238E27FC236}">
                      <a16:creationId xmlns:a16="http://schemas.microsoft.com/office/drawing/2014/main" id="{3E5AC652-46D8-0349-9928-222C0A8437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3" y="2253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  <p:sp>
              <p:nvSpPr>
                <p:cNvPr id="65" name="Text Box 20">
                  <a:extLst>
                    <a:ext uri="{FF2B5EF4-FFF2-40B4-BE49-F238E27FC236}">
                      <a16:creationId xmlns:a16="http://schemas.microsoft.com/office/drawing/2014/main" id="{D038288E-5776-3D44-97D8-AA1FCEB5AE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8" y="2077"/>
                  <a:ext cx="19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91" name="Text Box 7">
                <a:extLst>
                  <a:ext uri="{FF2B5EF4-FFF2-40B4-BE49-F238E27FC236}">
                    <a16:creationId xmlns:a16="http://schemas.microsoft.com/office/drawing/2014/main" id="{D5A73CC5-A226-834C-9D98-B404C12AF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7149" y="3589893"/>
                <a:ext cx="14557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ciphertext</a:t>
                </a:r>
              </a:p>
            </p:txBody>
          </p:sp>
        </p:grpSp>
        <p:sp>
          <p:nvSpPr>
            <p:cNvPr id="94" name="Text Box 3">
              <a:extLst>
                <a:ext uri="{FF2B5EF4-FFF2-40B4-BE49-F238E27FC236}">
                  <a16:creationId xmlns:a16="http://schemas.microsoft.com/office/drawing/2014/main" id="{A06E7808-C2D2-D044-B709-E24B5275C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2224" y="3626817"/>
              <a:ext cx="1661032" cy="83099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plaintext</a:t>
              </a:r>
            </a:p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message, m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1E97B71-D008-454C-9F25-22FF4C7E0BB4}"/>
                </a:ext>
              </a:extLst>
            </p:cNvPr>
            <p:cNvGrpSpPr/>
            <p:nvPr/>
          </p:nvGrpSpPr>
          <p:grpSpPr>
            <a:xfrm>
              <a:off x="4104379" y="1485072"/>
              <a:ext cx="6487083" cy="2066511"/>
              <a:chOff x="4104379" y="1485072"/>
              <a:chExt cx="6487083" cy="2066511"/>
            </a:xfrm>
          </p:grpSpPr>
          <p:pic>
            <p:nvPicPr>
              <p:cNvPr id="60" name="Picture 15" descr="BS00768_[1]">
                <a:extLst>
                  <a:ext uri="{FF2B5EF4-FFF2-40B4-BE49-F238E27FC236}">
                    <a16:creationId xmlns:a16="http://schemas.microsoft.com/office/drawing/2014/main" id="{2560A757-A38F-AC4E-B091-353015A35D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6934543" y="1680887"/>
                <a:ext cx="458787" cy="236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" name="Text Box 21">
                <a:extLst>
                  <a:ext uri="{FF2B5EF4-FFF2-40B4-BE49-F238E27FC236}">
                    <a16:creationId xmlns:a16="http://schemas.microsoft.com/office/drawing/2014/main" id="{50806497-41D8-2E4E-B50D-F7BB60F0F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4926" y="1585085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7" name="Text Box 22">
                <a:extLst>
                  <a:ext uri="{FF2B5EF4-FFF2-40B4-BE49-F238E27FC236}">
                    <a16:creationId xmlns:a16="http://schemas.microsoft.com/office/drawing/2014/main" id="{CE859CC3-670B-FC49-A3AF-C82F3C2E7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9389" y="1764472"/>
                <a:ext cx="322262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8" name="Text Box 23">
                <a:extLst>
                  <a:ext uri="{FF2B5EF4-FFF2-40B4-BE49-F238E27FC236}">
                    <a16:creationId xmlns:a16="http://schemas.microsoft.com/office/drawing/2014/main" id="{598ECE34-7F25-8C4E-BDB3-B5BFD35BB9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7326" y="1485072"/>
                <a:ext cx="304800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45947757-0EAA-384F-AF69-755E3F48343B}"/>
                  </a:ext>
                </a:extLst>
              </p:cNvPr>
              <p:cNvGrpSpPr/>
              <p:nvPr/>
            </p:nvGrpSpPr>
            <p:grpSpPr>
              <a:xfrm>
                <a:off x="4104379" y="1524760"/>
                <a:ext cx="6487083" cy="2026823"/>
                <a:chOff x="4104379" y="1524760"/>
                <a:chExt cx="6487083" cy="2026823"/>
              </a:xfrm>
            </p:grpSpPr>
            <p:sp>
              <p:nvSpPr>
                <p:cNvPr id="56" name="Text Box 11">
                  <a:extLst>
                    <a:ext uri="{FF2B5EF4-FFF2-40B4-BE49-F238E27FC236}">
                      <a16:creationId xmlns:a16="http://schemas.microsoft.com/office/drawing/2014/main" id="{EC4974E1-78D0-CA46-A1E0-4780A77AB3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55026" y="1524760"/>
                  <a:ext cx="2736436" cy="46166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Bob</a:t>
                  </a:r>
                  <a:r>
                    <a:rPr lang="en-US" sz="2400" kern="0" dirty="0">
                      <a:solidFill>
                        <a:srgbClr val="000000"/>
                      </a:solidFill>
                      <a:latin typeface="+mn-lt"/>
                      <a:cs typeface="Arial" charset="0"/>
                    </a:rPr>
                    <a:t>’</a:t>
                  </a:r>
                  <a:r>
                    <a:rPr kumimoji="0" lang="en-US" altLang="ja-JP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s </a:t>
                  </a:r>
                  <a:r>
                    <a:rPr kumimoji="0" lang="en-US" altLang="ja-JP" sz="2400" b="0" i="1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public</a:t>
                  </a: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 key </a:t>
                  </a:r>
                </a:p>
              </p:txBody>
            </p:sp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70DAC614-E588-2544-93E7-C7BF64B0D1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15146" y="1800985"/>
                  <a:ext cx="19532" cy="175059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71B6B11D-ECAA-4143-AB7E-D47E64078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04379" y="1804781"/>
                  <a:ext cx="265423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1CBC244-80B9-8045-8AAB-052208AAFCAF}"/>
                </a:ext>
              </a:extLst>
            </p:cNvPr>
            <p:cNvGrpSpPr/>
            <p:nvPr/>
          </p:nvGrpSpPr>
          <p:grpSpPr>
            <a:xfrm>
              <a:off x="6971125" y="2188335"/>
              <a:ext cx="4120946" cy="1363247"/>
              <a:chOff x="6971125" y="2188335"/>
              <a:chExt cx="4120946" cy="1363247"/>
            </a:xfrm>
          </p:grpSpPr>
          <p:sp>
            <p:nvSpPr>
              <p:cNvPr id="69" name="Text Box 24">
                <a:extLst>
                  <a:ext uri="{FF2B5EF4-FFF2-40B4-BE49-F238E27FC236}">
                    <a16:creationId xmlns:a16="http://schemas.microsoft.com/office/drawing/2014/main" id="{10A72390-FCE4-7743-B879-430BA64CF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8387" y="2202622"/>
                <a:ext cx="3163684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’s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private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pic>
            <p:nvPicPr>
              <p:cNvPr id="70" name="Picture 25" descr="BS00768_[1]">
                <a:extLst>
                  <a:ext uri="{FF2B5EF4-FFF2-40B4-BE49-F238E27FC236}">
                    <a16:creationId xmlns:a16="http://schemas.microsoft.com/office/drawing/2014/main" id="{E5AF231D-A446-4C40-90CA-324AE831D6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6971125" y="2340735"/>
                <a:ext cx="542925" cy="279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" name="Text Box 26">
                <a:extLst>
                  <a:ext uri="{FF2B5EF4-FFF2-40B4-BE49-F238E27FC236}">
                    <a16:creationId xmlns:a16="http://schemas.microsoft.com/office/drawing/2014/main" id="{1FAC5085-46DD-834E-AC5E-9F54BBD89B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0712" y="2275647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72" name="Text Box 27">
                <a:extLst>
                  <a:ext uri="{FF2B5EF4-FFF2-40B4-BE49-F238E27FC236}">
                    <a16:creationId xmlns:a16="http://schemas.microsoft.com/office/drawing/2014/main" id="{B741F65D-D85A-BA44-A0EC-45B50137B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8187" y="2467735"/>
                <a:ext cx="322262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73" name="Text Box 28">
                <a:extLst>
                  <a:ext uri="{FF2B5EF4-FFF2-40B4-BE49-F238E27FC236}">
                    <a16:creationId xmlns:a16="http://schemas.microsoft.com/office/drawing/2014/main" id="{B9C2DED2-A012-704E-B1B5-9CEE4CCC6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2012" y="2188335"/>
                <a:ext cx="252413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633644F-66D9-7E4F-AA09-88F31F1C5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75344" y="2729947"/>
                <a:ext cx="0" cy="82163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Public key cryptography revolutionized 2000-year-old (previously only symmetric key) cryptography!</a:t>
            </a:r>
          </a:p>
          <a:p>
            <a:pPr marL="457200" indent="-219075">
              <a:buClr>
                <a:srgbClr val="0012A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similar ideas emerged at roughly same time, independently in US and UK (classified)</a:t>
            </a:r>
          </a:p>
        </p:txBody>
      </p:sp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956" y="5138599"/>
            <a:ext cx="615521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C00000"/>
                </a:solidFill>
                <a:latin typeface="+mn-lt"/>
              </a:rPr>
              <a:t>RSA algorithm: </a:t>
            </a:r>
            <a:r>
              <a:rPr lang="en-US" sz="3200" dirty="0">
                <a:latin typeface="+mn-lt"/>
              </a:rPr>
              <a:t>Ron Rivest,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Adi Shamir, and Leonard Adleman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(1977)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 descr="First requirement of PK: two functions, a public and private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8765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28563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 descr="Second requirement: can’t compute private key knowing the public key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0823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1018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  <p:grpSp>
        <p:nvGrpSpPr>
          <p:cNvPr id="8" name="Group 7" descr="Photo of Ron Rivest, Adi Shamiir, and Leonard Adleman">
            <a:extLst>
              <a:ext uri="{FF2B5EF4-FFF2-40B4-BE49-F238E27FC236}">
                <a16:creationId xmlns:a16="http://schemas.microsoft.com/office/drawing/2014/main" id="{B3315707-F948-1AEA-E398-856128450FB3}"/>
              </a:ext>
            </a:extLst>
          </p:cNvPr>
          <p:cNvGrpSpPr/>
          <p:nvPr/>
        </p:nvGrpSpPr>
        <p:grpSpPr>
          <a:xfrm>
            <a:off x="7881198" y="4916413"/>
            <a:ext cx="4323389" cy="1730785"/>
            <a:chOff x="7881198" y="4916413"/>
            <a:chExt cx="4323389" cy="17307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D8BA150-8953-78F9-16DC-E12A97F31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150" t="4910" b="-4519"/>
            <a:stretch/>
          </p:blipFill>
          <p:spPr>
            <a:xfrm>
              <a:off x="7881198" y="4916413"/>
              <a:ext cx="1419165" cy="173078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04E8B93-630C-041D-523D-A0F3F5838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649" t="3646" b="5209"/>
            <a:stretch/>
          </p:blipFill>
          <p:spPr>
            <a:xfrm>
              <a:off x="9335260" y="4916414"/>
              <a:ext cx="1419165" cy="164371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FC10C4-4126-6042-10E8-521291D33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85422" y="4916415"/>
              <a:ext cx="1419165" cy="16437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30C7-48D4-0456-0DF4-AB3E1A36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308A-50B8-D94B-9418-DAD91EC9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Network security key points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D0C66FB-F003-D89A-D280-1961A767A994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/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buClr>
                <a:srgbClr val="011199"/>
              </a:buClr>
            </a:pPr>
            <a:r>
              <a:rPr lang="en-US" dirty="0">
                <a:solidFill>
                  <a:srgbClr val="C00000"/>
                </a:solidFill>
              </a:rPr>
              <a:t>Message integrity, authentication</a:t>
            </a:r>
          </a:p>
          <a:p>
            <a:pPr marL="130175" indent="0">
              <a:buClr>
                <a:srgbClr val="011199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grpSp>
        <p:nvGrpSpPr>
          <p:cNvPr id="4" name="Group 3" descr="Simplest protocol; Alice autenticates herself to Bob by sending a message stating her identity">
            <a:extLst>
              <a:ext uri="{FF2B5EF4-FFF2-40B4-BE49-F238E27FC236}">
                <a16:creationId xmlns:a16="http://schemas.microsoft.com/office/drawing/2014/main" id="{69151EAD-BAFC-50E0-222A-3EF6C2D4C0E0}"/>
              </a:ext>
            </a:extLst>
          </p:cNvPr>
          <p:cNvGrpSpPr/>
          <p:nvPr/>
        </p:nvGrpSpPr>
        <p:grpSpPr>
          <a:xfrm>
            <a:off x="1257231" y="3548822"/>
            <a:ext cx="7389041" cy="2045818"/>
            <a:chOff x="1257231" y="3548822"/>
            <a:chExt cx="7389041" cy="2045818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57C063F1-1B01-9C4C-B6DC-5164EA97A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631" y="3671612"/>
              <a:ext cx="280564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i="1" dirty="0">
                  <a:latin typeface="+mn-lt"/>
                  <a:cs typeface="Arial" charset="0"/>
                </a:rPr>
                <a:t>failure scenario??</a:t>
              </a:r>
            </a:p>
          </p:txBody>
        </p:sp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548822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206" y="3639310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B1406D73-30A7-2643-BADF-4EEA27B2F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506" y="4075872"/>
              <a:ext cx="187007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C6581AAA-994B-4F43-B1B3-AE73B307A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310" y="3564145"/>
              <a:ext cx="189987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+mn-lt"/>
                  <a:cs typeface="Arial" charset="0"/>
                </a:rPr>
                <a:t>“I am Alice</a:t>
              </a:r>
              <a:r>
                <a:rPr lang="en-US" altLang="ja-JP" sz="2800" dirty="0">
                  <a:latin typeface="+mn-lt"/>
                  <a:cs typeface="Arial" charset="0"/>
                </a:rPr>
                <a:t>”</a:t>
              </a:r>
              <a:endParaRPr lang="en-US" sz="2800" dirty="0">
                <a:latin typeface="+mn-lt"/>
                <a:cs typeface="Arial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26E4F7-5616-7B66-0EB3-81613F5D0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5657" y="4517243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403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grpSp>
        <p:nvGrpSpPr>
          <p:cNvPr id="4" name="Group 3" descr="Why won’t work - Trudy could claim to be Alice">
            <a:extLst>
              <a:ext uri="{FF2B5EF4-FFF2-40B4-BE49-F238E27FC236}">
                <a16:creationId xmlns:a16="http://schemas.microsoft.com/office/drawing/2014/main" id="{D172DC41-A8A9-EA2C-1E04-0DAA5ED8CA39}"/>
              </a:ext>
            </a:extLst>
          </p:cNvPr>
          <p:cNvGrpSpPr/>
          <p:nvPr/>
        </p:nvGrpSpPr>
        <p:grpSpPr>
          <a:xfrm>
            <a:off x="1257231" y="3548822"/>
            <a:ext cx="6980320" cy="2687340"/>
            <a:chOff x="1257231" y="3548822"/>
            <a:chExt cx="6980320" cy="2687340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548822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206" y="3639310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65C1FDF6-1546-0A4A-9B22-9D9CCA784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7858" y="3568133"/>
              <a:ext cx="2419693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i="1" dirty="0">
                  <a:latin typeface="+mn-lt"/>
                  <a:cs typeface="Arial" charset="0"/>
                </a:rPr>
                <a:t>in a network, Bob can not </a:t>
              </a:r>
              <a:r>
                <a:rPr lang="en-US" altLang="ja-JP" sz="2400" i="1" dirty="0">
                  <a:latin typeface="+mn-lt"/>
                  <a:cs typeface="Arial" charset="0"/>
                </a:rPr>
                <a:t>“</a:t>
              </a:r>
              <a:r>
                <a:rPr lang="en-US" sz="2400" i="1" dirty="0">
                  <a:latin typeface="+mn-lt"/>
                  <a:cs typeface="Arial" charset="0"/>
                </a:rPr>
                <a:t>see</a:t>
              </a:r>
              <a:r>
                <a:rPr lang="en-US" altLang="ja-JP" sz="2400" i="1" dirty="0">
                  <a:latin typeface="+mn-lt"/>
                  <a:cs typeface="Arial" charset="0"/>
                </a:rPr>
                <a:t>”</a:t>
              </a:r>
              <a:r>
                <a:rPr lang="en-US" sz="2400" i="1" dirty="0">
                  <a:latin typeface="+mn-lt"/>
                  <a:cs typeface="Arial" charset="0"/>
                </a:rPr>
                <a:t> Alice, so Trudy simply declares herself to be Alice</a:t>
              </a: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08D195E9-D0C5-1447-B41F-4771B5A05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0336" y="4301297"/>
              <a:ext cx="773113" cy="1027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sz="2000" dirty="0">
                  <a:cs typeface="+mn-cs"/>
                </a:rPr>
                <a:t> 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C14E974A-5022-614B-8E01-236452893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786" y="4829935"/>
              <a:ext cx="19575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sz="2800" dirty="0">
                  <a:latin typeface="+mn-lt"/>
                  <a:cs typeface="Arial" charset="0"/>
                </a:rPr>
                <a:t>“</a:t>
              </a:r>
              <a:r>
                <a:rPr lang="en-US" sz="2800" dirty="0">
                  <a:latin typeface="+mn-lt"/>
                  <a:cs typeface="Arial" charset="0"/>
                </a:rPr>
                <a:t>I am Alice</a:t>
              </a:r>
              <a:r>
                <a:rPr lang="en-US" altLang="ja-JP" sz="2800" dirty="0">
                  <a:latin typeface="+mn-lt"/>
                  <a:cs typeface="Arial" charset="0"/>
                </a:rPr>
                <a:t>”</a:t>
              </a:r>
              <a:endParaRPr lang="en-US" sz="2800" dirty="0">
                <a:latin typeface="+mn-lt"/>
                <a:cs typeface="Arial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680F718-5262-9D4D-2BF3-C2881100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5839" y="5158765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1516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01B0-23CD-296A-24E2-BB23706A8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0E3B-0243-11CF-2286-23405FB3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A7631D-5CE9-BBC5-F595-B5EB4B34283C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BA8E95F-0E5D-5451-726B-40D83C504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530603-16A2-333D-D344-31FC2AE8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482" y="2548273"/>
            <a:ext cx="325602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7914DB4-90EE-5F76-2389-FB48A427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57231" y="3548822"/>
            <a:ext cx="6980320" cy="2687340"/>
            <a:chOff x="1257231" y="3548822"/>
            <a:chExt cx="6980320" cy="2687340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2D69090F-2034-8894-A0E7-F90A50DF01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548822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157819A7-AC54-6D92-13C0-C870231BF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206" y="3639310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C2FDBEC2-4633-C9B1-9DBF-92B033238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7858" y="3568133"/>
              <a:ext cx="2419693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i="1" dirty="0">
                  <a:latin typeface="+mn-lt"/>
                  <a:cs typeface="Arial" charset="0"/>
                </a:rPr>
                <a:t>in a network, Bob can not </a:t>
              </a:r>
              <a:r>
                <a:rPr lang="en-US" altLang="ja-JP" sz="2400" i="1" dirty="0">
                  <a:latin typeface="+mn-lt"/>
                  <a:cs typeface="Arial" charset="0"/>
                </a:rPr>
                <a:t>“</a:t>
              </a:r>
              <a:r>
                <a:rPr lang="en-US" sz="2400" i="1" dirty="0">
                  <a:latin typeface="+mn-lt"/>
                  <a:cs typeface="Arial" charset="0"/>
                </a:rPr>
                <a:t>see</a:t>
              </a:r>
              <a:r>
                <a:rPr lang="en-US" altLang="ja-JP" sz="2400" i="1" dirty="0">
                  <a:latin typeface="+mn-lt"/>
                  <a:cs typeface="Arial" charset="0"/>
                </a:rPr>
                <a:t>”</a:t>
              </a:r>
              <a:r>
                <a:rPr lang="en-US" sz="2400" i="1" dirty="0">
                  <a:latin typeface="+mn-lt"/>
                  <a:cs typeface="Arial" charset="0"/>
                </a:rPr>
                <a:t> Alice, so Trudy simply declares herself to be Alice</a:t>
              </a: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2CC5FFC6-EB33-F8C6-12AA-419009BB3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0336" y="4301297"/>
              <a:ext cx="773113" cy="1027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sz="2000" dirty="0">
                  <a:cs typeface="+mn-cs"/>
                </a:rPr>
                <a:t> 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0893FDA-CC49-9B5F-2E5D-FEB436A97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786" y="4829935"/>
              <a:ext cx="19575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sz="2800" dirty="0">
                  <a:latin typeface="+mn-lt"/>
                  <a:cs typeface="Arial" charset="0"/>
                </a:rPr>
                <a:t>“</a:t>
              </a:r>
              <a:r>
                <a:rPr lang="en-US" sz="2800" dirty="0">
                  <a:latin typeface="+mn-lt"/>
                  <a:cs typeface="Arial" charset="0"/>
                </a:rPr>
                <a:t>I am Alice</a:t>
              </a:r>
              <a:r>
                <a:rPr lang="en-US" altLang="ja-JP" sz="2800" dirty="0">
                  <a:latin typeface="+mn-lt"/>
                  <a:cs typeface="Arial" charset="0"/>
                </a:rPr>
                <a:t>”</a:t>
              </a:r>
              <a:endParaRPr lang="en-US" sz="2800" dirty="0">
                <a:latin typeface="+mn-lt"/>
                <a:cs typeface="Arial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DE5D70E-F5D4-FE9F-263E-9DB15EA4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35839" y="5158765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2123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4" name="Group 3" descr="A fix: use Alice’s IP address as “proof” of her identity.">
            <a:extLst>
              <a:ext uri="{FF2B5EF4-FFF2-40B4-BE49-F238E27FC236}">
                <a16:creationId xmlns:a16="http://schemas.microsoft.com/office/drawing/2014/main" id="{3BD01D69-4EB1-0D2A-B588-C5A13847F6D5}"/>
              </a:ext>
            </a:extLst>
          </p:cNvPr>
          <p:cNvGrpSpPr/>
          <p:nvPr/>
        </p:nvGrpSpPr>
        <p:grpSpPr>
          <a:xfrm>
            <a:off x="1257231" y="3710816"/>
            <a:ext cx="5481845" cy="2287136"/>
            <a:chOff x="1257231" y="3710816"/>
            <a:chExt cx="5481845" cy="2287136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6276" y="3838093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D3E1B23E-A094-B04D-98F5-3714A273D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119" y="4434716"/>
              <a:ext cx="37988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9" name="Group 9">
              <a:extLst>
                <a:ext uri="{FF2B5EF4-FFF2-40B4-BE49-F238E27FC236}">
                  <a16:creationId xmlns:a16="http://schemas.microsoft.com/office/drawing/2014/main" id="{F3CF6344-6161-A648-90CB-9A5298C3B7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7957" y="3710816"/>
              <a:ext cx="2855913" cy="541337"/>
              <a:chOff x="540" y="1857"/>
              <a:chExt cx="1799" cy="341"/>
            </a:xfrm>
          </p:grpSpPr>
          <p:sp>
            <p:nvSpPr>
              <p:cNvPr id="20" name="Rectangle 10">
                <a:extLst>
                  <a:ext uri="{FF2B5EF4-FFF2-40B4-BE49-F238E27FC236}">
                    <a16:creationId xmlns:a16="http://schemas.microsoft.com/office/drawing/2014/main" id="{957F85BF-1C79-E240-87AC-8BC4754F6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179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1" name="Text Box 11">
                <a:extLst>
                  <a:ext uri="{FF2B5EF4-FFF2-40B4-BE49-F238E27FC236}">
                    <a16:creationId xmlns:a16="http://schemas.microsoft.com/office/drawing/2014/main" id="{1489DC97-999B-1143-8A23-B8B6F0C67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6" y="1909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2" name="Text Box 12">
                <a:extLst>
                  <a:ext uri="{FF2B5EF4-FFF2-40B4-BE49-F238E27FC236}">
                    <a16:creationId xmlns:a16="http://schemas.microsoft.com/office/drawing/2014/main" id="{72208579-1FD4-1D4F-932D-56E99A10BD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1857"/>
                <a:ext cx="718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address</a:t>
                </a:r>
              </a:p>
            </p:txBody>
          </p:sp>
          <p:sp>
            <p:nvSpPr>
              <p:cNvPr id="23" name="Line 13">
                <a:extLst>
                  <a:ext uri="{FF2B5EF4-FFF2-40B4-BE49-F238E27FC236}">
                    <a16:creationId xmlns:a16="http://schemas.microsoft.com/office/drawing/2014/main" id="{6C098466-4768-CE4A-B1EE-25DAD7DB3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6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43BE7B-7CAA-DB31-7C22-E0ADE0AA0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1096" y="4920555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4876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grpSp>
        <p:nvGrpSpPr>
          <p:cNvPr id="4" name="Group 3" descr="Attack: Trudy could spoof Alice’s IP address.">
            <a:extLst>
              <a:ext uri="{FF2B5EF4-FFF2-40B4-BE49-F238E27FC236}">
                <a16:creationId xmlns:a16="http://schemas.microsoft.com/office/drawing/2014/main" id="{499A298B-D52C-5B73-0DE0-FE289882A181}"/>
              </a:ext>
            </a:extLst>
          </p:cNvPr>
          <p:cNvGrpSpPr/>
          <p:nvPr/>
        </p:nvGrpSpPr>
        <p:grpSpPr>
          <a:xfrm>
            <a:off x="1257231" y="3838093"/>
            <a:ext cx="9387549" cy="2730582"/>
            <a:chOff x="1257231" y="3838093"/>
            <a:chExt cx="9387549" cy="2730582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6276" y="3838093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D3E1B23E-A094-B04D-98F5-3714A273D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1094" y="4572000"/>
              <a:ext cx="2267433" cy="10251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9" name="Group 9">
              <a:extLst>
                <a:ext uri="{FF2B5EF4-FFF2-40B4-BE49-F238E27FC236}">
                  <a16:creationId xmlns:a16="http://schemas.microsoft.com/office/drawing/2014/main" id="{F3CF6344-6161-A648-90CB-9A5298C3B7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287" y="5075789"/>
              <a:ext cx="2855913" cy="541337"/>
              <a:chOff x="540" y="1857"/>
              <a:chExt cx="1799" cy="341"/>
            </a:xfrm>
          </p:grpSpPr>
          <p:sp>
            <p:nvSpPr>
              <p:cNvPr id="20" name="Rectangle 10">
                <a:extLst>
                  <a:ext uri="{FF2B5EF4-FFF2-40B4-BE49-F238E27FC236}">
                    <a16:creationId xmlns:a16="http://schemas.microsoft.com/office/drawing/2014/main" id="{957F85BF-1C79-E240-87AC-8BC4754F6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179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1" name="Text Box 11">
                <a:extLst>
                  <a:ext uri="{FF2B5EF4-FFF2-40B4-BE49-F238E27FC236}">
                    <a16:creationId xmlns:a16="http://schemas.microsoft.com/office/drawing/2014/main" id="{1489DC97-999B-1143-8A23-B8B6F0C67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6" y="1909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2" name="Text Box 12">
                <a:extLst>
                  <a:ext uri="{FF2B5EF4-FFF2-40B4-BE49-F238E27FC236}">
                    <a16:creationId xmlns:a16="http://schemas.microsoft.com/office/drawing/2014/main" id="{72208579-1FD4-1D4F-932D-56E99A10BD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1857"/>
                <a:ext cx="718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address</a:t>
                </a:r>
              </a:p>
            </p:txBody>
          </p:sp>
          <p:sp>
            <p:nvSpPr>
              <p:cNvPr id="23" name="Line 13">
                <a:extLst>
                  <a:ext uri="{FF2B5EF4-FFF2-40B4-BE49-F238E27FC236}">
                    <a16:creationId xmlns:a16="http://schemas.microsoft.com/office/drawing/2014/main" id="{6C098466-4768-CE4A-B1EE-25DAD7DB3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36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2FEFAAB4-6162-2944-8B86-984F45930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5743" y="3910151"/>
              <a:ext cx="3039037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i="1" dirty="0">
                  <a:latin typeface="+mn-lt"/>
                  <a:cs typeface="Arial" charset="0"/>
                </a:rPr>
                <a:t>Trudy can create</a:t>
              </a:r>
            </a:p>
            <a:p>
              <a:pPr algn="ctr">
                <a:defRPr/>
              </a:pPr>
              <a:r>
                <a:rPr lang="en-US" sz="2800" i="1" dirty="0">
                  <a:latin typeface="+mn-lt"/>
                  <a:cs typeface="Arial" charset="0"/>
                </a:rPr>
                <a:t>a packet “spoofing”</a:t>
              </a:r>
            </a:p>
            <a:p>
              <a:pPr algn="ctr">
                <a:defRPr/>
              </a:pPr>
              <a:r>
                <a:rPr lang="en-US" sz="2800" i="1" dirty="0">
                  <a:latin typeface="+mn-lt"/>
                  <a:cs typeface="Arial" charset="0"/>
                </a:rPr>
                <a:t>Alice’s address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03C330-A9FC-A0BE-8195-8AC27C925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7985" y="549127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74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grpSp>
        <p:nvGrpSpPr>
          <p:cNvPr id="5" name="Group 4" descr="Third protocol: Alice proves her identity to Bob by sending him her secret password">
            <a:extLst>
              <a:ext uri="{FF2B5EF4-FFF2-40B4-BE49-F238E27FC236}">
                <a16:creationId xmlns:a16="http://schemas.microsoft.com/office/drawing/2014/main" id="{6479237C-598A-0864-39AA-3E0E966CFFF6}"/>
              </a:ext>
            </a:extLst>
          </p:cNvPr>
          <p:cNvGrpSpPr/>
          <p:nvPr/>
        </p:nvGrpSpPr>
        <p:grpSpPr>
          <a:xfrm>
            <a:off x="1257231" y="3617843"/>
            <a:ext cx="10105737" cy="2627902"/>
            <a:chOff x="1257231" y="3617843"/>
            <a:chExt cx="10105737" cy="2627902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676" y="3741738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F2F81167-112C-594B-9733-07B61B934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119" y="4434716"/>
              <a:ext cx="50962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D297D8-FA6B-994F-AA4B-BD4F49ED5D88}"/>
                </a:ext>
              </a:extLst>
            </p:cNvPr>
            <p:cNvGrpSpPr/>
            <p:nvPr/>
          </p:nvGrpSpPr>
          <p:grpSpPr>
            <a:xfrm>
              <a:off x="2287795" y="3617843"/>
              <a:ext cx="3476900" cy="643835"/>
              <a:chOff x="2287795" y="3617843"/>
              <a:chExt cx="3476900" cy="643835"/>
            </a:xfrm>
          </p:grpSpPr>
          <p:grpSp>
            <p:nvGrpSpPr>
              <p:cNvPr id="25" name="Group 9">
                <a:extLst>
                  <a:ext uri="{FF2B5EF4-FFF2-40B4-BE49-F238E27FC236}">
                    <a16:creationId xmlns:a16="http://schemas.microsoft.com/office/drawing/2014/main" id="{00A7A01E-CFEC-4245-843A-9FC4478561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7795" y="3710816"/>
                <a:ext cx="3267076" cy="550862"/>
                <a:chOff x="521" y="1857"/>
                <a:chExt cx="2058" cy="347"/>
              </a:xfrm>
            </p:grpSpPr>
            <p:sp>
              <p:nvSpPr>
                <p:cNvPr id="26" name="Rectangle 10">
                  <a:extLst>
                    <a:ext uri="{FF2B5EF4-FFF2-40B4-BE49-F238E27FC236}">
                      <a16:creationId xmlns:a16="http://schemas.microsoft.com/office/drawing/2014/main" id="{7DF38783-9083-8046-8914-FBECAA795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2039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" name="Text Box 11">
                  <a:extLst>
                    <a:ext uri="{FF2B5EF4-FFF2-40B4-BE49-F238E27FC236}">
                      <a16:creationId xmlns:a16="http://schemas.microsoft.com/office/drawing/2014/main" id="{63B92D8A-F6CA-5644-9CF4-76063E9516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9" y="1904"/>
                  <a:ext cx="89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ja-JP" dirty="0">
                      <a:latin typeface="+mn-lt"/>
                      <a:cs typeface="Arial" charset="0"/>
                    </a:rPr>
                    <a:t>“</a:t>
                  </a:r>
                  <a:r>
                    <a:rPr lang="en-US" dirty="0">
                      <a:latin typeface="+mn-lt"/>
                      <a:cs typeface="Arial" charset="0"/>
                    </a:rPr>
                    <a:t>I am Alice</a:t>
                  </a:r>
                  <a:r>
                    <a:rPr lang="en-US" altLang="ja-JP" dirty="0">
                      <a:latin typeface="+mn-lt"/>
                      <a:cs typeface="Arial" charset="0"/>
                    </a:rPr>
                    <a:t>”</a:t>
                  </a:r>
                  <a:endParaRPr lang="en-US" dirty="0"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8" name="Text Box 12">
                  <a:extLst>
                    <a:ext uri="{FF2B5EF4-FFF2-40B4-BE49-F238E27FC236}">
                      <a16:creationId xmlns:a16="http://schemas.microsoft.com/office/drawing/2014/main" id="{C2BA01DF-25FE-124B-84A2-3AB15FD8D4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29" name="Line 13">
                  <a:extLst>
                    <a:ext uri="{FF2B5EF4-FFF2-40B4-BE49-F238E27FC236}">
                      <a16:creationId xmlns:a16="http://schemas.microsoft.com/office/drawing/2014/main" id="{9E21A2CB-844F-C243-B491-09B4FE309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5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0" name="Line 13">
                  <a:extLst>
                    <a:ext uri="{FF2B5EF4-FFF2-40B4-BE49-F238E27FC236}">
                      <a16:creationId xmlns:a16="http://schemas.microsoft.com/office/drawing/2014/main" id="{DAA829E2-B4F2-DB41-9427-09BB45010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1" name="Text Box 12">
                  <a:extLst>
                    <a:ext uri="{FF2B5EF4-FFF2-40B4-BE49-F238E27FC236}">
                      <a16:creationId xmlns:a16="http://schemas.microsoft.com/office/drawing/2014/main" id="{268B165E-0156-1A4D-8EFB-5B346BB002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9" y="1863"/>
                  <a:ext cx="680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password</a:t>
                  </a:r>
                </a:p>
              </p:txBody>
            </p:sp>
          </p:grp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C4853043-B781-1B4E-8A97-C5C850DB3857}"/>
                  </a:ext>
                </a:extLst>
              </p:cNvPr>
              <p:cNvCxnSpPr/>
              <p:nvPr/>
            </p:nvCxnSpPr>
            <p:spPr>
              <a:xfrm>
                <a:off x="5274365" y="3617843"/>
                <a:ext cx="4903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 Box 5">
              <a:extLst>
                <a:ext uri="{FF2B5EF4-FFF2-40B4-BE49-F238E27FC236}">
                  <a16:creationId xmlns:a16="http://schemas.microsoft.com/office/drawing/2014/main" id="{35FB98DB-97C9-CB48-BABC-5F388AC9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7327" y="3817386"/>
              <a:ext cx="280564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i="1" dirty="0">
                  <a:latin typeface="+mn-lt"/>
                  <a:cs typeface="Arial" charset="0"/>
                </a:rPr>
                <a:t>failure scenario??</a:t>
              </a:r>
            </a:p>
          </p:txBody>
        </p:sp>
        <p:grpSp>
          <p:nvGrpSpPr>
            <p:cNvPr id="56" name="Group 9">
              <a:extLst>
                <a:ext uri="{FF2B5EF4-FFF2-40B4-BE49-F238E27FC236}">
                  <a16:creationId xmlns:a16="http://schemas.microsoft.com/office/drawing/2014/main" id="{BF58E489-CED0-9142-9100-8F7A6F2DA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7866" y="4572000"/>
              <a:ext cx="1549400" cy="550862"/>
              <a:chOff x="521" y="1857"/>
              <a:chExt cx="976" cy="347"/>
            </a:xfrm>
          </p:grpSpPr>
          <p:sp>
            <p:nvSpPr>
              <p:cNvPr id="57" name="Rectangle 10">
                <a:extLst>
                  <a:ext uri="{FF2B5EF4-FFF2-40B4-BE49-F238E27FC236}">
                    <a16:creationId xmlns:a16="http://schemas.microsoft.com/office/drawing/2014/main" id="{E97F38F7-FEA3-4743-B826-058C065A2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8" name="Text Box 12">
                <a:extLst>
                  <a:ext uri="{FF2B5EF4-FFF2-40B4-BE49-F238E27FC236}">
                    <a16:creationId xmlns:a16="http://schemas.microsoft.com/office/drawing/2014/main" id="{CBD74911-522D-364C-B1B7-305DF42E7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9" name="Line 13">
                <a:extLst>
                  <a:ext uri="{FF2B5EF4-FFF2-40B4-BE49-F238E27FC236}">
                    <a16:creationId xmlns:a16="http://schemas.microsoft.com/office/drawing/2014/main" id="{509AFA78-6EE3-7B4D-8E2A-27FBECE020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2">
                <a:extLst>
                  <a:ext uri="{FF2B5EF4-FFF2-40B4-BE49-F238E27FC236}">
                    <a16:creationId xmlns:a16="http://schemas.microsoft.com/office/drawing/2014/main" id="{BBF41554-058A-6F47-995D-B2F8203C86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6C1D0D4-E3ED-F742-A8D6-2A2EE7935F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8262" y="5168348"/>
              <a:ext cx="8878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898DDA-E733-5F8E-1999-FE782F088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6642" y="516834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0123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grpSp>
        <p:nvGrpSpPr>
          <p:cNvPr id="10" name="Group 9" descr="… but Trudy can record this message (as an eavesdropper)">
            <a:extLst>
              <a:ext uri="{FF2B5EF4-FFF2-40B4-BE49-F238E27FC236}">
                <a16:creationId xmlns:a16="http://schemas.microsoft.com/office/drawing/2014/main" id="{EB4FFF35-AF65-6206-57E6-61EE95882AA9}"/>
              </a:ext>
            </a:extLst>
          </p:cNvPr>
          <p:cNvGrpSpPr/>
          <p:nvPr/>
        </p:nvGrpSpPr>
        <p:grpSpPr>
          <a:xfrm>
            <a:off x="1257231" y="3617843"/>
            <a:ext cx="6396245" cy="3162464"/>
            <a:chOff x="1257231" y="3617843"/>
            <a:chExt cx="6396245" cy="31624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3E0FD7-4BE7-BEA8-4C94-4879501BBFAD}"/>
                </a:ext>
              </a:extLst>
            </p:cNvPr>
            <p:cNvGrpSpPr/>
            <p:nvPr/>
          </p:nvGrpSpPr>
          <p:grpSpPr>
            <a:xfrm>
              <a:off x="2287795" y="3617843"/>
              <a:ext cx="3476900" cy="643835"/>
              <a:chOff x="2287795" y="3617843"/>
              <a:chExt cx="3476900" cy="643835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7958" y="3710816"/>
                <a:ext cx="3236913" cy="5286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1996" y="3785428"/>
                <a:ext cx="1412875" cy="4000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795" y="3720341"/>
                <a:ext cx="847725" cy="5413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9146" y="3710816"/>
                <a:ext cx="0" cy="5286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5045" y="3710816"/>
                <a:ext cx="0" cy="5286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1870" y="3720341"/>
                <a:ext cx="1079500" cy="5413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C4853043-B781-1B4E-8A97-C5C850DB3857}"/>
                  </a:ext>
                </a:extLst>
              </p:cNvPr>
              <p:cNvCxnSpPr/>
              <p:nvPr/>
            </p:nvCxnSpPr>
            <p:spPr>
              <a:xfrm>
                <a:off x="5274365" y="3617843"/>
                <a:ext cx="4903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69D0639-FEFB-4CBF-CCC6-C4D5CFC85A46}"/>
                </a:ext>
              </a:extLst>
            </p:cNvPr>
            <p:cNvGrpSpPr/>
            <p:nvPr/>
          </p:nvGrpSpPr>
          <p:grpSpPr>
            <a:xfrm>
              <a:off x="1257231" y="3741738"/>
              <a:ext cx="6396245" cy="3038569"/>
              <a:chOff x="1257231" y="3741738"/>
              <a:chExt cx="6396245" cy="3038569"/>
            </a:xfrm>
          </p:grpSpPr>
          <p:pic>
            <p:nvPicPr>
              <p:cNvPr id="9" name="Picture 6" descr="Alice">
                <a:extLst>
                  <a:ext uri="{FF2B5EF4-FFF2-40B4-BE49-F238E27FC236}">
                    <a16:creationId xmlns:a16="http://schemas.microsoft.com/office/drawing/2014/main" id="{CF980203-3669-914F-AFB5-70055BBF76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7231" y="3906631"/>
                <a:ext cx="698500" cy="8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8" descr="Bob">
                <a:extLst>
                  <a:ext uri="{FF2B5EF4-FFF2-40B4-BE49-F238E27FC236}">
                    <a16:creationId xmlns:a16="http://schemas.microsoft.com/office/drawing/2014/main" id="{EC7B8913-54DB-3C4E-BA96-DEFA0849F8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40676" y="3741738"/>
                <a:ext cx="812800" cy="830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Line 8">
                <a:extLst>
                  <a:ext uri="{FF2B5EF4-FFF2-40B4-BE49-F238E27FC236}">
                    <a16:creationId xmlns:a16="http://schemas.microsoft.com/office/drawing/2014/main" id="{F2F81167-112C-594B-9733-07B61B934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7119" y="4434716"/>
                <a:ext cx="509629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2" name="Line 22">
                <a:extLst>
                  <a:ext uri="{FF2B5EF4-FFF2-40B4-BE49-F238E27FC236}">
                    <a16:creationId xmlns:a16="http://schemas.microsoft.com/office/drawing/2014/main" id="{2EA47872-83E5-3543-89FE-E2FD72C30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300331">
                <a:off x="2056157" y="4438167"/>
                <a:ext cx="623888" cy="12922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A5C1B34-0E55-1F7F-62D5-7F631A709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3420" y="5702910"/>
                <a:ext cx="1519772" cy="1077397"/>
              </a:xfrm>
              <a:prstGeom prst="rect">
                <a:avLst/>
              </a:prstGeom>
            </p:spPr>
          </p:pic>
        </p:grp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3046197" y="6038700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8980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A472-CD79-72C1-D1AA-25505EFB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8A5E-A8F9-742F-80B3-2E354802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660BD9D-77B4-57F2-44F3-F13760F7078D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5AD59440-AEFD-D07C-5ACF-FA517F0F4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54" name="Text Box 4">
            <a:extLst>
              <a:ext uri="{FF2B5EF4-FFF2-40B4-BE49-F238E27FC236}">
                <a16:creationId xmlns:a16="http://schemas.microsoft.com/office/drawing/2014/main" id="{C6C9039D-FC5E-C78B-71C7-DACF6D42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plays it back to Bob </a:t>
            </a:r>
          </a:p>
        </p:txBody>
      </p:sp>
      <p:grpSp>
        <p:nvGrpSpPr>
          <p:cNvPr id="4" name="Group 3" descr="… and then send it to Bob spoofing Alice’s IP address. Bob can’t tell the difference between Alice sending it. ">
            <a:extLst>
              <a:ext uri="{FF2B5EF4-FFF2-40B4-BE49-F238E27FC236}">
                <a16:creationId xmlns:a16="http://schemas.microsoft.com/office/drawing/2014/main" id="{1B07D582-4438-38A3-E723-11BD8902A592}"/>
              </a:ext>
            </a:extLst>
          </p:cNvPr>
          <p:cNvGrpSpPr/>
          <p:nvPr/>
        </p:nvGrpSpPr>
        <p:grpSpPr>
          <a:xfrm>
            <a:off x="1257231" y="3741738"/>
            <a:ext cx="6396245" cy="3038569"/>
            <a:chOff x="1257231" y="3741738"/>
            <a:chExt cx="6396245" cy="3038569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2768D2CC-EC54-E020-FB3A-5F2A99377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20E5A0AB-670D-F607-0F66-542CFE99D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676" y="3741738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26953D-40B5-8843-EA0A-756DCFDB529E}"/>
                </a:ext>
              </a:extLst>
            </p:cNvPr>
            <p:cNvGrpSpPr/>
            <p:nvPr/>
          </p:nvGrpSpPr>
          <p:grpSpPr>
            <a:xfrm>
              <a:off x="5565917" y="5221357"/>
              <a:ext cx="1657209" cy="980453"/>
              <a:chOff x="5565917" y="5221357"/>
              <a:chExt cx="1657209" cy="980453"/>
            </a:xfrm>
          </p:grpSpPr>
          <p:grpSp>
            <p:nvGrpSpPr>
              <p:cNvPr id="32" name="Group 9">
                <a:extLst>
                  <a:ext uri="{FF2B5EF4-FFF2-40B4-BE49-F238E27FC236}">
                    <a16:creationId xmlns:a16="http://schemas.microsoft.com/office/drawing/2014/main" id="{46BEF0C2-55E4-3538-F7B7-FFCCDF1D68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0326040">
                <a:off x="5673726" y="5221357"/>
                <a:ext cx="1549400" cy="550862"/>
                <a:chOff x="521" y="1857"/>
                <a:chExt cx="976" cy="347"/>
              </a:xfrm>
            </p:grpSpPr>
            <p:sp>
              <p:nvSpPr>
                <p:cNvPr id="33" name="Rectangle 10">
                  <a:extLst>
                    <a:ext uri="{FF2B5EF4-FFF2-40B4-BE49-F238E27FC236}">
                      <a16:creationId xmlns:a16="http://schemas.microsoft.com/office/drawing/2014/main" id="{7D2DCF7D-EE91-3314-341E-F3618801F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957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" name="Text Box 12">
                  <a:extLst>
                    <a:ext uri="{FF2B5EF4-FFF2-40B4-BE49-F238E27FC236}">
                      <a16:creationId xmlns:a16="http://schemas.microsoft.com/office/drawing/2014/main" id="{6C2BC4FA-9740-69E7-6186-A34203612C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37" name="Line 13">
                  <a:extLst>
                    <a:ext uri="{FF2B5EF4-FFF2-40B4-BE49-F238E27FC236}">
                      <a16:creationId xmlns:a16="http://schemas.microsoft.com/office/drawing/2014/main" id="{E22130DD-6A3C-E5F0-7FFF-B9043E64EB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8" name="Text Box 12">
                  <a:extLst>
                    <a:ext uri="{FF2B5EF4-FFF2-40B4-BE49-F238E27FC236}">
                      <a16:creationId xmlns:a16="http://schemas.microsoft.com/office/drawing/2014/main" id="{5971FBC6-236C-1BD9-2B84-75CFB02075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29" y="1929"/>
                  <a:ext cx="288" cy="2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OK</a:t>
                  </a:r>
                </a:p>
              </p:txBody>
            </p:sp>
          </p:grp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16B54A0-55D9-2C3F-583E-11C2CB376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5917" y="5976730"/>
                <a:ext cx="543335" cy="22508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Line 8">
              <a:extLst>
                <a:ext uri="{FF2B5EF4-FFF2-40B4-BE49-F238E27FC236}">
                  <a16:creationId xmlns:a16="http://schemas.microsoft.com/office/drawing/2014/main" id="{F55262C0-0FE0-4B42-7F66-5AFEBD75E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4701" y="4572000"/>
              <a:ext cx="3814970" cy="12987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53EEC04-D797-7B5E-6DFC-7AFC532DDA18}"/>
                </a:ext>
              </a:extLst>
            </p:cNvPr>
            <p:cNvGrpSpPr/>
            <p:nvPr/>
          </p:nvGrpSpPr>
          <p:grpSpPr>
            <a:xfrm rot="20405712">
              <a:off x="3467313" y="4951901"/>
              <a:ext cx="3267076" cy="641277"/>
              <a:chOff x="2287795" y="3620401"/>
              <a:chExt cx="3267076" cy="641277"/>
            </a:xfrm>
          </p:grpSpPr>
          <p:grpSp>
            <p:nvGrpSpPr>
              <p:cNvPr id="45" name="Group 9">
                <a:extLst>
                  <a:ext uri="{FF2B5EF4-FFF2-40B4-BE49-F238E27FC236}">
                    <a16:creationId xmlns:a16="http://schemas.microsoft.com/office/drawing/2014/main" id="{C609B518-4D77-9AAB-7449-ADE680258C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7795" y="3710816"/>
                <a:ext cx="3267076" cy="550862"/>
                <a:chOff x="521" y="1857"/>
                <a:chExt cx="2058" cy="347"/>
              </a:xfrm>
            </p:grpSpPr>
            <p:sp>
              <p:nvSpPr>
                <p:cNvPr id="47" name="Rectangle 10">
                  <a:extLst>
                    <a:ext uri="{FF2B5EF4-FFF2-40B4-BE49-F238E27FC236}">
                      <a16:creationId xmlns:a16="http://schemas.microsoft.com/office/drawing/2014/main" id="{553C126C-3F3A-61A2-5067-8958EA5EC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2039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8" name="Text Box 11">
                  <a:extLst>
                    <a:ext uri="{FF2B5EF4-FFF2-40B4-BE49-F238E27FC236}">
                      <a16:creationId xmlns:a16="http://schemas.microsoft.com/office/drawing/2014/main" id="{3C4CA3A2-0C0B-5969-3C52-170F62ABCA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9" y="1904"/>
                  <a:ext cx="89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ja-JP" dirty="0">
                      <a:latin typeface="+mn-lt"/>
                      <a:cs typeface="Arial" charset="0"/>
                    </a:rPr>
                    <a:t>“</a:t>
                  </a:r>
                  <a:r>
                    <a:rPr lang="en-US" dirty="0">
                      <a:latin typeface="+mn-lt"/>
                      <a:cs typeface="Arial" charset="0"/>
                    </a:rPr>
                    <a:t>I am Alice</a:t>
                  </a:r>
                  <a:r>
                    <a:rPr lang="en-US" altLang="ja-JP" dirty="0">
                      <a:latin typeface="+mn-lt"/>
                      <a:cs typeface="Arial" charset="0"/>
                    </a:rPr>
                    <a:t>”</a:t>
                  </a:r>
                  <a:endParaRPr lang="en-US" dirty="0"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49" name="Text Box 12">
                  <a:extLst>
                    <a:ext uri="{FF2B5EF4-FFF2-40B4-BE49-F238E27FC236}">
                      <a16:creationId xmlns:a16="http://schemas.microsoft.com/office/drawing/2014/main" id="{EFF11622-3447-A4F3-FD2D-E69CD099A6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50" name="Line 13">
                  <a:extLst>
                    <a:ext uri="{FF2B5EF4-FFF2-40B4-BE49-F238E27FC236}">
                      <a16:creationId xmlns:a16="http://schemas.microsoft.com/office/drawing/2014/main" id="{19020269-2C22-171F-15B4-99A9E784F6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5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" name="Line 13">
                  <a:extLst>
                    <a:ext uri="{FF2B5EF4-FFF2-40B4-BE49-F238E27FC236}">
                      <a16:creationId xmlns:a16="http://schemas.microsoft.com/office/drawing/2014/main" id="{949E4ABB-15D7-7A5B-3E69-EE4C4F832C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3" name="Text Box 12">
                  <a:extLst>
                    <a:ext uri="{FF2B5EF4-FFF2-40B4-BE49-F238E27FC236}">
                      <a16:creationId xmlns:a16="http://schemas.microsoft.com/office/drawing/2014/main" id="{3BCB917B-C3E1-434D-0265-BCA20E3CBC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9" y="1863"/>
                  <a:ext cx="680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password</a:t>
                  </a:r>
                </a:p>
              </p:txBody>
            </p:sp>
          </p:grp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A654D79-A2AD-3856-979E-FDC85DCD6004}"/>
                  </a:ext>
                </a:extLst>
              </p:cNvPr>
              <p:cNvCxnSpPr/>
              <p:nvPr/>
            </p:nvCxnSpPr>
            <p:spPr>
              <a:xfrm>
                <a:off x="4230470" y="3620401"/>
                <a:ext cx="4903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A93BF1-FA3F-80F7-9061-F011542D7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3420" y="5702910"/>
              <a:ext cx="1519772" cy="1077397"/>
            </a:xfrm>
            <a:prstGeom prst="rect">
              <a:avLst/>
            </a:prstGeom>
          </p:spPr>
        </p:pic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8C4989C9-0000-A3DD-ED8A-57F34AE213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3046197" y="6038700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528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" name="Group 4" descr="Can we fix this by having Alice encrypt her password?">
            <a:extLst>
              <a:ext uri="{FF2B5EF4-FFF2-40B4-BE49-F238E27FC236}">
                <a16:creationId xmlns:a16="http://schemas.microsoft.com/office/drawing/2014/main" id="{EF0511D9-A005-50FF-C4C1-6A973EF47460}"/>
              </a:ext>
            </a:extLst>
          </p:cNvPr>
          <p:cNvGrpSpPr/>
          <p:nvPr/>
        </p:nvGrpSpPr>
        <p:grpSpPr>
          <a:xfrm>
            <a:off x="1257231" y="3617843"/>
            <a:ext cx="6396245" cy="2560191"/>
            <a:chOff x="1257231" y="3617843"/>
            <a:chExt cx="6396245" cy="2560191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CF980203-3669-914F-AFB5-70055BBF7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EC7B8913-54DB-3C4E-BA96-DEFA0849F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676" y="3741738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F2F81167-112C-594B-9733-07B61B934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119" y="4434716"/>
              <a:ext cx="50962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D297D8-FA6B-994F-AA4B-BD4F49ED5D88}"/>
                </a:ext>
              </a:extLst>
            </p:cNvPr>
            <p:cNvGrpSpPr/>
            <p:nvPr/>
          </p:nvGrpSpPr>
          <p:grpSpPr>
            <a:xfrm>
              <a:off x="2287795" y="3617843"/>
              <a:ext cx="3476900" cy="643835"/>
              <a:chOff x="2287795" y="3617843"/>
              <a:chExt cx="3476900" cy="643835"/>
            </a:xfrm>
          </p:grpSpPr>
          <p:grpSp>
            <p:nvGrpSpPr>
              <p:cNvPr id="25" name="Group 9">
                <a:extLst>
                  <a:ext uri="{FF2B5EF4-FFF2-40B4-BE49-F238E27FC236}">
                    <a16:creationId xmlns:a16="http://schemas.microsoft.com/office/drawing/2014/main" id="{00A7A01E-CFEC-4245-843A-9FC4478561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7795" y="3710816"/>
                <a:ext cx="3267076" cy="550862"/>
                <a:chOff x="521" y="1857"/>
                <a:chExt cx="2058" cy="347"/>
              </a:xfrm>
            </p:grpSpPr>
            <p:sp>
              <p:nvSpPr>
                <p:cNvPr id="26" name="Rectangle 10">
                  <a:extLst>
                    <a:ext uri="{FF2B5EF4-FFF2-40B4-BE49-F238E27FC236}">
                      <a16:creationId xmlns:a16="http://schemas.microsoft.com/office/drawing/2014/main" id="{7DF38783-9083-8046-8914-FBECAA795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2039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" name="Text Box 11">
                  <a:extLst>
                    <a:ext uri="{FF2B5EF4-FFF2-40B4-BE49-F238E27FC236}">
                      <a16:creationId xmlns:a16="http://schemas.microsoft.com/office/drawing/2014/main" id="{63B92D8A-F6CA-5644-9CF4-76063E9516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9" y="1904"/>
                  <a:ext cx="89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ja-JP" dirty="0">
                      <a:latin typeface="+mn-lt"/>
                      <a:cs typeface="Arial" charset="0"/>
                    </a:rPr>
                    <a:t>“</a:t>
                  </a:r>
                  <a:r>
                    <a:rPr lang="en-US" dirty="0">
                      <a:latin typeface="+mn-lt"/>
                      <a:cs typeface="Arial" charset="0"/>
                    </a:rPr>
                    <a:t>I am Alice</a:t>
                  </a:r>
                  <a:r>
                    <a:rPr lang="en-US" altLang="ja-JP" dirty="0">
                      <a:latin typeface="+mn-lt"/>
                      <a:cs typeface="Arial" charset="0"/>
                    </a:rPr>
                    <a:t>”</a:t>
                  </a:r>
                  <a:endParaRPr lang="en-US" dirty="0"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8" name="Text Box 12">
                  <a:extLst>
                    <a:ext uri="{FF2B5EF4-FFF2-40B4-BE49-F238E27FC236}">
                      <a16:creationId xmlns:a16="http://schemas.microsoft.com/office/drawing/2014/main" id="{C2BA01DF-25FE-124B-84A2-3AB15FD8D4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29" name="Line 13">
                  <a:extLst>
                    <a:ext uri="{FF2B5EF4-FFF2-40B4-BE49-F238E27FC236}">
                      <a16:creationId xmlns:a16="http://schemas.microsoft.com/office/drawing/2014/main" id="{9E21A2CB-844F-C243-B491-09B4FE309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5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0" name="Line 13">
                  <a:extLst>
                    <a:ext uri="{FF2B5EF4-FFF2-40B4-BE49-F238E27FC236}">
                      <a16:creationId xmlns:a16="http://schemas.microsoft.com/office/drawing/2014/main" id="{DAA829E2-B4F2-DB41-9427-09BB45010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1" name="Text Box 12">
                  <a:extLst>
                    <a:ext uri="{FF2B5EF4-FFF2-40B4-BE49-F238E27FC236}">
                      <a16:creationId xmlns:a16="http://schemas.microsoft.com/office/drawing/2014/main" id="{268B165E-0156-1A4D-8EFB-5B346BB002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1" y="1863"/>
                  <a:ext cx="717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encrypted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password</a:t>
                  </a:r>
                </a:p>
              </p:txBody>
            </p:sp>
          </p:grp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C4853043-B781-1B4E-8A97-C5C850DB3857}"/>
                  </a:ext>
                </a:extLst>
              </p:cNvPr>
              <p:cNvCxnSpPr/>
              <p:nvPr/>
            </p:nvCxnSpPr>
            <p:spPr>
              <a:xfrm>
                <a:off x="5274365" y="3617843"/>
                <a:ext cx="4903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9">
              <a:extLst>
                <a:ext uri="{FF2B5EF4-FFF2-40B4-BE49-F238E27FC236}">
                  <a16:creationId xmlns:a16="http://schemas.microsoft.com/office/drawing/2014/main" id="{BF58E489-CED0-9142-9100-8F7A6F2DA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7866" y="4572000"/>
              <a:ext cx="1549400" cy="550862"/>
              <a:chOff x="521" y="1857"/>
              <a:chExt cx="976" cy="347"/>
            </a:xfrm>
          </p:grpSpPr>
          <p:sp>
            <p:nvSpPr>
              <p:cNvPr id="57" name="Rectangle 10">
                <a:extLst>
                  <a:ext uri="{FF2B5EF4-FFF2-40B4-BE49-F238E27FC236}">
                    <a16:creationId xmlns:a16="http://schemas.microsoft.com/office/drawing/2014/main" id="{E97F38F7-FEA3-4743-B826-058C065A2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58" name="Text Box 12">
                <a:extLst>
                  <a:ext uri="{FF2B5EF4-FFF2-40B4-BE49-F238E27FC236}">
                    <a16:creationId xmlns:a16="http://schemas.microsoft.com/office/drawing/2014/main" id="{CBD74911-522D-364C-B1B7-305DF42E7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9" name="Line 13">
                <a:extLst>
                  <a:ext uri="{FF2B5EF4-FFF2-40B4-BE49-F238E27FC236}">
                    <a16:creationId xmlns:a16="http://schemas.microsoft.com/office/drawing/2014/main" id="{509AFA78-6EE3-7B4D-8E2A-27FBECE020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2">
                <a:extLst>
                  <a:ext uri="{FF2B5EF4-FFF2-40B4-BE49-F238E27FC236}">
                    <a16:creationId xmlns:a16="http://schemas.microsoft.com/office/drawing/2014/main" id="{BBF41554-058A-6F47-995D-B2F8203C86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6C1D0D4-E3ED-F742-A8D6-2A2EE7935F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8262" y="5168348"/>
              <a:ext cx="88789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558758-C7C6-517D-4855-5A7C00649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22224" y="5100637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1985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pic>
        <p:nvPicPr>
          <p:cNvPr id="9" name="Picture 6" descr="Alice">
            <a:extLst>
              <a:ext uri="{FF2B5EF4-FFF2-40B4-BE49-F238E27FC236}">
                <a16:creationId xmlns:a16="http://schemas.microsoft.com/office/drawing/2014/main" id="{CF980203-3669-914F-AFB5-70055BBF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Bob">
            <a:extLst>
              <a:ext uri="{FF2B5EF4-FFF2-40B4-BE49-F238E27FC236}">
                <a16:creationId xmlns:a16="http://schemas.microsoft.com/office/drawing/2014/main" id="{EC7B8913-54DB-3C4E-BA96-DEFA0849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B3BA3-C18C-7F1F-1BDE-C122D0C81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112" y="5154818"/>
            <a:ext cx="1519772" cy="1077397"/>
          </a:xfrm>
          <a:prstGeom prst="rect">
            <a:avLst/>
          </a:prstGeom>
        </p:spPr>
      </p:pic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801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51CA-B2D9-DE67-849A-ABAA43B6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43B1-E4ED-0B06-ACFB-E96ADA6D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4F3BC3-43C5-DA17-03ED-F31CACE49646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6F540068-C893-C892-479B-25A7A73E9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54" name="Text Box 4">
            <a:extLst>
              <a:ext uri="{FF2B5EF4-FFF2-40B4-BE49-F238E27FC236}">
                <a16:creationId xmlns:a16="http://schemas.microsoft.com/office/drawing/2014/main" id="{778C8DA6-BBFA-1984-697A-44FC9ECA4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 still works: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 plays it back to Bob </a:t>
            </a:r>
          </a:p>
        </p:txBody>
      </p:sp>
      <p:grpSp>
        <p:nvGrpSpPr>
          <p:cNvPr id="4" name="Group 3" descr="This stil has a reply attack.">
            <a:extLst>
              <a:ext uri="{FF2B5EF4-FFF2-40B4-BE49-F238E27FC236}">
                <a16:creationId xmlns:a16="http://schemas.microsoft.com/office/drawing/2014/main" id="{1E34D56C-9BD9-94BA-F977-F81121008175}"/>
              </a:ext>
            </a:extLst>
          </p:cNvPr>
          <p:cNvGrpSpPr/>
          <p:nvPr/>
        </p:nvGrpSpPr>
        <p:grpSpPr>
          <a:xfrm>
            <a:off x="1257231" y="3741738"/>
            <a:ext cx="6396245" cy="2799406"/>
            <a:chOff x="1257231" y="3741738"/>
            <a:chExt cx="6396245" cy="2799406"/>
          </a:xfrm>
        </p:grpSpPr>
        <p:pic>
          <p:nvPicPr>
            <p:cNvPr id="9" name="Picture 6" descr="Alice">
              <a:extLst>
                <a:ext uri="{FF2B5EF4-FFF2-40B4-BE49-F238E27FC236}">
                  <a16:creationId xmlns:a16="http://schemas.microsoft.com/office/drawing/2014/main" id="{3FAD1E2F-2D17-E20B-F2E2-3827545C0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231" y="3906631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" descr="Bob">
              <a:extLst>
                <a:ext uri="{FF2B5EF4-FFF2-40B4-BE49-F238E27FC236}">
                  <a16:creationId xmlns:a16="http://schemas.microsoft.com/office/drawing/2014/main" id="{45254EC3-C71A-04DA-D38C-3612B48A0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676" y="3741738"/>
              <a:ext cx="8128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153C54-BE82-C75A-E9F6-94BA3FA491E6}"/>
                </a:ext>
              </a:extLst>
            </p:cNvPr>
            <p:cNvGrpSpPr/>
            <p:nvPr/>
          </p:nvGrpSpPr>
          <p:grpSpPr>
            <a:xfrm>
              <a:off x="5565917" y="5221357"/>
              <a:ext cx="1657209" cy="980453"/>
              <a:chOff x="5565917" y="5221357"/>
              <a:chExt cx="1657209" cy="980453"/>
            </a:xfrm>
          </p:grpSpPr>
          <p:grpSp>
            <p:nvGrpSpPr>
              <p:cNvPr id="32" name="Group 9">
                <a:extLst>
                  <a:ext uri="{FF2B5EF4-FFF2-40B4-BE49-F238E27FC236}">
                    <a16:creationId xmlns:a16="http://schemas.microsoft.com/office/drawing/2014/main" id="{D04E806E-BD7C-1931-E7D2-3046F141D5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0326040">
                <a:off x="5673726" y="5221357"/>
                <a:ext cx="1549400" cy="550862"/>
                <a:chOff x="521" y="1857"/>
                <a:chExt cx="976" cy="347"/>
              </a:xfrm>
            </p:grpSpPr>
            <p:sp>
              <p:nvSpPr>
                <p:cNvPr id="33" name="Rectangle 10">
                  <a:extLst>
                    <a:ext uri="{FF2B5EF4-FFF2-40B4-BE49-F238E27FC236}">
                      <a16:creationId xmlns:a16="http://schemas.microsoft.com/office/drawing/2014/main" id="{6C984CD3-682B-262F-373F-968CB9D8D4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957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" name="Text Box 12">
                  <a:extLst>
                    <a:ext uri="{FF2B5EF4-FFF2-40B4-BE49-F238E27FC236}">
                      <a16:creationId xmlns:a16="http://schemas.microsoft.com/office/drawing/2014/main" id="{8DE428A9-D019-0663-EFBD-B09550927F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37" name="Line 13">
                  <a:extLst>
                    <a:ext uri="{FF2B5EF4-FFF2-40B4-BE49-F238E27FC236}">
                      <a16:creationId xmlns:a16="http://schemas.microsoft.com/office/drawing/2014/main" id="{6CAB593D-A0F3-BFAD-63BC-2B2F97BA0D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38" name="Text Box 12">
                  <a:extLst>
                    <a:ext uri="{FF2B5EF4-FFF2-40B4-BE49-F238E27FC236}">
                      <a16:creationId xmlns:a16="http://schemas.microsoft.com/office/drawing/2014/main" id="{F059FD94-569B-38C9-CEAB-5E419132C8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29" y="1929"/>
                  <a:ext cx="288" cy="2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OK</a:t>
                  </a:r>
                </a:p>
              </p:txBody>
            </p:sp>
          </p:grp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FD39CEB-16F3-8DDB-87EE-CC6D1DA0DB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5917" y="5976730"/>
                <a:ext cx="543335" cy="22508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Line 8">
              <a:extLst>
                <a:ext uri="{FF2B5EF4-FFF2-40B4-BE49-F238E27FC236}">
                  <a16:creationId xmlns:a16="http://schemas.microsoft.com/office/drawing/2014/main" id="{37BBBFAC-034E-5E62-16D3-349CBC9B6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4701" y="4572000"/>
              <a:ext cx="3814970" cy="12987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FC4B52C-BEEC-C560-B7EC-DCEE7C274A39}"/>
                </a:ext>
              </a:extLst>
            </p:cNvPr>
            <p:cNvGrpSpPr/>
            <p:nvPr/>
          </p:nvGrpSpPr>
          <p:grpSpPr>
            <a:xfrm rot="20405712">
              <a:off x="3467313" y="4951901"/>
              <a:ext cx="3267076" cy="641277"/>
              <a:chOff x="2287795" y="3620401"/>
              <a:chExt cx="3267076" cy="641277"/>
            </a:xfrm>
          </p:grpSpPr>
          <p:grpSp>
            <p:nvGrpSpPr>
              <p:cNvPr id="45" name="Group 9">
                <a:extLst>
                  <a:ext uri="{FF2B5EF4-FFF2-40B4-BE49-F238E27FC236}">
                    <a16:creationId xmlns:a16="http://schemas.microsoft.com/office/drawing/2014/main" id="{67F50D45-D099-3800-584D-1857DF25FD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7795" y="3710816"/>
                <a:ext cx="3267076" cy="550862"/>
                <a:chOff x="521" y="1857"/>
                <a:chExt cx="2058" cy="347"/>
              </a:xfrm>
            </p:grpSpPr>
            <p:sp>
              <p:nvSpPr>
                <p:cNvPr id="47" name="Rectangle 10">
                  <a:extLst>
                    <a:ext uri="{FF2B5EF4-FFF2-40B4-BE49-F238E27FC236}">
                      <a16:creationId xmlns:a16="http://schemas.microsoft.com/office/drawing/2014/main" id="{201018EB-F7F2-D7D5-80C1-B1A3BD5E96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" y="1857"/>
                  <a:ext cx="2039" cy="3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8" name="Text Box 11">
                  <a:extLst>
                    <a:ext uri="{FF2B5EF4-FFF2-40B4-BE49-F238E27FC236}">
                      <a16:creationId xmlns:a16="http://schemas.microsoft.com/office/drawing/2014/main" id="{85EA2C82-9AE7-C4C7-0D0D-65168CF9EA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9" y="1904"/>
                  <a:ext cx="89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ja-JP" dirty="0">
                      <a:latin typeface="+mn-lt"/>
                      <a:cs typeface="Arial" charset="0"/>
                    </a:rPr>
                    <a:t>“</a:t>
                  </a:r>
                  <a:r>
                    <a:rPr lang="en-US" dirty="0">
                      <a:latin typeface="+mn-lt"/>
                      <a:cs typeface="Arial" charset="0"/>
                    </a:rPr>
                    <a:t>I am Alice</a:t>
                  </a:r>
                  <a:r>
                    <a:rPr lang="en-US" altLang="ja-JP" dirty="0">
                      <a:latin typeface="+mn-lt"/>
                      <a:cs typeface="Arial" charset="0"/>
                    </a:rPr>
                    <a:t>”</a:t>
                  </a:r>
                  <a:endParaRPr lang="en-US" dirty="0"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49" name="Text Box 12">
                  <a:extLst>
                    <a:ext uri="{FF2B5EF4-FFF2-40B4-BE49-F238E27FC236}">
                      <a16:creationId xmlns:a16="http://schemas.microsoft.com/office/drawing/2014/main" id="{A465F413-3133-5233-55CE-B18923D034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1" y="1863"/>
                  <a:ext cx="534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Alice’s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IP addr</a:t>
                  </a:r>
                </a:p>
              </p:txBody>
            </p:sp>
            <p:sp>
              <p:nvSpPr>
                <p:cNvPr id="50" name="Line 13">
                  <a:extLst>
                    <a:ext uri="{FF2B5EF4-FFF2-40B4-BE49-F238E27FC236}">
                      <a16:creationId xmlns:a16="http://schemas.microsoft.com/office/drawing/2014/main" id="{C7EF9DB3-7B59-8C7D-4004-DD032B3741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5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1" name="Line 13">
                  <a:extLst>
                    <a:ext uri="{FF2B5EF4-FFF2-40B4-BE49-F238E27FC236}">
                      <a16:creationId xmlns:a16="http://schemas.microsoft.com/office/drawing/2014/main" id="{8B7A84B3-668F-A102-F044-5CF898CA5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61" y="1857"/>
                  <a:ext cx="0" cy="3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53" name="Text Box 12">
                  <a:extLst>
                    <a:ext uri="{FF2B5EF4-FFF2-40B4-BE49-F238E27FC236}">
                      <a16:creationId xmlns:a16="http://schemas.microsoft.com/office/drawing/2014/main" id="{9C2BCC81-F87B-C532-E17E-4C82D1791D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4" y="1863"/>
                  <a:ext cx="750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encrypted </a:t>
                  </a:r>
                </a:p>
                <a:p>
                  <a:pPr algn="ctr">
                    <a:lnSpc>
                      <a:spcPct val="80000"/>
                    </a:lnSpc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password</a:t>
                  </a:r>
                </a:p>
              </p:txBody>
            </p:sp>
          </p:grp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CF69CE76-F59B-3F9F-FEEA-5EE4CB060D4E}"/>
                  </a:ext>
                </a:extLst>
              </p:cNvPr>
              <p:cNvCxnSpPr/>
              <p:nvPr/>
            </p:nvCxnSpPr>
            <p:spPr>
              <a:xfrm>
                <a:off x="4230470" y="3620401"/>
                <a:ext cx="4903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6B1C2F5-688D-B898-A240-5DA94BC1F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2003" y="5463747"/>
              <a:ext cx="1519772" cy="1077397"/>
            </a:xfrm>
            <a:prstGeom prst="rect">
              <a:avLst/>
            </a:prstGeom>
          </p:spPr>
        </p:pic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77E86AC8-FEFD-AB7A-26F8-51F8D854E5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1258842" y="5680854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820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141769FA-74DC-F04C-8E0C-274CCE2D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49" y="1729270"/>
            <a:ext cx="84509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 in a lifetime</a:t>
            </a:r>
          </a:p>
        </p:txBody>
      </p:sp>
      <p:grpSp>
        <p:nvGrpSpPr>
          <p:cNvPr id="3" name="Group 2" descr="Alice send a message to Bob saying the message is from Alice">
            <a:extLst>
              <a:ext uri="{FF2B5EF4-FFF2-40B4-BE49-F238E27FC236}">
                <a16:creationId xmlns:a16="http://schemas.microsoft.com/office/drawing/2014/main" id="{3AFD22AB-B59B-7DFB-2C4B-09B9660A3140}"/>
              </a:ext>
            </a:extLst>
          </p:cNvPr>
          <p:cNvGrpSpPr/>
          <p:nvPr/>
        </p:nvGrpSpPr>
        <p:grpSpPr>
          <a:xfrm>
            <a:off x="3079131" y="3458679"/>
            <a:ext cx="5523186" cy="1163776"/>
            <a:chOff x="3079131" y="3458679"/>
            <a:chExt cx="5523186" cy="1163776"/>
          </a:xfrm>
        </p:grpSpPr>
        <p:pic>
          <p:nvPicPr>
            <p:cNvPr id="56" name="Picture 7" descr="Alice">
              <a:extLst>
                <a:ext uri="{FF2B5EF4-FFF2-40B4-BE49-F238E27FC236}">
                  <a16:creationId xmlns:a16="http://schemas.microsoft.com/office/drawing/2014/main" id="{2F9AF6F6-F327-4249-8539-07CD631C7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9131" y="3458679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8" descr="Bob">
              <a:extLst>
                <a:ext uri="{FF2B5EF4-FFF2-40B4-BE49-F238E27FC236}">
                  <a16:creationId xmlns:a16="http://schemas.microsoft.com/office/drawing/2014/main" id="{39A855F0-2FE6-984A-B72E-20AA23DB5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9517" y="3792192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C4276CD-64C3-8E4A-B50D-2C57424EE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6128" y="3573117"/>
              <a:ext cx="3697288" cy="614363"/>
              <a:chOff x="2733675" y="3467100"/>
              <a:chExt cx="3697288" cy="614363"/>
            </a:xfrm>
          </p:grpSpPr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EAEA93D0-716C-3D45-9B18-D5930A67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675" y="3819525"/>
                <a:ext cx="3697288" cy="2619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0">
                <a:extLst>
                  <a:ext uri="{FF2B5EF4-FFF2-40B4-BE49-F238E27FC236}">
                    <a16:creationId xmlns:a16="http://schemas.microsoft.com/office/drawing/2014/main" id="{D747AE28-31A4-5744-9AC3-9091708FB9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9654" y="3467100"/>
                <a:ext cx="16466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“I am Alice”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4591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DA56-A15B-626B-E919-60F915CA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3BE1-EB9B-B8E5-7C89-8FD98922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646F0B-2C53-637A-AAA1-26F765BAEE82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84BDFCF8-37D7-9BA4-3095-05C3A6085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CAC4F986-A642-4BAE-3321-1EF0A0976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49" y="1729270"/>
            <a:ext cx="84509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 in a lifetime</a:t>
            </a:r>
          </a:p>
        </p:txBody>
      </p:sp>
      <p:grpSp>
        <p:nvGrpSpPr>
          <p:cNvPr id="3" name="Group 2" descr="Bob replies to Alice with a nonce identifier">
            <a:extLst>
              <a:ext uri="{FF2B5EF4-FFF2-40B4-BE49-F238E27FC236}">
                <a16:creationId xmlns:a16="http://schemas.microsoft.com/office/drawing/2014/main" id="{F25D1885-6B55-AD4A-CD39-E0E3A4C7EC42}"/>
              </a:ext>
            </a:extLst>
          </p:cNvPr>
          <p:cNvGrpSpPr/>
          <p:nvPr/>
        </p:nvGrpSpPr>
        <p:grpSpPr>
          <a:xfrm>
            <a:off x="3079131" y="3458679"/>
            <a:ext cx="5523186" cy="1346338"/>
            <a:chOff x="3079131" y="3458679"/>
            <a:chExt cx="5523186" cy="1346338"/>
          </a:xfrm>
        </p:grpSpPr>
        <p:pic>
          <p:nvPicPr>
            <p:cNvPr id="56" name="Picture 7" descr="Alice">
              <a:extLst>
                <a:ext uri="{FF2B5EF4-FFF2-40B4-BE49-F238E27FC236}">
                  <a16:creationId xmlns:a16="http://schemas.microsoft.com/office/drawing/2014/main" id="{7E1F0DC0-4E9C-A21B-FC13-F7A351558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9131" y="3458679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8" descr="Bob">
              <a:extLst>
                <a:ext uri="{FF2B5EF4-FFF2-40B4-BE49-F238E27FC236}">
                  <a16:creationId xmlns:a16="http://schemas.microsoft.com/office/drawing/2014/main" id="{AFD44424-EC81-9961-2C74-135E4DDF1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9517" y="3792192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D4BF977-EDF9-FE85-A1AD-8E364F9919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6128" y="3573117"/>
              <a:ext cx="3697288" cy="614363"/>
              <a:chOff x="2733675" y="3467100"/>
              <a:chExt cx="3697288" cy="614363"/>
            </a:xfrm>
          </p:grpSpPr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48794DE0-1CE2-9148-4F9D-43011EBAD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675" y="3819525"/>
                <a:ext cx="3697288" cy="2619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0">
                <a:extLst>
                  <a:ext uri="{FF2B5EF4-FFF2-40B4-BE49-F238E27FC236}">
                    <a16:creationId xmlns:a16="http://schemas.microsoft.com/office/drawing/2014/main" id="{E40C8FBD-C11A-50A1-1018-14A8184D96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9654" y="3467100"/>
                <a:ext cx="16466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“I am Alice”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F5A96C8-1770-BDD6-06FA-9BDF05291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9778" y="4247805"/>
              <a:ext cx="3697288" cy="557212"/>
              <a:chOff x="2727325" y="4141788"/>
              <a:chExt cx="3697288" cy="557212"/>
            </a:xfrm>
          </p:grpSpPr>
          <p:sp>
            <p:nvSpPr>
              <p:cNvPr id="62" name="Line 11">
                <a:extLst>
                  <a:ext uri="{FF2B5EF4-FFF2-40B4-BE49-F238E27FC236}">
                    <a16:creationId xmlns:a16="http://schemas.microsoft.com/office/drawing/2014/main" id="{8EFF1998-257E-4DD1-E666-57130E3F1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27325" y="4437063"/>
                <a:ext cx="3697288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" name="Text Box 13">
                <a:extLst>
                  <a:ext uri="{FF2B5EF4-FFF2-40B4-BE49-F238E27FC236}">
                    <a16:creationId xmlns:a16="http://schemas.microsoft.com/office/drawing/2014/main" id="{689FB57C-17BB-3166-BECB-7E53EF762F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030" y="4141788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0924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1196-B526-A463-0898-E8FA406F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456D-EC89-D599-E377-6860C4E8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151BFC3-87F0-67FC-D449-40187C29E7BA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5297D706-20A2-3748-3D2C-174E7158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9027D85C-4D2D-B4D2-43CF-28820F742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49" y="1729270"/>
            <a:ext cx="84509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 in a lifetime</a:t>
            </a:r>
          </a:p>
        </p:txBody>
      </p:sp>
      <p:grpSp>
        <p:nvGrpSpPr>
          <p:cNvPr id="3" name="Group 2" descr="Alice replies to Bob with the nonce identifier encrypted with their shared secret key">
            <a:extLst>
              <a:ext uri="{FF2B5EF4-FFF2-40B4-BE49-F238E27FC236}">
                <a16:creationId xmlns:a16="http://schemas.microsoft.com/office/drawing/2014/main" id="{1896CFA7-1BDA-5FAF-FF60-D13BCC740808}"/>
              </a:ext>
            </a:extLst>
          </p:cNvPr>
          <p:cNvGrpSpPr/>
          <p:nvPr/>
        </p:nvGrpSpPr>
        <p:grpSpPr>
          <a:xfrm>
            <a:off x="1169610" y="3458679"/>
            <a:ext cx="10240509" cy="2769854"/>
            <a:chOff x="1169610" y="3458679"/>
            <a:chExt cx="10240509" cy="2769854"/>
          </a:xfrm>
        </p:grpSpPr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7CFC98DA-41A9-8526-6F30-BB5CCEF95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610" y="5576266"/>
              <a:ext cx="365856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3200" i="1" dirty="0">
                  <a:latin typeface="+mn-lt"/>
                  <a:cs typeface="Arial" charset="0"/>
                </a:rPr>
                <a:t>Failures, drawbacks?</a:t>
              </a:r>
            </a:p>
          </p:txBody>
        </p:sp>
        <p:pic>
          <p:nvPicPr>
            <p:cNvPr id="56" name="Picture 7" descr="Alice">
              <a:extLst>
                <a:ext uri="{FF2B5EF4-FFF2-40B4-BE49-F238E27FC236}">
                  <a16:creationId xmlns:a16="http://schemas.microsoft.com/office/drawing/2014/main" id="{C777C089-AB15-7990-793E-70FA9BD3FA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9131" y="3458679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8" descr="Bob">
              <a:extLst>
                <a:ext uri="{FF2B5EF4-FFF2-40B4-BE49-F238E27FC236}">
                  <a16:creationId xmlns:a16="http://schemas.microsoft.com/office/drawing/2014/main" id="{5254EC8E-BEDE-364C-E0A0-403E747426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9517" y="3792192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D71B881-49A8-E987-F00F-95DBF836F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6128" y="3573117"/>
              <a:ext cx="3697288" cy="614363"/>
              <a:chOff x="2733675" y="3467100"/>
              <a:chExt cx="3697288" cy="614363"/>
            </a:xfrm>
          </p:grpSpPr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4397BBE0-ECD8-287C-9196-2D52EE715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675" y="3819525"/>
                <a:ext cx="3697288" cy="2619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0">
                <a:extLst>
                  <a:ext uri="{FF2B5EF4-FFF2-40B4-BE49-F238E27FC236}">
                    <a16:creationId xmlns:a16="http://schemas.microsoft.com/office/drawing/2014/main" id="{EA8064CF-B452-30EE-1BD0-E486B3579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9654" y="3467100"/>
                <a:ext cx="16466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“I am Alice”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B17F6C1-62C7-D983-C1FC-4E8C855F7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9778" y="4247805"/>
              <a:ext cx="3697288" cy="557212"/>
              <a:chOff x="2727325" y="4141788"/>
              <a:chExt cx="3697288" cy="557212"/>
            </a:xfrm>
          </p:grpSpPr>
          <p:sp>
            <p:nvSpPr>
              <p:cNvPr id="62" name="Line 11">
                <a:extLst>
                  <a:ext uri="{FF2B5EF4-FFF2-40B4-BE49-F238E27FC236}">
                    <a16:creationId xmlns:a16="http://schemas.microsoft.com/office/drawing/2014/main" id="{6190C669-8AC7-8D6C-BFF9-86BDC2BA5C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27325" y="4437063"/>
                <a:ext cx="3697288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" name="Text Box 13">
                <a:extLst>
                  <a:ext uri="{FF2B5EF4-FFF2-40B4-BE49-F238E27FC236}">
                    <a16:creationId xmlns:a16="http://schemas.microsoft.com/office/drawing/2014/main" id="{9AD64178-0236-2257-7A9C-9DC5F2DF3C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030" y="4141788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61D947E-CFAE-DB48-CA52-C2EDC3D90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7716" y="4806605"/>
              <a:ext cx="7442403" cy="1421928"/>
              <a:chOff x="2735263" y="4700588"/>
              <a:chExt cx="7442403" cy="1421928"/>
            </a:xfrm>
          </p:grpSpPr>
          <p:sp>
            <p:nvSpPr>
              <p:cNvPr id="65" name="Line 12">
                <a:extLst>
                  <a:ext uri="{FF2B5EF4-FFF2-40B4-BE49-F238E27FC236}">
                    <a16:creationId xmlns:a16="http://schemas.microsoft.com/office/drawing/2014/main" id="{7A60453F-3CD0-33AA-F644-39DA2740B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5263" y="5097463"/>
                <a:ext cx="3697287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66" name="Group 14">
                <a:extLst>
                  <a:ext uri="{FF2B5EF4-FFF2-40B4-BE49-F238E27FC236}">
                    <a16:creationId xmlns:a16="http://schemas.microsoft.com/office/drawing/2014/main" id="{83BAEF96-E72F-EDDE-A03F-A27C523E5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3589" y="4743450"/>
                <a:ext cx="973138" cy="581025"/>
                <a:chOff x="2726" y="3555"/>
                <a:chExt cx="613" cy="366"/>
              </a:xfrm>
            </p:grpSpPr>
            <p:sp>
              <p:nvSpPr>
                <p:cNvPr id="68" name="Text Box 15">
                  <a:extLst>
                    <a:ext uri="{FF2B5EF4-FFF2-40B4-BE49-F238E27FC236}">
                      <a16:creationId xmlns:a16="http://schemas.microsoft.com/office/drawing/2014/main" id="{C161FBA5-2000-3169-5AB3-A1670B1F29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26" y="3555"/>
                  <a:ext cx="61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K    (R)</a:t>
                  </a:r>
                </a:p>
              </p:txBody>
            </p:sp>
            <p:sp>
              <p:nvSpPr>
                <p:cNvPr id="69" name="Text Box 16" descr="Alice replies to Bob with his nonce identifier encrypted by their shared secret key.">
                  <a:extLst>
                    <a:ext uri="{FF2B5EF4-FFF2-40B4-BE49-F238E27FC236}">
                      <a16:creationId xmlns:a16="http://schemas.microsoft.com/office/drawing/2014/main" id="{AF9B5BE7-CA1E-C4EF-CDB1-31BD0B6925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1" y="3688"/>
                  <a:ext cx="32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A-B</a:t>
                  </a:r>
                </a:p>
              </p:txBody>
            </p:sp>
          </p:grpSp>
          <p:sp>
            <p:nvSpPr>
              <p:cNvPr id="67" name="Text Box 17">
                <a:extLst>
                  <a:ext uri="{FF2B5EF4-FFF2-40B4-BE49-F238E27FC236}">
                    <a16:creationId xmlns:a16="http://schemas.microsoft.com/office/drawing/2014/main" id="{882597B7-F434-D694-F991-45CC82D15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1569" y="4700588"/>
                <a:ext cx="3676097" cy="14219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90000"/>
                  </a:lnSpc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Bob know Alice is live, and only Alice knows key to encrypt nonce, so it must be Alice!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4464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</a:t>
            </a:r>
            <a:endParaRPr lang="en-US" sz="4400" b="0" dirty="0">
              <a:latin typeface="+mn-lt"/>
            </a:endParaRP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latin typeface="+mn-lt"/>
              </a:rPr>
              <a:t>ap4.0 requires shared symmetric key  - can we authenticate using public key techniques?</a:t>
            </a:r>
          </a:p>
          <a:p>
            <a:pPr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ap5.0: </a:t>
            </a:r>
            <a:r>
              <a:rPr lang="en-US" sz="3200" dirty="0">
                <a:latin typeface="+mn-lt"/>
              </a:rPr>
              <a:t>use nonce, public key cryptography</a:t>
            </a:r>
          </a:p>
        </p:txBody>
      </p:sp>
      <p:grpSp>
        <p:nvGrpSpPr>
          <p:cNvPr id="3" name="Group 2" descr="A version with symmetric keys: Alice encrypts Bob’s nonce identifer with her private key. Bob can verify by decrypting with Alice’s public key.">
            <a:extLst>
              <a:ext uri="{FF2B5EF4-FFF2-40B4-BE49-F238E27FC236}">
                <a16:creationId xmlns:a16="http://schemas.microsoft.com/office/drawing/2014/main" id="{576C57DA-5C61-19B2-F8DD-0F3466AC66C0}"/>
              </a:ext>
            </a:extLst>
          </p:cNvPr>
          <p:cNvGrpSpPr/>
          <p:nvPr/>
        </p:nvGrpSpPr>
        <p:grpSpPr>
          <a:xfrm>
            <a:off x="2177983" y="2875583"/>
            <a:ext cx="9611638" cy="3591681"/>
            <a:chOff x="2177983" y="2875583"/>
            <a:chExt cx="9611638" cy="3591681"/>
          </a:xfrm>
        </p:grpSpPr>
        <p:pic>
          <p:nvPicPr>
            <p:cNvPr id="56" name="Picture 7" descr="Alice">
              <a:extLst>
                <a:ext uri="{FF2B5EF4-FFF2-40B4-BE49-F238E27FC236}">
                  <a16:creationId xmlns:a16="http://schemas.microsoft.com/office/drawing/2014/main" id="{2F9AF6F6-F327-4249-8539-07CD631C7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7983" y="2875583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8" descr="Bob">
              <a:extLst>
                <a:ext uri="{FF2B5EF4-FFF2-40B4-BE49-F238E27FC236}">
                  <a16:creationId xmlns:a16="http://schemas.microsoft.com/office/drawing/2014/main" id="{39A855F0-2FE6-984A-B72E-20AA23DB5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8369" y="3209096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C4276CD-64C3-8E4A-B50D-2C57424EE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4980" y="3241813"/>
              <a:ext cx="3697288" cy="461665"/>
              <a:chOff x="2733675" y="3718892"/>
              <a:chExt cx="3697288" cy="461665"/>
            </a:xfrm>
          </p:grpSpPr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EAEA93D0-716C-3D45-9B18-D5930A67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675" y="3819525"/>
                <a:ext cx="3697288" cy="2619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0" name="Text Box 10">
                <a:extLst>
                  <a:ext uri="{FF2B5EF4-FFF2-40B4-BE49-F238E27FC236}">
                    <a16:creationId xmlns:a16="http://schemas.microsoft.com/office/drawing/2014/main" id="{D747AE28-31A4-5744-9AC3-9091708FB9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6402" y="3718892"/>
                <a:ext cx="1646605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“I am Alice”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980D71-54AB-0A4D-ADEA-EF957E0120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8630" y="3757474"/>
              <a:ext cx="3697288" cy="523220"/>
              <a:chOff x="2727325" y="4234553"/>
              <a:chExt cx="3697288" cy="523220"/>
            </a:xfrm>
          </p:grpSpPr>
          <p:sp>
            <p:nvSpPr>
              <p:cNvPr id="62" name="Line 11">
                <a:extLst>
                  <a:ext uri="{FF2B5EF4-FFF2-40B4-BE49-F238E27FC236}">
                    <a16:creationId xmlns:a16="http://schemas.microsoft.com/office/drawing/2014/main" id="{08698D6B-EE9C-E34D-A32F-7525934EC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27325" y="4437063"/>
                <a:ext cx="3697288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" name="Text Box 13">
                <a:extLst>
                  <a:ext uri="{FF2B5EF4-FFF2-40B4-BE49-F238E27FC236}">
                    <a16:creationId xmlns:a16="http://schemas.microsoft.com/office/drawing/2014/main" id="{E3576BAB-C966-E149-9EF7-9412FFECF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0115" y="4234553"/>
                <a:ext cx="380232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9B0819E-4D5E-5144-A5A8-E2CA9BD36E85}"/>
                </a:ext>
              </a:extLst>
            </p:cNvPr>
            <p:cNvGrpSpPr/>
            <p:nvPr/>
          </p:nvGrpSpPr>
          <p:grpSpPr>
            <a:xfrm>
              <a:off x="3086100" y="4124601"/>
              <a:ext cx="3697287" cy="676275"/>
              <a:chOff x="3086100" y="4124601"/>
              <a:chExt cx="3697287" cy="676275"/>
            </a:xfrm>
          </p:grpSpPr>
          <p:sp>
            <p:nvSpPr>
              <p:cNvPr id="65" name="Line 12">
                <a:extLst>
                  <a:ext uri="{FF2B5EF4-FFF2-40B4-BE49-F238E27FC236}">
                    <a16:creationId xmlns:a16="http://schemas.microsoft.com/office/drawing/2014/main" id="{4D962D55-0BBF-764B-9835-8287A7D0D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6100" y="4408349"/>
                <a:ext cx="3697287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23" name="Group 12">
                <a:extLst>
                  <a:ext uri="{FF2B5EF4-FFF2-40B4-BE49-F238E27FC236}">
                    <a16:creationId xmlns:a16="http://schemas.microsoft.com/office/drawing/2014/main" id="{DEFF3F8A-1D3B-0940-96F5-EAAB79FA38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9040" y="4124601"/>
                <a:ext cx="1028700" cy="676275"/>
                <a:chOff x="2852" y="2891"/>
                <a:chExt cx="648" cy="426"/>
              </a:xfrm>
            </p:grpSpPr>
            <p:sp>
              <p:nvSpPr>
                <p:cNvPr id="24" name="Text Box 13">
                  <a:extLst>
                    <a:ext uri="{FF2B5EF4-FFF2-40B4-BE49-F238E27FC236}">
                      <a16:creationId xmlns:a16="http://schemas.microsoft.com/office/drawing/2014/main" id="{0D581F6E-86B1-534F-BDAB-82E839A333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2" y="2979"/>
                  <a:ext cx="648" cy="33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800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25" name="Text Box 14">
                  <a:extLst>
                    <a:ext uri="{FF2B5EF4-FFF2-40B4-BE49-F238E27FC236}">
                      <a16:creationId xmlns:a16="http://schemas.microsoft.com/office/drawing/2014/main" id="{C75C26F3-0008-5949-9BEA-927DBA56F1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9" y="3084"/>
                  <a:ext cx="20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26" name="Text Box 15">
                  <a:extLst>
                    <a:ext uri="{FF2B5EF4-FFF2-40B4-BE49-F238E27FC236}">
                      <a16:creationId xmlns:a16="http://schemas.microsoft.com/office/drawing/2014/main" id="{9C57DEA5-6B03-E348-B265-415DA783C3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2" y="2891"/>
                  <a:ext cx="17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D2833DA-9CEF-1740-B263-141DE78DF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5743" y="5009805"/>
              <a:ext cx="3697288" cy="369332"/>
              <a:chOff x="2727325" y="4380327"/>
              <a:chExt cx="3697288" cy="369332"/>
            </a:xfrm>
          </p:grpSpPr>
          <p:sp>
            <p:nvSpPr>
              <p:cNvPr id="28" name="Line 11">
                <a:extLst>
                  <a:ext uri="{FF2B5EF4-FFF2-40B4-BE49-F238E27FC236}">
                    <a16:creationId xmlns:a16="http://schemas.microsoft.com/office/drawing/2014/main" id="{3C5335B3-53A9-8141-8881-70E37150C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27325" y="4437063"/>
                <a:ext cx="3697288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9" name="Text Box 13">
                <a:extLst>
                  <a:ext uri="{FF2B5EF4-FFF2-40B4-BE49-F238E27FC236}">
                    <a16:creationId xmlns:a16="http://schemas.microsoft.com/office/drawing/2014/main" id="{9099361D-C78F-5D47-90E9-7A0E22532F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4913" y="4380327"/>
                <a:ext cx="2470163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Send me your public key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A1B0A3-002F-BE44-A232-0C1647891076}"/>
                </a:ext>
              </a:extLst>
            </p:cNvPr>
            <p:cNvGrpSpPr/>
            <p:nvPr/>
          </p:nvGrpSpPr>
          <p:grpSpPr>
            <a:xfrm>
              <a:off x="3072848" y="5310670"/>
              <a:ext cx="3697287" cy="676275"/>
              <a:chOff x="3072848" y="5310670"/>
              <a:chExt cx="3697287" cy="676275"/>
            </a:xfrm>
          </p:grpSpPr>
          <p:sp>
            <p:nvSpPr>
              <p:cNvPr id="31" name="Line 12">
                <a:extLst>
                  <a:ext uri="{FF2B5EF4-FFF2-40B4-BE49-F238E27FC236}">
                    <a16:creationId xmlns:a16="http://schemas.microsoft.com/office/drawing/2014/main" id="{D5DB138C-C974-784C-B5DF-44D22492A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848" y="5647428"/>
                <a:ext cx="3697287" cy="2619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51" name="Group 12">
                <a:extLst>
                  <a:ext uri="{FF2B5EF4-FFF2-40B4-BE49-F238E27FC236}">
                    <a16:creationId xmlns:a16="http://schemas.microsoft.com/office/drawing/2014/main" id="{7B23B9D4-5ABC-6748-8A77-C2599E6870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95179" y="5310670"/>
                <a:ext cx="1028700" cy="676275"/>
                <a:chOff x="2852" y="2891"/>
                <a:chExt cx="648" cy="426"/>
              </a:xfrm>
            </p:grpSpPr>
            <p:sp>
              <p:nvSpPr>
                <p:cNvPr id="53" name="Text Box 13">
                  <a:extLst>
                    <a:ext uri="{FF2B5EF4-FFF2-40B4-BE49-F238E27FC236}">
                      <a16:creationId xmlns:a16="http://schemas.microsoft.com/office/drawing/2014/main" id="{32123EC4-E97B-E54F-AE15-8F511BEDB2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2" y="2979"/>
                  <a:ext cx="648" cy="33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800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54" name="Text Box 14">
                  <a:extLst>
                    <a:ext uri="{FF2B5EF4-FFF2-40B4-BE49-F238E27FC236}">
                      <a16:creationId xmlns:a16="http://schemas.microsoft.com/office/drawing/2014/main" id="{D9A3EB35-2155-5B4E-846A-ED5F02B7C8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9" y="3084"/>
                  <a:ext cx="20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18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70" name="Text Box 15">
                  <a:extLst>
                    <a:ext uri="{FF2B5EF4-FFF2-40B4-BE49-F238E27FC236}">
                      <a16:creationId xmlns:a16="http://schemas.microsoft.com/office/drawing/2014/main" id="{B0CB5623-EA61-D04C-9262-80E6084646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8" y="2891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CE0E366-E4FF-5D48-8B56-C779840E608F}"/>
                </a:ext>
              </a:extLst>
            </p:cNvPr>
            <p:cNvGrpSpPr/>
            <p:nvPr/>
          </p:nvGrpSpPr>
          <p:grpSpPr>
            <a:xfrm>
              <a:off x="6970643" y="3647722"/>
              <a:ext cx="4818978" cy="2819542"/>
              <a:chOff x="6970643" y="3647722"/>
              <a:chExt cx="4818978" cy="2819542"/>
            </a:xfrm>
          </p:grpSpPr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85AC5181-C0FE-8D46-AE3D-B48809AF32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33479" y="3647722"/>
                <a:ext cx="254793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Bob computes</a:t>
                </a:r>
              </a:p>
            </p:txBody>
          </p:sp>
          <p:sp>
            <p:nvSpPr>
              <p:cNvPr id="43" name="Text Box 31">
                <a:extLst>
                  <a:ext uri="{FF2B5EF4-FFF2-40B4-BE49-F238E27FC236}">
                    <a16:creationId xmlns:a16="http://schemas.microsoft.com/office/drawing/2014/main" id="{F167A309-060E-CB47-B167-406BAE2F3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314" y="4710956"/>
                <a:ext cx="3316307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latin typeface="Arial" charset="0"/>
                    <a:cs typeface="Arial" charset="0"/>
                  </a:rPr>
                  <a:t>and knows only Alice could have the private key, that encrypted R such that</a:t>
                </a:r>
              </a:p>
            </p:txBody>
          </p:sp>
          <p:grpSp>
            <p:nvGrpSpPr>
              <p:cNvPr id="44" name="Group 32">
                <a:extLst>
                  <a:ext uri="{FF2B5EF4-FFF2-40B4-BE49-F238E27FC236}">
                    <a16:creationId xmlns:a16="http://schemas.microsoft.com/office/drawing/2014/main" id="{9B8399BA-1EDD-1441-A8CF-664BAC5C89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50469" y="5513107"/>
                <a:ext cx="2051879" cy="954157"/>
                <a:chOff x="942" y="3588"/>
                <a:chExt cx="1183" cy="522"/>
              </a:xfrm>
            </p:grpSpPr>
            <p:sp>
              <p:nvSpPr>
                <p:cNvPr id="45" name="Text Box 33">
                  <a:extLst>
                    <a:ext uri="{FF2B5EF4-FFF2-40B4-BE49-F238E27FC236}">
                      <a16:creationId xmlns:a16="http://schemas.microsoft.com/office/drawing/2014/main" id="{F64AD157-0740-8F4A-B120-B415F19E61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93" y="3731"/>
                  <a:ext cx="93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(K  (R)) = R</a:t>
                  </a:r>
                </a:p>
              </p:txBody>
            </p:sp>
            <p:sp>
              <p:nvSpPr>
                <p:cNvPr id="46" name="Text Box 34">
                  <a:extLst>
                    <a:ext uri="{FF2B5EF4-FFF2-40B4-BE49-F238E27FC236}">
                      <a16:creationId xmlns:a16="http://schemas.microsoft.com/office/drawing/2014/main" id="{0BB260CB-AF5A-2C4C-992A-1E67D6720C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9" y="3819"/>
                  <a:ext cx="22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47" name="Text Box 35">
                  <a:extLst>
                    <a:ext uri="{FF2B5EF4-FFF2-40B4-BE49-F238E27FC236}">
                      <a16:creationId xmlns:a16="http://schemas.microsoft.com/office/drawing/2014/main" id="{AAB195AB-2054-6E42-A9EB-46D095B2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4" y="3588"/>
                  <a:ext cx="176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48" name="Text Box 36">
                  <a:extLst>
                    <a:ext uri="{FF2B5EF4-FFF2-40B4-BE49-F238E27FC236}">
                      <a16:creationId xmlns:a16="http://schemas.microsoft.com/office/drawing/2014/main" id="{59939334-F3BC-9547-9113-1B49FAF0D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42" y="3718"/>
                  <a:ext cx="3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49" name="Text Box 37">
                  <a:extLst>
                    <a:ext uri="{FF2B5EF4-FFF2-40B4-BE49-F238E27FC236}">
                      <a16:creationId xmlns:a16="http://schemas.microsoft.com/office/drawing/2014/main" id="{8ED1822E-3198-0946-A269-EAE47B2512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1" y="3805"/>
                  <a:ext cx="22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50" name="Text Box 38">
                  <a:extLst>
                    <a:ext uri="{FF2B5EF4-FFF2-40B4-BE49-F238E27FC236}">
                      <a16:creationId xmlns:a16="http://schemas.microsoft.com/office/drawing/2014/main" id="{D2A07B58-F8F4-764F-8083-BACA7957F0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8" y="3620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grpSp>
            <p:nvGrpSpPr>
              <p:cNvPr id="71" name="Group 32">
                <a:extLst>
                  <a:ext uri="{FF2B5EF4-FFF2-40B4-BE49-F238E27FC236}">
                    <a16:creationId xmlns:a16="http://schemas.microsoft.com/office/drawing/2014/main" id="{9A9EF96A-DB45-9140-929A-C624915D8D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43844" y="3896138"/>
                <a:ext cx="2051879" cy="954157"/>
                <a:chOff x="942" y="3588"/>
                <a:chExt cx="1183" cy="522"/>
              </a:xfrm>
            </p:grpSpPr>
            <p:sp>
              <p:nvSpPr>
                <p:cNvPr id="72" name="Text Box 33">
                  <a:extLst>
                    <a:ext uri="{FF2B5EF4-FFF2-40B4-BE49-F238E27FC236}">
                      <a16:creationId xmlns:a16="http://schemas.microsoft.com/office/drawing/2014/main" id="{A200BBB4-00A3-2147-A532-5218A2C358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93" y="3731"/>
                  <a:ext cx="93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(K  (R)) = R</a:t>
                  </a:r>
                </a:p>
              </p:txBody>
            </p:sp>
            <p:sp>
              <p:nvSpPr>
                <p:cNvPr id="73" name="Text Box 34">
                  <a:extLst>
                    <a:ext uri="{FF2B5EF4-FFF2-40B4-BE49-F238E27FC236}">
                      <a16:creationId xmlns:a16="http://schemas.microsoft.com/office/drawing/2014/main" id="{4F6B97CC-6A55-5E4D-961B-7B04C268D1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9" y="3819"/>
                  <a:ext cx="22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74" name="Text Box 35">
                  <a:extLst>
                    <a:ext uri="{FF2B5EF4-FFF2-40B4-BE49-F238E27FC236}">
                      <a16:creationId xmlns:a16="http://schemas.microsoft.com/office/drawing/2014/main" id="{91CEFBBB-4C73-F64A-B98C-47B2D5ECCB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4" y="3588"/>
                  <a:ext cx="176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75" name="Text Box 36">
                  <a:extLst>
                    <a:ext uri="{FF2B5EF4-FFF2-40B4-BE49-F238E27FC236}">
                      <a16:creationId xmlns:a16="http://schemas.microsoft.com/office/drawing/2014/main" id="{37F04E6C-C5B6-D84D-B11D-0C6729C63E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42" y="3718"/>
                  <a:ext cx="3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76" name="Text Box 37">
                  <a:extLst>
                    <a:ext uri="{FF2B5EF4-FFF2-40B4-BE49-F238E27FC236}">
                      <a16:creationId xmlns:a16="http://schemas.microsoft.com/office/drawing/2014/main" id="{8A278A51-C50D-C34B-8024-ED46F75556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1" y="3805"/>
                  <a:ext cx="22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77" name="Text Box 38">
                  <a:extLst>
                    <a:ext uri="{FF2B5EF4-FFF2-40B4-BE49-F238E27FC236}">
                      <a16:creationId xmlns:a16="http://schemas.microsoft.com/office/drawing/2014/main" id="{A60CF1AF-7A33-6740-B29B-FDEA1A0E73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8" y="3620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sz="2400" dirty="0"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2017155-79A1-0640-B6D4-2FCD229680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5374" y="3806822"/>
                <a:ext cx="0" cy="2487961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1C0842A-6581-4244-83F0-28D1B6C75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0643" y="5917096"/>
                <a:ext cx="1398105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46177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3AE0-A9FC-787C-00FB-B62513F0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D179-1C7B-4BD2-5EB3-0516C4C0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F23EFEBD-9E35-CCEA-714A-F30B98C3C8D0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5" name="Group 4" descr="“Man in the middle” attack. Trudy captures first message from Alice to Bob, and then runs the protocol spoofing to be Alice. Bob authenticas Trudy as Alice.">
            <a:extLst>
              <a:ext uri="{FF2B5EF4-FFF2-40B4-BE49-F238E27FC236}">
                <a16:creationId xmlns:a16="http://schemas.microsoft.com/office/drawing/2014/main" id="{D65D4D3A-EE70-CC9F-146D-0A67ED6FC455}"/>
              </a:ext>
            </a:extLst>
          </p:cNvPr>
          <p:cNvGrpSpPr/>
          <p:nvPr/>
        </p:nvGrpSpPr>
        <p:grpSpPr>
          <a:xfrm>
            <a:off x="1535532" y="2061628"/>
            <a:ext cx="9854710" cy="3119972"/>
            <a:chOff x="1535532" y="2061628"/>
            <a:chExt cx="9854710" cy="3119972"/>
          </a:xfrm>
        </p:grpSpPr>
        <p:pic>
          <p:nvPicPr>
            <p:cNvPr id="64" name="Picture 4" descr="Bob">
              <a:extLst>
                <a:ext uri="{FF2B5EF4-FFF2-40B4-BE49-F238E27FC236}">
                  <a16:creationId xmlns:a16="http://schemas.microsoft.com/office/drawing/2014/main" id="{72A139C3-15D3-E133-FA78-C0ECC0AD5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173680" y="2346395"/>
              <a:ext cx="686620" cy="701605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7" name="Picture 6" descr="Alice">
              <a:extLst>
                <a:ext uri="{FF2B5EF4-FFF2-40B4-BE49-F238E27FC236}">
                  <a16:creationId xmlns:a16="http://schemas.microsoft.com/office/drawing/2014/main" id="{75889EA9-A1AA-D54E-6B14-D7ECA75F14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35532" y="2208766"/>
              <a:ext cx="605867" cy="746469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0BCFC2A-6297-FEB3-0651-A11A2B2C99DA}"/>
                </a:ext>
              </a:extLst>
            </p:cNvPr>
            <p:cNvGrpSpPr/>
            <p:nvPr/>
          </p:nvGrpSpPr>
          <p:grpSpPr>
            <a:xfrm>
              <a:off x="2221395" y="2408377"/>
              <a:ext cx="2600947" cy="400110"/>
              <a:chOff x="2221395" y="2408377"/>
              <a:chExt cx="2600947" cy="400110"/>
            </a:xfrm>
          </p:grpSpPr>
          <p:sp>
            <p:nvSpPr>
              <p:cNvPr id="68" name="Line 7">
                <a:extLst>
                  <a:ext uri="{FF2B5EF4-FFF2-40B4-BE49-F238E27FC236}">
                    <a16:creationId xmlns:a16="http://schemas.microsoft.com/office/drawing/2014/main" id="{DA901B24-9C86-7E76-C46C-E1A92F9FD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2638357"/>
                <a:ext cx="26009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69" name="Text Box 8">
                <a:extLst>
                  <a:ext uri="{FF2B5EF4-FFF2-40B4-BE49-F238E27FC236}">
                    <a16:creationId xmlns:a16="http://schemas.microsoft.com/office/drawing/2014/main" id="{BDD8631C-3F68-2FC3-A23B-6E011D9959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4235" y="2408377"/>
                <a:ext cx="1197765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353E95E-F004-F1E8-8095-15A275BFE731}"/>
                </a:ext>
              </a:extLst>
            </p:cNvPr>
            <p:cNvGrpSpPr/>
            <p:nvPr/>
          </p:nvGrpSpPr>
          <p:grpSpPr>
            <a:xfrm>
              <a:off x="6760197" y="2448063"/>
              <a:ext cx="2249487" cy="400110"/>
              <a:chOff x="6760197" y="2448063"/>
              <a:chExt cx="2249487" cy="400110"/>
            </a:xfrm>
          </p:grpSpPr>
          <p:sp>
            <p:nvSpPr>
              <p:cNvPr id="79" name="Line 9">
                <a:extLst>
                  <a:ext uri="{FF2B5EF4-FFF2-40B4-BE49-F238E27FC236}">
                    <a16:creationId xmlns:a16="http://schemas.microsoft.com/office/drawing/2014/main" id="{FC352F66-3109-0E74-5CA6-C0DA53332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0197" y="2678044"/>
                <a:ext cx="22494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80" name="Text Box 10">
                <a:extLst>
                  <a:ext uri="{FF2B5EF4-FFF2-40B4-BE49-F238E27FC236}">
                    <a16:creationId xmlns:a16="http://schemas.microsoft.com/office/drawing/2014/main" id="{443F3A6B-2CD9-0700-A425-BCFE31ED60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8812" y="2448063"/>
                <a:ext cx="1197765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B369297-1C30-BD51-E0E9-A05FBDAA274E}"/>
                </a:ext>
              </a:extLst>
            </p:cNvPr>
            <p:cNvGrpSpPr/>
            <p:nvPr/>
          </p:nvGrpSpPr>
          <p:grpSpPr>
            <a:xfrm>
              <a:off x="6864626" y="3360738"/>
              <a:ext cx="2333079" cy="389626"/>
              <a:chOff x="6864626" y="3360738"/>
              <a:chExt cx="2333079" cy="389626"/>
            </a:xfrm>
          </p:grpSpPr>
          <p:sp>
            <p:nvSpPr>
              <p:cNvPr id="89" name="Line 19">
                <a:extLst>
                  <a:ext uri="{FF2B5EF4-FFF2-40B4-BE49-F238E27FC236}">
                    <a16:creationId xmlns:a16="http://schemas.microsoft.com/office/drawing/2014/main" id="{2944E51B-4ADE-B63B-74F2-D109FD53C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864626" y="3363843"/>
                <a:ext cx="2167283" cy="3865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90" name="Text Box 20">
                <a:extLst>
                  <a:ext uri="{FF2B5EF4-FFF2-40B4-BE49-F238E27FC236}">
                    <a16:creationId xmlns:a16="http://schemas.microsoft.com/office/drawing/2014/main" id="{C42F4CD7-4464-D1DF-CDB1-8D14BFE4FC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7549" y="3360738"/>
                <a:ext cx="221015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latin typeface="+mn-lt"/>
                    <a:cs typeface="Arial" charset="0"/>
                  </a:rPr>
                  <a:t>Send me your public key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73C41D8-D0C2-3287-7E13-7A00F729702B}"/>
                </a:ext>
              </a:extLst>
            </p:cNvPr>
            <p:cNvGrpSpPr/>
            <p:nvPr/>
          </p:nvGrpSpPr>
          <p:grpSpPr>
            <a:xfrm>
              <a:off x="6828459" y="2851424"/>
              <a:ext cx="2249488" cy="673654"/>
              <a:chOff x="6828459" y="2851424"/>
              <a:chExt cx="2249488" cy="673654"/>
            </a:xfrm>
          </p:grpSpPr>
          <p:sp>
            <p:nvSpPr>
              <p:cNvPr id="83" name="Line 13">
                <a:extLst>
                  <a:ext uri="{FF2B5EF4-FFF2-40B4-BE49-F238E27FC236}">
                    <a16:creationId xmlns:a16="http://schemas.microsoft.com/office/drawing/2014/main" id="{E73DEBF4-FAA2-1F1F-338F-1A68BACF9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8459" y="3195569"/>
                <a:ext cx="2249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9F896A3-E5F4-C9A4-5374-C477A92FD5C3}"/>
                  </a:ext>
                </a:extLst>
              </p:cNvPr>
              <p:cNvGrpSpPr/>
              <p:nvPr/>
            </p:nvGrpSpPr>
            <p:grpSpPr>
              <a:xfrm>
                <a:off x="7453313" y="2851424"/>
                <a:ext cx="787400" cy="673654"/>
                <a:chOff x="10739852" y="2997198"/>
                <a:chExt cx="787400" cy="673654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3DC4652-0EC2-F866-C5E8-8591E9030DFF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Text Box 15">
                  <a:extLst>
                    <a:ext uri="{FF2B5EF4-FFF2-40B4-BE49-F238E27FC236}">
                      <a16:creationId xmlns:a16="http://schemas.microsoft.com/office/drawing/2014/main" id="{34A28F23-409A-CE77-E755-D1834CB324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87" name="Text Box 17">
                  <a:extLst>
                    <a:ext uri="{FF2B5EF4-FFF2-40B4-BE49-F238E27FC236}">
                      <a16:creationId xmlns:a16="http://schemas.microsoft.com/office/drawing/2014/main" id="{C360E8AA-08EB-AA32-F8AF-69C2E1529A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39852" y="3142972"/>
                  <a:ext cx="787400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88" name="Text Box 18">
                  <a:extLst>
                    <a:ext uri="{FF2B5EF4-FFF2-40B4-BE49-F238E27FC236}">
                      <a16:creationId xmlns:a16="http://schemas.microsoft.com/office/drawing/2014/main" id="{9FB4DF82-A33B-60D8-ED7E-FD22AF3321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14547" y="2997198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1BB2117-378B-F3C7-22AE-8BBC83B55674}"/>
                </a:ext>
              </a:extLst>
            </p:cNvPr>
            <p:cNvGrpSpPr/>
            <p:nvPr/>
          </p:nvGrpSpPr>
          <p:grpSpPr>
            <a:xfrm>
              <a:off x="6799884" y="2710462"/>
              <a:ext cx="2165350" cy="400110"/>
              <a:chOff x="6799884" y="2710462"/>
              <a:chExt cx="2165350" cy="400110"/>
            </a:xfrm>
          </p:grpSpPr>
          <p:sp>
            <p:nvSpPr>
              <p:cNvPr id="81" name="Line 11">
                <a:extLst>
                  <a:ext uri="{FF2B5EF4-FFF2-40B4-BE49-F238E27FC236}">
                    <a16:creationId xmlns:a16="http://schemas.microsoft.com/office/drawing/2014/main" id="{CD37D21B-563C-F17A-AE58-07D34DBD5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99884" y="2746307"/>
                <a:ext cx="2165350" cy="2809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A4CF3DC-CDCD-F649-158D-549D2780B589}"/>
                  </a:ext>
                </a:extLst>
              </p:cNvPr>
              <p:cNvGrpSpPr/>
              <p:nvPr/>
            </p:nvGrpSpPr>
            <p:grpSpPr>
              <a:xfrm>
                <a:off x="7402788" y="2710462"/>
                <a:ext cx="559183" cy="400110"/>
                <a:chOff x="7402788" y="2710462"/>
                <a:chExt cx="559183" cy="40011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1351073-5C5D-330D-0077-43BAB4E090B2}"/>
                    </a:ext>
                  </a:extLst>
                </p:cNvPr>
                <p:cNvSpPr/>
                <p:nvPr/>
              </p:nvSpPr>
              <p:spPr>
                <a:xfrm>
                  <a:off x="7462396" y="2872554"/>
                  <a:ext cx="423747" cy="624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Text Box 12">
                  <a:extLst>
                    <a:ext uri="{FF2B5EF4-FFF2-40B4-BE49-F238E27FC236}">
                      <a16:creationId xmlns:a16="http://schemas.microsoft.com/office/drawing/2014/main" id="{F353EB80-C59F-AED8-3096-0AD1E5A0CF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2788" y="2710462"/>
                  <a:ext cx="559183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R</a:t>
                  </a: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2B4A4F1-3560-87BB-4BD7-BE797C859877}"/>
                </a:ext>
              </a:extLst>
            </p:cNvPr>
            <p:cNvGrpSpPr/>
            <p:nvPr/>
          </p:nvGrpSpPr>
          <p:grpSpPr>
            <a:xfrm>
              <a:off x="6896722" y="3520658"/>
              <a:ext cx="2249487" cy="673654"/>
              <a:chOff x="6896722" y="3520658"/>
              <a:chExt cx="2249487" cy="673654"/>
            </a:xfrm>
          </p:grpSpPr>
          <p:sp>
            <p:nvSpPr>
              <p:cNvPr id="91" name="Line 21">
                <a:extLst>
                  <a:ext uri="{FF2B5EF4-FFF2-40B4-BE49-F238E27FC236}">
                    <a16:creationId xmlns:a16="http://schemas.microsoft.com/office/drawing/2014/main" id="{8423480D-88E8-1363-8086-C44D0F5C4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6722" y="3882957"/>
                <a:ext cx="22494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6CC85483-F322-ECD4-DF74-DD19F527387D}"/>
                  </a:ext>
                </a:extLst>
              </p:cNvPr>
              <p:cNvGrpSpPr/>
              <p:nvPr/>
            </p:nvGrpSpPr>
            <p:grpSpPr>
              <a:xfrm>
                <a:off x="7507355" y="3520658"/>
                <a:ext cx="675861" cy="673654"/>
                <a:chOff x="10747511" y="2997198"/>
                <a:chExt cx="675861" cy="673654"/>
              </a:xfrm>
            </p:grpSpPr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C2F67C2-6166-39CF-1C26-69FAF5E8D9D6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Text Box 15">
                  <a:extLst>
                    <a:ext uri="{FF2B5EF4-FFF2-40B4-BE49-F238E27FC236}">
                      <a16:creationId xmlns:a16="http://schemas.microsoft.com/office/drawing/2014/main" id="{6F7ECA01-1CE4-D501-AC4E-1AF48BAAD8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1" name="Text Box 17">
                  <a:extLst>
                    <a:ext uri="{FF2B5EF4-FFF2-40B4-BE49-F238E27FC236}">
                      <a16:creationId xmlns:a16="http://schemas.microsoft.com/office/drawing/2014/main" id="{608EA3B3-A4E8-7B0C-0FE3-EAB6409953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2" name="Text Box 18">
                  <a:extLst>
                    <a:ext uri="{FF2B5EF4-FFF2-40B4-BE49-F238E27FC236}">
                      <a16:creationId xmlns:a16="http://schemas.microsoft.com/office/drawing/2014/main" id="{68FFD07A-CEB5-A8A9-B6EE-8D0FA12564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F2A2DD-004D-1EB4-2092-858EBB1B347B}"/>
                </a:ext>
              </a:extLst>
            </p:cNvPr>
            <p:cNvGrpSpPr/>
            <p:nvPr/>
          </p:nvGrpSpPr>
          <p:grpSpPr>
            <a:xfrm>
              <a:off x="9501810" y="3697355"/>
              <a:ext cx="1888432" cy="1211428"/>
              <a:chOff x="9448801" y="3644347"/>
              <a:chExt cx="1888432" cy="1211428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4DF94AC-64BB-C809-B17C-085BC5A4B295}"/>
                  </a:ext>
                </a:extLst>
              </p:cNvPr>
              <p:cNvSpPr/>
              <p:nvPr/>
            </p:nvSpPr>
            <p:spPr>
              <a:xfrm>
                <a:off x="10661372" y="3802821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677CB76-2074-0EEF-51D3-3599E53EAEAF}"/>
                  </a:ext>
                </a:extLst>
              </p:cNvPr>
              <p:cNvGrpSpPr/>
              <p:nvPr/>
            </p:nvGrpSpPr>
            <p:grpSpPr>
              <a:xfrm>
                <a:off x="9475303" y="3785702"/>
                <a:ext cx="1713735" cy="680280"/>
                <a:chOff x="9753598" y="4050745"/>
                <a:chExt cx="1713735" cy="680280"/>
              </a:xfrm>
            </p:grpSpPr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55F436E3-24F3-F4ED-310C-27F3735D86BD}"/>
                    </a:ext>
                  </a:extLst>
                </p:cNvPr>
                <p:cNvGrpSpPr/>
                <p:nvPr/>
              </p:nvGrpSpPr>
              <p:grpSpPr>
                <a:xfrm>
                  <a:off x="9753598" y="4057371"/>
                  <a:ext cx="675861" cy="673654"/>
                  <a:chOff x="10747511" y="2997198"/>
                  <a:chExt cx="675861" cy="673654"/>
                </a:xfrm>
              </p:grpSpPr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6EA988D3-6696-7291-2627-225FA874BCC8}"/>
                      </a:ext>
                    </a:extLst>
                  </p:cNvPr>
                  <p:cNvSpPr/>
                  <p:nvPr/>
                </p:nvSpPr>
                <p:spPr>
                  <a:xfrm>
                    <a:off x="10747511" y="3305865"/>
                    <a:ext cx="675861" cy="10601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Text Box 15">
                    <a:extLst>
                      <a:ext uri="{FF2B5EF4-FFF2-40B4-BE49-F238E27FC236}">
                        <a16:creationId xmlns:a16="http://schemas.microsoft.com/office/drawing/2014/main" id="{F3917122-AD72-1D8F-55AE-25F2AC42374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06608" y="3270801"/>
                    <a:ext cx="309563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T</a:t>
                    </a:r>
                  </a:p>
                </p:txBody>
              </p:sp>
              <p:sp>
                <p:nvSpPr>
                  <p:cNvPr id="146" name="Text Box 17">
                    <a:extLst>
                      <a:ext uri="{FF2B5EF4-FFF2-40B4-BE49-F238E27FC236}">
                        <a16:creationId xmlns:a16="http://schemas.microsoft.com/office/drawing/2014/main" id="{8711F4C0-CC95-D343-D978-187B2390C60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757961" y="3142972"/>
                    <a:ext cx="433131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latin typeface="+mn-lt"/>
                        <a:cs typeface="Arial" charset="0"/>
                      </a:rPr>
                      <a:t>K  </a:t>
                    </a:r>
                  </a:p>
                </p:txBody>
              </p:sp>
              <p:sp>
                <p:nvSpPr>
                  <p:cNvPr id="147" name="Text Box 18">
                    <a:extLst>
                      <a:ext uri="{FF2B5EF4-FFF2-40B4-BE49-F238E27FC236}">
                        <a16:creationId xmlns:a16="http://schemas.microsoft.com/office/drawing/2014/main" id="{78A33687-79EE-09CE-4A14-EFDE0407C62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89856" y="2997198"/>
                    <a:ext cx="31290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+</a:t>
                    </a:r>
                  </a:p>
                </p:txBody>
              </p:sp>
            </p:grpSp>
            <p:sp>
              <p:nvSpPr>
                <p:cNvPr id="151" name="Text Box 17">
                  <a:extLst>
                    <a:ext uri="{FF2B5EF4-FFF2-40B4-BE49-F238E27FC236}">
                      <a16:creationId xmlns:a16="http://schemas.microsoft.com/office/drawing/2014/main" id="{A484D218-2B75-D4E7-8E47-61EA904878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17897" y="4171890"/>
                  <a:ext cx="144943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(K   (R)) =  R,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74CC42D0-2727-3F42-74AD-957123B84BF2}"/>
                    </a:ext>
                  </a:extLst>
                </p:cNvPr>
                <p:cNvGrpSpPr/>
                <p:nvPr/>
              </p:nvGrpSpPr>
              <p:grpSpPr>
                <a:xfrm>
                  <a:off x="10303635" y="4050745"/>
                  <a:ext cx="309563" cy="673654"/>
                  <a:chOff x="10820469" y="3494154"/>
                  <a:chExt cx="309563" cy="673654"/>
                </a:xfrm>
              </p:grpSpPr>
              <p:sp>
                <p:nvSpPr>
                  <p:cNvPr id="150" name="Text Box 15">
                    <a:extLst>
                      <a:ext uri="{FF2B5EF4-FFF2-40B4-BE49-F238E27FC236}">
                        <a16:creationId xmlns:a16="http://schemas.microsoft.com/office/drawing/2014/main" id="{B3DD0B73-23BB-6213-BC79-CBAADC6467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20469" y="3767757"/>
                    <a:ext cx="309563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T</a:t>
                    </a:r>
                  </a:p>
                </p:txBody>
              </p:sp>
              <p:sp>
                <p:nvSpPr>
                  <p:cNvPr id="152" name="Text Box 18">
                    <a:extLst>
                      <a:ext uri="{FF2B5EF4-FFF2-40B4-BE49-F238E27FC236}">
                        <a16:creationId xmlns:a16="http://schemas.microsoft.com/office/drawing/2014/main" id="{DE30940C-E407-33DB-61BD-F75EF1000A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28408" y="3494154"/>
                    <a:ext cx="263525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ECA934-AB70-08E2-B3AF-63FDAD959C36}"/>
                  </a:ext>
                </a:extLst>
              </p:cNvPr>
              <p:cNvSpPr txBox="1"/>
              <p:nvPr/>
            </p:nvSpPr>
            <p:spPr>
              <a:xfrm>
                <a:off x="9448801" y="3644347"/>
                <a:ext cx="153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Bob computes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474C013-859B-3B03-AC45-25D88DE042E4}"/>
                  </a:ext>
                </a:extLst>
              </p:cNvPr>
              <p:cNvSpPr txBox="1"/>
              <p:nvPr/>
            </p:nvSpPr>
            <p:spPr>
              <a:xfrm>
                <a:off x="9455426" y="4314729"/>
                <a:ext cx="1822174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authenticating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/>
                  <a:t>Trudy as Alice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FCE6AD-5A63-9DD4-B427-4B65623C78B5}"/>
                </a:ext>
              </a:extLst>
            </p:cNvPr>
            <p:cNvSpPr/>
            <p:nvPr/>
          </p:nvSpPr>
          <p:spPr>
            <a:xfrm>
              <a:off x="7580243" y="5009322"/>
              <a:ext cx="821635" cy="1722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655130B-83DE-976A-3276-8C3744F7A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3437" y="206162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6506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0D34-1BAE-F763-CE75-24C30FC2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800B-C035-27B1-D09C-923BC7BC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8400B492-F41C-8E6F-548A-D9255EE0FDB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5" name="Group 4" descr="Trudy then run’s Bob’s side of the authentication protocol, obtaining Alice’s public key">
            <a:extLst>
              <a:ext uri="{FF2B5EF4-FFF2-40B4-BE49-F238E27FC236}">
                <a16:creationId xmlns:a16="http://schemas.microsoft.com/office/drawing/2014/main" id="{6C265394-AF01-8AD7-A59F-68A02762BA9E}"/>
              </a:ext>
            </a:extLst>
          </p:cNvPr>
          <p:cNvGrpSpPr/>
          <p:nvPr/>
        </p:nvGrpSpPr>
        <p:grpSpPr>
          <a:xfrm>
            <a:off x="1535532" y="2061628"/>
            <a:ext cx="8324768" cy="2780968"/>
            <a:chOff x="1535532" y="2061628"/>
            <a:chExt cx="8324768" cy="2780968"/>
          </a:xfrm>
        </p:grpSpPr>
        <p:pic>
          <p:nvPicPr>
            <p:cNvPr id="64" name="Picture 4" descr="Bob">
              <a:extLst>
                <a:ext uri="{FF2B5EF4-FFF2-40B4-BE49-F238E27FC236}">
                  <a16:creationId xmlns:a16="http://schemas.microsoft.com/office/drawing/2014/main" id="{2BF64EE5-68C7-5087-CACB-838830D93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173680" y="2346395"/>
              <a:ext cx="686620" cy="701605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7" name="Picture 6" descr="Alice">
              <a:extLst>
                <a:ext uri="{FF2B5EF4-FFF2-40B4-BE49-F238E27FC236}">
                  <a16:creationId xmlns:a16="http://schemas.microsoft.com/office/drawing/2014/main" id="{095AC574-4427-1CA1-E313-849041CDB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35532" y="2208766"/>
              <a:ext cx="605867" cy="746469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39" name="Group 38" descr="Trudy then spoofs Bob’s side of the authentication protocol, thus learning Alice’s pubic key.">
              <a:extLst>
                <a:ext uri="{FF2B5EF4-FFF2-40B4-BE49-F238E27FC236}">
                  <a16:creationId xmlns:a16="http://schemas.microsoft.com/office/drawing/2014/main" id="{8B6D71ED-F0A5-E287-F30A-EA87B8DF17F5}"/>
                </a:ext>
              </a:extLst>
            </p:cNvPr>
            <p:cNvGrpSpPr/>
            <p:nvPr/>
          </p:nvGrpSpPr>
          <p:grpSpPr>
            <a:xfrm>
              <a:off x="2221395" y="3978760"/>
              <a:ext cx="2580245" cy="434214"/>
              <a:chOff x="2221395" y="3978760"/>
              <a:chExt cx="2580245" cy="434214"/>
            </a:xfrm>
          </p:grpSpPr>
          <p:sp>
            <p:nvSpPr>
              <p:cNvPr id="104" name="Line 34">
                <a:extLst>
                  <a:ext uri="{FF2B5EF4-FFF2-40B4-BE49-F238E27FC236}">
                    <a16:creationId xmlns:a16="http://schemas.microsoft.com/office/drawing/2014/main" id="{B2ABD112-ABA9-0D9C-28EB-F0CA912D6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1395" y="4074629"/>
                <a:ext cx="2546972" cy="338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105" name="Text Box 35">
                <a:extLst>
                  <a:ext uri="{FF2B5EF4-FFF2-40B4-BE49-F238E27FC236}">
                    <a16:creationId xmlns:a16="http://schemas.microsoft.com/office/drawing/2014/main" id="{71281ECD-671D-2EC4-E618-EC5DB5A18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1484" y="3978760"/>
                <a:ext cx="221015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latin typeface="+mn-lt"/>
                    <a:cs typeface="Arial" charset="0"/>
                  </a:rPr>
                  <a:t>Send me your public key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F55FFE-B56D-5635-1062-8EDCFAE56B3D}"/>
                </a:ext>
              </a:extLst>
            </p:cNvPr>
            <p:cNvSpPr/>
            <p:nvPr/>
          </p:nvSpPr>
          <p:spPr>
            <a:xfrm>
              <a:off x="3538330" y="3472069"/>
              <a:ext cx="238539" cy="145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7AAFD2F-E1AE-0CCA-8161-264465322388}"/>
                </a:ext>
              </a:extLst>
            </p:cNvPr>
            <p:cNvGrpSpPr/>
            <p:nvPr/>
          </p:nvGrpSpPr>
          <p:grpSpPr>
            <a:xfrm>
              <a:off x="2221395" y="3318428"/>
              <a:ext cx="2480297" cy="400110"/>
              <a:chOff x="2221395" y="3318428"/>
              <a:chExt cx="2480297" cy="400110"/>
            </a:xfrm>
          </p:grpSpPr>
          <p:sp>
            <p:nvSpPr>
              <p:cNvPr id="97" name="Line 27">
                <a:extLst>
                  <a:ext uri="{FF2B5EF4-FFF2-40B4-BE49-F238E27FC236}">
                    <a16:creationId xmlns:a16="http://schemas.microsoft.com/office/drawing/2014/main" id="{3E99A2B4-3D88-BE1C-76F3-385C03A9D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1395" y="3390832"/>
                <a:ext cx="2480297" cy="3218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136" name="Text Box 66">
                <a:extLst>
                  <a:ext uri="{FF2B5EF4-FFF2-40B4-BE49-F238E27FC236}">
                    <a16:creationId xmlns:a16="http://schemas.microsoft.com/office/drawing/2014/main" id="{D83FB94D-805F-7407-DD14-1C9A88C626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192" y="3318428"/>
                <a:ext cx="324128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13B731-194F-DF44-79AC-2598A89A3188}"/>
                </a:ext>
              </a:extLst>
            </p:cNvPr>
            <p:cNvGrpSpPr/>
            <p:nvPr/>
          </p:nvGrpSpPr>
          <p:grpSpPr>
            <a:xfrm>
              <a:off x="2221395" y="3479799"/>
              <a:ext cx="2593009" cy="673713"/>
              <a:chOff x="2221395" y="3479799"/>
              <a:chExt cx="2593009" cy="673713"/>
            </a:xfrm>
          </p:grpSpPr>
          <p:sp>
            <p:nvSpPr>
              <p:cNvPr id="98" name="Line 28">
                <a:extLst>
                  <a:ext uri="{FF2B5EF4-FFF2-40B4-BE49-F238E27FC236}">
                    <a16:creationId xmlns:a16="http://schemas.microsoft.com/office/drawing/2014/main" id="{B04442E8-099D-1252-4E6C-3C6216299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3840094"/>
                <a:ext cx="25930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0E4E3AC-BAB2-0AA2-98B1-3F4DEB58CA87}"/>
                  </a:ext>
                </a:extLst>
              </p:cNvPr>
              <p:cNvGrpSpPr/>
              <p:nvPr/>
            </p:nvGrpSpPr>
            <p:grpSpPr>
              <a:xfrm>
                <a:off x="3351764" y="3479799"/>
                <a:ext cx="787400" cy="673713"/>
                <a:chOff x="992878" y="4235173"/>
                <a:chExt cx="787400" cy="673713"/>
              </a:xfrm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A9899B75-A65D-6CB9-34B6-83F114BB1EA8}"/>
                    </a:ext>
                  </a:extLst>
                </p:cNvPr>
                <p:cNvSpPr/>
                <p:nvPr/>
              </p:nvSpPr>
              <p:spPr>
                <a:xfrm>
                  <a:off x="1000537" y="4543840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6" name="Text Box 15">
                  <a:extLst>
                    <a:ext uri="{FF2B5EF4-FFF2-40B4-BE49-F238E27FC236}">
                      <a16:creationId xmlns:a16="http://schemas.microsoft.com/office/drawing/2014/main" id="{5E1E91C8-AEF1-ED3B-BAC8-FD1B20831A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7543" y="4508776"/>
                  <a:ext cx="3337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57" name="Text Box 17">
                  <a:extLst>
                    <a:ext uri="{FF2B5EF4-FFF2-40B4-BE49-F238E27FC236}">
                      <a16:creationId xmlns:a16="http://schemas.microsoft.com/office/drawing/2014/main" id="{84BAF9E5-10DE-829C-85DF-954CE6E49B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2878" y="4380947"/>
                  <a:ext cx="787400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158" name="Text Box 18">
                  <a:extLst>
                    <a:ext uri="{FF2B5EF4-FFF2-40B4-BE49-F238E27FC236}">
                      <a16:creationId xmlns:a16="http://schemas.microsoft.com/office/drawing/2014/main" id="{BF41BCDB-61A9-32B1-DA2B-7CE92869DB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7573" y="4235173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3F5DDC-3732-1E7B-807E-7EAFBFDE2C13}"/>
                </a:ext>
              </a:extLst>
            </p:cNvPr>
            <p:cNvGrpSpPr/>
            <p:nvPr/>
          </p:nvGrpSpPr>
          <p:grpSpPr>
            <a:xfrm>
              <a:off x="2221395" y="4168883"/>
              <a:ext cx="2661272" cy="673713"/>
              <a:chOff x="2221395" y="4168883"/>
              <a:chExt cx="2661272" cy="673713"/>
            </a:xfrm>
          </p:grpSpPr>
          <p:sp>
            <p:nvSpPr>
              <p:cNvPr id="106" name="Line 36">
                <a:extLst>
                  <a:ext uri="{FF2B5EF4-FFF2-40B4-BE49-F238E27FC236}">
                    <a16:creationId xmlns:a16="http://schemas.microsoft.com/office/drawing/2014/main" id="{FC1B1B0C-040F-43C3-1E10-6BB67CB30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4527482"/>
                <a:ext cx="266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9B98AA0-9E04-1449-75D6-7F48CF071145}"/>
                  </a:ext>
                </a:extLst>
              </p:cNvPr>
              <p:cNvGrpSpPr/>
              <p:nvPr/>
            </p:nvGrpSpPr>
            <p:grpSpPr>
              <a:xfrm>
                <a:off x="3366050" y="4168883"/>
                <a:ext cx="675861" cy="673713"/>
                <a:chOff x="1842051" y="4335667"/>
                <a:chExt cx="675861" cy="673713"/>
              </a:xfrm>
            </p:grpSpPr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A66845D4-D9DC-4A57-6577-95C717EFDA16}"/>
                    </a:ext>
                  </a:extLst>
                </p:cNvPr>
                <p:cNvSpPr/>
                <p:nvPr/>
              </p:nvSpPr>
              <p:spPr>
                <a:xfrm>
                  <a:off x="1842051" y="4644334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2" name="Text Box 17">
                  <a:extLst>
                    <a:ext uri="{FF2B5EF4-FFF2-40B4-BE49-F238E27FC236}">
                      <a16:creationId xmlns:a16="http://schemas.microsoft.com/office/drawing/2014/main" id="{6F999D5A-6816-92A4-776B-4FBD5F9F50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2501" y="4481441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63" name="Text Box 18">
                  <a:extLst>
                    <a:ext uri="{FF2B5EF4-FFF2-40B4-BE49-F238E27FC236}">
                      <a16:creationId xmlns:a16="http://schemas.microsoft.com/office/drawing/2014/main" id="{1E3342C5-5991-4F0C-8D7A-9864263307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396" y="4335667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61" name="Text Box 15">
                  <a:extLst>
                    <a:ext uri="{FF2B5EF4-FFF2-40B4-BE49-F238E27FC236}">
                      <a16:creationId xmlns:a16="http://schemas.microsoft.com/office/drawing/2014/main" id="{199B468D-454A-B193-B7D6-D366475500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9057" y="4609270"/>
                  <a:ext cx="3337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</p:grp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76B8AE-4774-8BB1-6420-7648B8D4F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3437" y="206162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762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9EA7-879F-619D-94B9-B66E54F8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56DB-4BDD-8279-7924-F5B29A31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F13EB95-240F-7B7C-9426-68E1AD79604C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3" name="Group 2" descr="Bob sends message to Trudy (thinking it is Alice) with a message encoded with Trudy's public key/">
            <a:extLst>
              <a:ext uri="{FF2B5EF4-FFF2-40B4-BE49-F238E27FC236}">
                <a16:creationId xmlns:a16="http://schemas.microsoft.com/office/drawing/2014/main" id="{37413BA3-F825-AF69-D74F-3D5F6A267978}"/>
              </a:ext>
            </a:extLst>
          </p:cNvPr>
          <p:cNvGrpSpPr/>
          <p:nvPr/>
        </p:nvGrpSpPr>
        <p:grpSpPr>
          <a:xfrm>
            <a:off x="1535532" y="2061628"/>
            <a:ext cx="9940851" cy="3482614"/>
            <a:chOff x="1535532" y="2061628"/>
            <a:chExt cx="9940851" cy="3482614"/>
          </a:xfrm>
        </p:grpSpPr>
        <p:pic>
          <p:nvPicPr>
            <p:cNvPr id="64" name="Picture 4" descr="Bob">
              <a:extLst>
                <a:ext uri="{FF2B5EF4-FFF2-40B4-BE49-F238E27FC236}">
                  <a16:creationId xmlns:a16="http://schemas.microsoft.com/office/drawing/2014/main" id="{9E6ED823-BBEB-1724-3EED-C2C235272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173680" y="2346395"/>
              <a:ext cx="686620" cy="701605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7" name="Picture 6" descr="Alice">
              <a:extLst>
                <a:ext uri="{FF2B5EF4-FFF2-40B4-BE49-F238E27FC236}">
                  <a16:creationId xmlns:a16="http://schemas.microsoft.com/office/drawing/2014/main" id="{FC459E83-4EEC-B87A-CD60-E26B8335A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35532" y="2208766"/>
              <a:ext cx="605867" cy="746469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38F4B7-9ED6-EB4E-72E9-9ECB68BA1497}"/>
                </a:ext>
              </a:extLst>
            </p:cNvPr>
            <p:cNvGrpSpPr/>
            <p:nvPr/>
          </p:nvGrpSpPr>
          <p:grpSpPr>
            <a:xfrm>
              <a:off x="4877761" y="4634119"/>
              <a:ext cx="2054794" cy="910123"/>
              <a:chOff x="4877761" y="4634119"/>
              <a:chExt cx="2054794" cy="910123"/>
            </a:xfrm>
          </p:grpSpPr>
          <p:grpSp>
            <p:nvGrpSpPr>
              <p:cNvPr id="117" name="Group 47">
                <a:extLst>
                  <a:ext uri="{FF2B5EF4-FFF2-40B4-BE49-F238E27FC236}">
                    <a16:creationId xmlns:a16="http://schemas.microsoft.com/office/drawing/2014/main" id="{48AF5004-A09F-CD2B-475B-357B216547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05100" y="4794941"/>
                <a:ext cx="1708150" cy="749301"/>
                <a:chOff x="1318" y="3314"/>
                <a:chExt cx="1076" cy="472"/>
              </a:xfrm>
            </p:grpSpPr>
            <p:sp>
              <p:nvSpPr>
                <p:cNvPr id="118" name="Text Box 48">
                  <a:extLst>
                    <a:ext uri="{FF2B5EF4-FFF2-40B4-BE49-F238E27FC236}">
                      <a16:creationId xmlns:a16="http://schemas.microsoft.com/office/drawing/2014/main" id="{03D6184A-C19D-1BF6-09E3-8F2291891D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66" y="3526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19" name="Text Box 49">
                  <a:extLst>
                    <a:ext uri="{FF2B5EF4-FFF2-40B4-BE49-F238E27FC236}">
                      <a16:creationId xmlns:a16="http://schemas.microsoft.com/office/drawing/2014/main" id="{1FAD0351-A8F7-0E38-CFC7-314414C586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18" y="3414"/>
                  <a:ext cx="107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m = K  (K   (m))</a:t>
                  </a:r>
                </a:p>
              </p:txBody>
            </p:sp>
            <p:sp>
              <p:nvSpPr>
                <p:cNvPr id="120" name="Text Box 50">
                  <a:extLst>
                    <a:ext uri="{FF2B5EF4-FFF2-40B4-BE49-F238E27FC236}">
                      <a16:creationId xmlns:a16="http://schemas.microsoft.com/office/drawing/2014/main" id="{FCDFF1B0-30B2-03E5-3992-9383D67E2C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332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21" name="Text Box 51">
                  <a:extLst>
                    <a:ext uri="{FF2B5EF4-FFF2-40B4-BE49-F238E27FC236}">
                      <a16:creationId xmlns:a16="http://schemas.microsoft.com/office/drawing/2014/main" id="{B39CAB84-43C0-C82A-5449-4E79E3A6B3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0" y="3534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22" name="Text Box 52">
                  <a:extLst>
                    <a:ext uri="{FF2B5EF4-FFF2-40B4-BE49-F238E27FC236}">
                      <a16:creationId xmlns:a16="http://schemas.microsoft.com/office/drawing/2014/main" id="{B9A24A27-5A3F-0AD2-F952-8A801150DA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8" y="3314"/>
                  <a:ext cx="16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23" name="Text Box 53">
                <a:extLst>
                  <a:ext uri="{FF2B5EF4-FFF2-40B4-BE49-F238E27FC236}">
                    <a16:creationId xmlns:a16="http://schemas.microsoft.com/office/drawing/2014/main" id="{8441E1DB-5DFA-A2C5-49BB-D7470264B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7761" y="4634119"/>
                <a:ext cx="2054794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Trudy recovers m: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4DECA2-91D6-C829-1A14-4A224C0C1100}"/>
                </a:ext>
              </a:extLst>
            </p:cNvPr>
            <p:cNvSpPr/>
            <p:nvPr/>
          </p:nvSpPr>
          <p:spPr>
            <a:xfrm>
              <a:off x="3538330" y="3472069"/>
              <a:ext cx="238539" cy="145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4E866B-21BC-1D3B-0383-9C158C43FD2E}"/>
                </a:ext>
              </a:extLst>
            </p:cNvPr>
            <p:cNvSpPr/>
            <p:nvPr/>
          </p:nvSpPr>
          <p:spPr>
            <a:xfrm>
              <a:off x="7580243" y="5009322"/>
              <a:ext cx="821635" cy="1722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3193B91-4009-4746-5FFC-A853078EB8F3}"/>
                </a:ext>
              </a:extLst>
            </p:cNvPr>
            <p:cNvGrpSpPr/>
            <p:nvPr/>
          </p:nvGrpSpPr>
          <p:grpSpPr>
            <a:xfrm>
              <a:off x="6941172" y="4727161"/>
              <a:ext cx="2168525" cy="711199"/>
              <a:chOff x="6941172" y="4727161"/>
              <a:chExt cx="2168525" cy="711199"/>
            </a:xfrm>
          </p:grpSpPr>
          <p:sp>
            <p:nvSpPr>
              <p:cNvPr id="112" name="Line 42">
                <a:extLst>
                  <a:ext uri="{FF2B5EF4-FFF2-40B4-BE49-F238E27FC236}">
                    <a16:creationId xmlns:a16="http://schemas.microsoft.com/office/drawing/2014/main" id="{DF30B989-3839-B027-875D-488D07534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941172" y="5117202"/>
                <a:ext cx="2168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13" name="Group 43">
                <a:extLst>
                  <a:ext uri="{FF2B5EF4-FFF2-40B4-BE49-F238E27FC236}">
                    <a16:creationId xmlns:a16="http://schemas.microsoft.com/office/drawing/2014/main" id="{BE2D04F3-A856-B5A8-E91D-380CBA16FF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63472" y="4727161"/>
                <a:ext cx="852488" cy="711199"/>
                <a:chOff x="3677" y="3430"/>
                <a:chExt cx="537" cy="448"/>
              </a:xfrm>
            </p:grpSpPr>
            <p:sp>
              <p:nvSpPr>
                <p:cNvPr id="115" name="Text Box 45">
                  <a:extLst>
                    <a:ext uri="{FF2B5EF4-FFF2-40B4-BE49-F238E27FC236}">
                      <a16:creationId xmlns:a16="http://schemas.microsoft.com/office/drawing/2014/main" id="{57169EA9-C5F9-533C-ADA8-E2F3AF0E04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77" y="3540"/>
                  <a:ext cx="53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(m)</a:t>
                  </a:r>
                </a:p>
              </p:txBody>
            </p:sp>
            <p:sp>
              <p:nvSpPr>
                <p:cNvPr id="116" name="Text Box 46">
                  <a:extLst>
                    <a:ext uri="{FF2B5EF4-FFF2-40B4-BE49-F238E27FC236}">
                      <a16:creationId xmlns:a16="http://schemas.microsoft.com/office/drawing/2014/main" id="{5EFD112B-0D3F-5F0B-9D70-D99409AAD0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8" y="343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14" name="Text Box 44">
                  <a:extLst>
                    <a:ext uri="{FF2B5EF4-FFF2-40B4-BE49-F238E27FC236}">
                      <a16:creationId xmlns:a16="http://schemas.microsoft.com/office/drawing/2014/main" id="{ABD156B9-3627-CD42-6961-FAC11CFF14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83" y="3626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</p:grp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E4A71C-6713-7105-6BA2-714685E34324}"/>
                </a:ext>
              </a:extLst>
            </p:cNvPr>
            <p:cNvSpPr txBox="1"/>
            <p:nvPr/>
          </p:nvSpPr>
          <p:spPr>
            <a:xfrm>
              <a:off x="9258693" y="4982817"/>
              <a:ext cx="221769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Bob sends a personal message, m to Alice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5111923-46DB-CF4F-E051-865AA1B2A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3437" y="206162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7618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507B-CA40-CC75-DEB3-AE959655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E05F-F022-136A-4DEB-5ADD058C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94A227B6-9ECC-D1C6-C513-25618B60B34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pic>
        <p:nvPicPr>
          <p:cNvPr id="64" name="Picture 4" descr="Bob">
            <a:extLst>
              <a:ext uri="{FF2B5EF4-FFF2-40B4-BE49-F238E27FC236}">
                <a16:creationId xmlns:a16="http://schemas.microsoft.com/office/drawing/2014/main" id="{8D877465-D836-7CE5-C76F-55C1556A1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7" name="Picture 6" descr="Alice">
            <a:extLst>
              <a:ext uri="{FF2B5EF4-FFF2-40B4-BE49-F238E27FC236}">
                <a16:creationId xmlns:a16="http://schemas.microsoft.com/office/drawing/2014/main" id="{52D02136-4447-6291-5252-EC4C96F8C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" name="Group 4" descr="Trudy sends m to Alice encrypted with Alice’s public key. Neither Bob nor Alice know that Trudy has read m.">
            <a:extLst>
              <a:ext uri="{FF2B5EF4-FFF2-40B4-BE49-F238E27FC236}">
                <a16:creationId xmlns:a16="http://schemas.microsoft.com/office/drawing/2014/main" id="{BB420B6D-7DAC-4CC6-816E-FB8DE6AA5C59}"/>
              </a:ext>
            </a:extLst>
          </p:cNvPr>
          <p:cNvGrpSpPr/>
          <p:nvPr/>
        </p:nvGrpSpPr>
        <p:grpSpPr>
          <a:xfrm>
            <a:off x="359855" y="4921526"/>
            <a:ext cx="6998785" cy="1446789"/>
            <a:chOff x="359855" y="4921526"/>
            <a:chExt cx="6998785" cy="1446789"/>
          </a:xfrm>
        </p:grpSpPr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E1792E63-440A-0D1E-D348-5F1B3260B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34" y="4935268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Trudy sends m to Alice encrypted with Alice’s public key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C7825219-E316-9208-794C-15492888A5C1}"/>
                </a:ext>
              </a:extLst>
            </p:cNvPr>
            <p:cNvGrpSpPr/>
            <p:nvPr/>
          </p:nvGrpSpPr>
          <p:grpSpPr>
            <a:xfrm>
              <a:off x="2601085" y="4921526"/>
              <a:ext cx="2168525" cy="711199"/>
              <a:chOff x="2601085" y="4921526"/>
              <a:chExt cx="2168525" cy="711199"/>
            </a:xfrm>
          </p:grpSpPr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CA75D20C-BFD9-3432-1E1C-2D54D6084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01085" y="5367337"/>
                <a:ext cx="2168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132791E-E6DD-64CB-499F-836B95B7EE1C}"/>
                  </a:ext>
                </a:extLst>
              </p:cNvPr>
              <p:cNvSpPr/>
              <p:nvPr/>
            </p:nvSpPr>
            <p:spPr>
              <a:xfrm>
                <a:off x="3458817" y="5261113"/>
                <a:ext cx="397566" cy="2252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6" name="Group 56">
                <a:extLst>
                  <a:ext uri="{FF2B5EF4-FFF2-40B4-BE49-F238E27FC236}">
                    <a16:creationId xmlns:a16="http://schemas.microsoft.com/office/drawing/2014/main" id="{AF904981-33D6-09D9-74CA-3B3A612C93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7372" y="4921526"/>
                <a:ext cx="795338" cy="711199"/>
                <a:chOff x="3694" y="3430"/>
                <a:chExt cx="501" cy="448"/>
              </a:xfrm>
            </p:grpSpPr>
            <p:sp>
              <p:nvSpPr>
                <p:cNvPr id="127" name="Text Box 57">
                  <a:extLst>
                    <a:ext uri="{FF2B5EF4-FFF2-40B4-BE49-F238E27FC236}">
                      <a16:creationId xmlns:a16="http://schemas.microsoft.com/office/drawing/2014/main" id="{1FAEAB1D-9069-6D38-0E8C-C5B22A2249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6" y="3626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  <a:endPara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128" name="Text Box 58">
                  <a:extLst>
                    <a:ext uri="{FF2B5EF4-FFF2-40B4-BE49-F238E27FC236}">
                      <a16:creationId xmlns:a16="http://schemas.microsoft.com/office/drawing/2014/main" id="{066615D7-D0D4-0700-CAE9-95A714E296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4" y="3540"/>
                  <a:ext cx="50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(m)</a:t>
                  </a:r>
                </a:p>
              </p:txBody>
            </p:sp>
            <p:sp>
              <p:nvSpPr>
                <p:cNvPr id="129" name="Text Box 59">
                  <a:extLst>
                    <a:ext uri="{FF2B5EF4-FFF2-40B4-BE49-F238E27FC236}">
                      <a16:creationId xmlns:a16="http://schemas.microsoft.com/office/drawing/2014/main" id="{0DEA8196-F5DC-6EBB-A07A-7963A6D8DC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7" y="343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0C990F29-D231-F95C-F087-B0C3902C3259}"/>
                </a:ext>
              </a:extLst>
            </p:cNvPr>
            <p:cNvGrpSpPr/>
            <p:nvPr/>
          </p:nvGrpSpPr>
          <p:grpSpPr>
            <a:xfrm>
              <a:off x="359855" y="4949687"/>
              <a:ext cx="3045951" cy="1418628"/>
              <a:chOff x="359855" y="4949687"/>
              <a:chExt cx="3045951" cy="1418628"/>
            </a:xfrm>
          </p:grpSpPr>
          <p:grpSp>
            <p:nvGrpSpPr>
              <p:cNvPr id="130" name="Group 60">
                <a:extLst>
                  <a:ext uri="{FF2B5EF4-FFF2-40B4-BE49-F238E27FC236}">
                    <a16:creationId xmlns:a16="http://schemas.microsoft.com/office/drawing/2014/main" id="{0FBFE708-D698-B639-A1C1-7D5DB790A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9876" y="4999831"/>
                <a:ext cx="1708150" cy="744538"/>
                <a:chOff x="1318" y="3317"/>
                <a:chExt cx="1076" cy="469"/>
              </a:xfrm>
            </p:grpSpPr>
            <p:sp>
              <p:nvSpPr>
                <p:cNvPr id="131" name="Text Box 61">
                  <a:extLst>
                    <a:ext uri="{FF2B5EF4-FFF2-40B4-BE49-F238E27FC236}">
                      <a16:creationId xmlns:a16="http://schemas.microsoft.com/office/drawing/2014/main" id="{3E262228-F8F7-F166-215D-145A6DC8F2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9" y="3526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32" name="Text Box 62">
                  <a:extLst>
                    <a:ext uri="{FF2B5EF4-FFF2-40B4-BE49-F238E27FC236}">
                      <a16:creationId xmlns:a16="http://schemas.microsoft.com/office/drawing/2014/main" id="{AD1C4D20-28DE-613A-844A-24DAC5320D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18" y="3414"/>
                  <a:ext cx="107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m = K  (K   (m))</a:t>
                  </a:r>
                </a:p>
              </p:txBody>
            </p:sp>
            <p:sp>
              <p:nvSpPr>
                <p:cNvPr id="133" name="Text Box 63">
                  <a:extLst>
                    <a:ext uri="{FF2B5EF4-FFF2-40B4-BE49-F238E27FC236}">
                      <a16:creationId xmlns:a16="http://schemas.microsoft.com/office/drawing/2014/main" id="{AE4188A5-C0FA-B7BA-5050-6BFD150C29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332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34" name="Text Box 64">
                  <a:extLst>
                    <a:ext uri="{FF2B5EF4-FFF2-40B4-BE49-F238E27FC236}">
                      <a16:creationId xmlns:a16="http://schemas.microsoft.com/office/drawing/2014/main" id="{05832047-ACF0-5929-2D42-97ADEEED9C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534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35" name="Text Box 65">
                  <a:extLst>
                    <a:ext uri="{FF2B5EF4-FFF2-40B4-BE49-F238E27FC236}">
                      <a16:creationId xmlns:a16="http://schemas.microsoft.com/office/drawing/2014/main" id="{3CA9908B-3003-A00E-BFD2-E68320DA8D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5" y="3317"/>
                  <a:ext cx="16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7EA3342-F11C-2246-5E76-4A0B118D8003}"/>
                  </a:ext>
                </a:extLst>
              </p:cNvPr>
              <p:cNvSpPr txBox="1"/>
              <p:nvPr/>
            </p:nvSpPr>
            <p:spPr>
              <a:xfrm>
                <a:off x="359855" y="4949687"/>
                <a:ext cx="279416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Trudy recovers Bob’s m: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A8EDE1D-0303-C29D-B33A-4436B67C9821}"/>
                  </a:ext>
                </a:extLst>
              </p:cNvPr>
              <p:cNvSpPr txBox="1"/>
              <p:nvPr/>
            </p:nvSpPr>
            <p:spPr>
              <a:xfrm>
                <a:off x="392984" y="5605670"/>
                <a:ext cx="3012822" cy="762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and she and Bob meet a week later in person and discuss m, not knowing Trudy knows m</a:t>
                </a: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0610EBD-2A4B-F4F6-D7B6-A9E316140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437" y="2061628"/>
            <a:ext cx="1519772" cy="1077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5D081B-2341-2756-C631-28AA0AD1AFFC}"/>
              </a:ext>
            </a:extLst>
          </p:cNvPr>
          <p:cNvSpPr txBox="1"/>
          <p:nvPr/>
        </p:nvSpPr>
        <p:spPr>
          <a:xfrm>
            <a:off x="8533621" y="3744457"/>
            <a:ext cx="1789043" cy="9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400" i="1" dirty="0">
                <a:solidFill>
                  <a:srgbClr val="0012A0"/>
                </a:solidFill>
              </a:rPr>
              <a:t>Where are mistakes made here?</a:t>
            </a:r>
          </a:p>
        </p:txBody>
      </p:sp>
    </p:spTree>
    <p:extLst>
      <p:ext uri="{BB962C8B-B14F-4D97-AF65-F5344CB8AC3E}">
        <p14:creationId xmlns:p14="http://schemas.microsoft.com/office/powerpoint/2010/main" val="145923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247566-7DA7-1B43-9739-70BD8636B3D5}"/>
              </a:ext>
            </a:extLst>
          </p:cNvPr>
          <p:cNvSpPr txBox="1">
            <a:spLocks noChangeArrowheads="1"/>
          </p:cNvSpPr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cryptographic technique analogous to hand-written signatures:</a:t>
            </a:r>
          </a:p>
          <a:p>
            <a:r>
              <a:rPr lang="en-US" dirty="0"/>
              <a:t>sender (Bob) digitally signs document: he is document owner/creator. </a:t>
            </a:r>
          </a:p>
          <a:p>
            <a:r>
              <a:rPr lang="en-US" i="1" dirty="0">
                <a:solidFill>
                  <a:srgbClr val="000099"/>
                </a:solidFill>
              </a:rPr>
              <a:t>verifiable, nonforgeable:</a:t>
            </a:r>
            <a:r>
              <a:rPr lang="en-US" i="1" dirty="0"/>
              <a:t> </a:t>
            </a:r>
            <a:r>
              <a:rPr lang="en-US" dirty="0"/>
              <a:t>recipient (Alice) can prove to someone that Bob, and no one else (including Alice), must have signed document </a:t>
            </a:r>
          </a:p>
          <a:p>
            <a:r>
              <a:rPr lang="en-US" dirty="0">
                <a:solidFill>
                  <a:srgbClr val="C00000"/>
                </a:solidFill>
              </a:rPr>
              <a:t>simple digital signature for message m:</a:t>
            </a:r>
          </a:p>
          <a:p>
            <a:pPr lvl="1"/>
            <a:r>
              <a:rPr lang="en-US" dirty="0"/>
              <a:t>Bob signs m by encrypting with his private key </a:t>
            </a:r>
            <a:r>
              <a:rPr lang="en-US" altLang="ja-JP" dirty="0"/>
              <a:t>K</a:t>
            </a:r>
            <a:r>
              <a:rPr lang="en-US" altLang="ja-JP" baseline="-25000" dirty="0"/>
              <a:t>B</a:t>
            </a:r>
            <a:r>
              <a:rPr lang="en-US" altLang="ja-JP" baseline="30000" dirty="0"/>
              <a:t>-</a:t>
            </a:r>
            <a:r>
              <a:rPr lang="en-US" dirty="0"/>
              <a:t>, creating “</a:t>
            </a:r>
            <a:r>
              <a:rPr lang="en-US" altLang="ja-JP" dirty="0"/>
              <a:t>signed” message, K</a:t>
            </a:r>
            <a:r>
              <a:rPr lang="en-US" altLang="ja-JP" baseline="-25000" dirty="0"/>
              <a:t>B</a:t>
            </a:r>
            <a:r>
              <a:rPr lang="en-US" altLang="ja-JP" baseline="30000" dirty="0"/>
              <a:t>-</a:t>
            </a:r>
            <a:r>
              <a:rPr lang="en-US" altLang="ja-JP" dirty="0"/>
              <a:t>(m)</a:t>
            </a:r>
            <a:endParaRPr lang="en-US" dirty="0"/>
          </a:p>
          <a:p>
            <a:endParaRPr lang="en-US" dirty="0"/>
          </a:p>
        </p:txBody>
      </p:sp>
      <p:grpSp>
        <p:nvGrpSpPr>
          <p:cNvPr id="3" name="Group 2" descr="Example of on encrypting message to Alice using his private key. Since only Bob knows this, and Alice can decrypt using Bob’s publoic key, this provides a digital signature.">
            <a:extLst>
              <a:ext uri="{FF2B5EF4-FFF2-40B4-BE49-F238E27FC236}">
                <a16:creationId xmlns:a16="http://schemas.microsoft.com/office/drawing/2014/main" id="{F17846FB-D9EF-6246-2FAF-D80E547982D5}"/>
              </a:ext>
            </a:extLst>
          </p:cNvPr>
          <p:cNvGrpSpPr/>
          <p:nvPr/>
        </p:nvGrpSpPr>
        <p:grpSpPr>
          <a:xfrm>
            <a:off x="1593367" y="4385431"/>
            <a:ext cx="8075750" cy="2172943"/>
            <a:chOff x="1593367" y="4385431"/>
            <a:chExt cx="8075750" cy="2172943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16595CF5-7C18-5646-8CF5-290FD7343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367" y="4534793"/>
              <a:ext cx="2735262" cy="396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 message, m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999B2F42-1C49-3242-9F33-AABB02BA6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2692" y="5296793"/>
              <a:ext cx="1516891" cy="1147279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D59055E0-0F4A-D44C-9AF9-3829B5D57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2134" y="5344970"/>
              <a:ext cx="1368425" cy="1016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Public key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encryption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algorithm</a:t>
              </a:r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42BF7666-AEBA-894D-81D3-707283800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080" y="5773595"/>
              <a:ext cx="6746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" name="Text Box 13">
              <a:extLst>
                <a:ext uri="{FF2B5EF4-FFF2-40B4-BE49-F238E27FC236}">
                  <a16:creationId xmlns:a16="http://schemas.microsoft.com/office/drawing/2014/main" id="{DCB23176-B5BF-834E-BAE0-A1D3AA7AD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9454" y="4487168"/>
              <a:ext cx="176212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Bob’s private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key </a:t>
              </a:r>
            </a:p>
          </p:txBody>
        </p:sp>
        <p:pic>
          <p:nvPicPr>
            <p:cNvPr id="36" name="Picture 14" descr="BS00768_[1]">
              <a:extLst>
                <a:ext uri="{FF2B5EF4-FFF2-40B4-BE49-F238E27FC236}">
                  <a16:creationId xmlns:a16="http://schemas.microsoft.com/office/drawing/2014/main" id="{9DA5D995-915C-1E4A-94EE-8940D5B209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955692" y="4668143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7" name="Group 15">
              <a:extLst>
                <a:ext uri="{FF2B5EF4-FFF2-40B4-BE49-F238E27FC236}">
                  <a16:creationId xmlns:a16="http://schemas.microsoft.com/office/drawing/2014/main" id="{954129EF-8C19-B449-B2B5-A62BC61F2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7179" y="4436368"/>
              <a:ext cx="533400" cy="628650"/>
              <a:chOff x="2994" y="2058"/>
              <a:chExt cx="336" cy="396"/>
            </a:xfrm>
          </p:grpSpPr>
          <p:grpSp>
            <p:nvGrpSpPr>
              <p:cNvPr id="38" name="Group 16">
                <a:extLst>
                  <a:ext uri="{FF2B5EF4-FFF2-40B4-BE49-F238E27FC236}">
                    <a16:creationId xmlns:a16="http://schemas.microsoft.com/office/drawing/2014/main" id="{AEC95C76-7D3F-F94E-99AA-691126FDE9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36" cy="310"/>
                <a:chOff x="2994" y="2144"/>
                <a:chExt cx="336" cy="310"/>
              </a:xfrm>
            </p:grpSpPr>
            <p:sp>
              <p:nvSpPr>
                <p:cNvPr id="40" name="Text Box 17">
                  <a:extLst>
                    <a:ext uri="{FF2B5EF4-FFF2-40B4-BE49-F238E27FC236}">
                      <a16:creationId xmlns:a16="http://schemas.microsoft.com/office/drawing/2014/main" id="{9F552C79-49EC-5C4C-B858-52FE65A4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1" name="Text Box 18">
                  <a:extLst>
                    <a:ext uri="{FF2B5EF4-FFF2-40B4-BE49-F238E27FC236}">
                      <a16:creationId xmlns:a16="http://schemas.microsoft.com/office/drawing/2014/main" id="{56339FF9-7A5C-A049-BF66-D38AA27936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8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9" name="Text Box 19">
                <a:extLst>
                  <a:ext uri="{FF2B5EF4-FFF2-40B4-BE49-F238E27FC236}">
                    <a16:creationId xmlns:a16="http://schemas.microsoft.com/office/drawing/2014/main" id="{ED944B1D-3083-2A49-B687-9F8D79D0BA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0" y="2058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42" name="Line 20">
              <a:extLst>
                <a:ext uri="{FF2B5EF4-FFF2-40B4-BE49-F238E27FC236}">
                  <a16:creationId xmlns:a16="http://schemas.microsoft.com/office/drawing/2014/main" id="{38C448CC-0BC5-6A41-917E-B897438AC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0354" y="4820543"/>
              <a:ext cx="1588" cy="4699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Line 21">
              <a:extLst>
                <a:ext uri="{FF2B5EF4-FFF2-40B4-BE49-F238E27FC236}">
                  <a16:creationId xmlns:a16="http://schemas.microsoft.com/office/drawing/2014/main" id="{553D03E9-7542-F443-A643-1F22BEEF7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0784" y="5760343"/>
              <a:ext cx="6746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9865779-4372-244B-AC15-D7C762A8A14C}"/>
                </a:ext>
              </a:extLst>
            </p:cNvPr>
            <p:cNvGrpSpPr/>
            <p:nvPr/>
          </p:nvGrpSpPr>
          <p:grpSpPr>
            <a:xfrm>
              <a:off x="7968289" y="4385431"/>
              <a:ext cx="1164873" cy="638175"/>
              <a:chOff x="8750169" y="4275897"/>
              <a:chExt cx="1164873" cy="638175"/>
            </a:xfrm>
          </p:grpSpPr>
          <p:sp>
            <p:nvSpPr>
              <p:cNvPr id="45" name="Text Box 25">
                <a:extLst>
                  <a:ext uri="{FF2B5EF4-FFF2-40B4-BE49-F238E27FC236}">
                    <a16:creationId xmlns:a16="http://schemas.microsoft.com/office/drawing/2014/main" id="{AE8BE604-17AC-3A49-8448-5944CE37F5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0169" y="4421947"/>
                <a:ext cx="640645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m,K 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8DB8BE5-9950-C849-BB63-EABFBCCE07AF}"/>
                  </a:ext>
                </a:extLst>
              </p:cNvPr>
              <p:cNvGrpSpPr/>
              <p:nvPr/>
            </p:nvGrpSpPr>
            <p:grpSpPr>
              <a:xfrm>
                <a:off x="9211779" y="4275897"/>
                <a:ext cx="703263" cy="638175"/>
                <a:chOff x="9211779" y="4275897"/>
                <a:chExt cx="703263" cy="638175"/>
              </a:xfrm>
            </p:grpSpPr>
            <p:sp>
              <p:nvSpPr>
                <p:cNvPr id="46" name="Text Box 26">
                  <a:extLst>
                    <a:ext uri="{FF2B5EF4-FFF2-40B4-BE49-F238E27FC236}">
                      <a16:creationId xmlns:a16="http://schemas.microsoft.com/office/drawing/2014/main" id="{6CBE6BCA-4044-F741-9C69-F056784B3E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11779" y="4575935"/>
                  <a:ext cx="320675" cy="3381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  <p:sp>
              <p:nvSpPr>
                <p:cNvPr id="47" name="Text Box 27">
                  <a:extLst>
                    <a:ext uri="{FF2B5EF4-FFF2-40B4-BE49-F238E27FC236}">
                      <a16:creationId xmlns:a16="http://schemas.microsoft.com/office/drawing/2014/main" id="{20A71881-8E33-EF48-B5B1-0594382BD8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18129" y="4275897"/>
                  <a:ext cx="254000" cy="3381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48" name="Text Box 28">
                  <a:extLst>
                    <a:ext uri="{FF2B5EF4-FFF2-40B4-BE49-F238E27FC236}">
                      <a16:creationId xmlns:a16="http://schemas.microsoft.com/office/drawing/2014/main" id="{31057607-073D-AA4E-A320-B65BF92EF2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7179" y="4391785"/>
                  <a:ext cx="677863" cy="396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 (m)</a:t>
                  </a: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478CAE-5B04-A34F-8C28-C2A810B84E28}"/>
                </a:ext>
              </a:extLst>
            </p:cNvPr>
            <p:cNvGrpSpPr/>
            <p:nvPr/>
          </p:nvGrpSpPr>
          <p:grpSpPr>
            <a:xfrm>
              <a:off x="1918529" y="4921087"/>
              <a:ext cx="2217806" cy="1630659"/>
              <a:chOff x="1096894" y="4771797"/>
              <a:chExt cx="2217806" cy="1630659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A0305A02-B8E0-3346-A22A-2F64FC1E42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6894" y="4771797"/>
                <a:ext cx="2217806" cy="1630659"/>
              </a:xfrm>
              <a:prstGeom prst="rect">
                <a:avLst/>
              </a:prstGeom>
            </p:spPr>
          </p:pic>
          <p:sp>
            <p:nvSpPr>
              <p:cNvPr id="30" name="Text Box 8">
                <a:extLst>
                  <a:ext uri="{FF2B5EF4-FFF2-40B4-BE49-F238E27FC236}">
                    <a16:creationId xmlns:a16="http://schemas.microsoft.com/office/drawing/2014/main" id="{5F1CFD14-B851-C04A-89E6-CDCFCF5283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0614" y="4804604"/>
                <a:ext cx="2054086" cy="1524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Dear Alice</a:t>
                </a:r>
              </a:p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Oh, how I have missed you. I think of you all the time! …(blah blah blah)</a:t>
                </a:r>
              </a:p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Bob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0CDB89D-9227-A14E-80AF-B6C57E3CEDD2}"/>
                </a:ext>
              </a:extLst>
            </p:cNvPr>
            <p:cNvGrpSpPr/>
            <p:nvPr/>
          </p:nvGrpSpPr>
          <p:grpSpPr>
            <a:xfrm>
              <a:off x="7451311" y="4927715"/>
              <a:ext cx="2217806" cy="1630659"/>
              <a:chOff x="1096894" y="4771797"/>
              <a:chExt cx="2217806" cy="1630659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361D2D9-6A81-6349-AADE-831105308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6894" y="4771797"/>
                <a:ext cx="2217806" cy="1630659"/>
              </a:xfrm>
              <a:prstGeom prst="rect">
                <a:avLst/>
              </a:prstGeom>
            </p:spPr>
          </p:pic>
          <p:sp>
            <p:nvSpPr>
              <p:cNvPr id="55" name="Text Box 8">
                <a:extLst>
                  <a:ext uri="{FF2B5EF4-FFF2-40B4-BE49-F238E27FC236}">
                    <a16:creationId xmlns:a16="http://schemas.microsoft.com/office/drawing/2014/main" id="{CD849CC5-702A-8144-BED4-A4DAF79804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0614" y="4804604"/>
                <a:ext cx="2054086" cy="1524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Dear Alice</a:t>
                </a:r>
              </a:p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Oh, how I have missed you. I think of you all the time! …(blah blah blah)</a:t>
                </a:r>
              </a:p>
              <a:p>
                <a:pPr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+mn-lt"/>
                    <a:ea typeface="Arial Unicode MS" charset="0"/>
                    <a:cs typeface="Arial" charset="0"/>
                  </a:rPr>
                  <a:t>Bob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3A31556-A1E4-394E-A667-BE16E2A81C1A}"/>
                </a:ext>
              </a:extLst>
            </p:cNvPr>
            <p:cNvGrpSpPr/>
            <p:nvPr/>
          </p:nvGrpSpPr>
          <p:grpSpPr>
            <a:xfrm>
              <a:off x="8720518" y="5916355"/>
              <a:ext cx="893521" cy="638175"/>
              <a:chOff x="9021521" y="4275897"/>
              <a:chExt cx="893521" cy="638175"/>
            </a:xfrm>
          </p:grpSpPr>
          <p:sp>
            <p:nvSpPr>
              <p:cNvPr id="62" name="Text Box 25">
                <a:extLst>
                  <a:ext uri="{FF2B5EF4-FFF2-40B4-BE49-F238E27FC236}">
                    <a16:creationId xmlns:a16="http://schemas.microsoft.com/office/drawing/2014/main" id="{60E20416-5EA0-7543-AEAC-9857362CEE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1521" y="4421947"/>
                <a:ext cx="426720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AA3E933-BCD9-CF44-97BC-401ADFE6D39B}"/>
                  </a:ext>
                </a:extLst>
              </p:cNvPr>
              <p:cNvGrpSpPr/>
              <p:nvPr/>
            </p:nvGrpSpPr>
            <p:grpSpPr>
              <a:xfrm>
                <a:off x="9211779" y="4275897"/>
                <a:ext cx="703263" cy="638175"/>
                <a:chOff x="9211779" y="4275897"/>
                <a:chExt cx="703263" cy="638175"/>
              </a:xfrm>
            </p:grpSpPr>
            <p:sp>
              <p:nvSpPr>
                <p:cNvPr id="64" name="Text Box 26">
                  <a:extLst>
                    <a:ext uri="{FF2B5EF4-FFF2-40B4-BE49-F238E27FC236}">
                      <a16:creationId xmlns:a16="http://schemas.microsoft.com/office/drawing/2014/main" id="{11AB5857-3B67-DC42-A125-978DBBA950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11779" y="4575935"/>
                  <a:ext cx="320675" cy="3381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  <p:sp>
              <p:nvSpPr>
                <p:cNvPr id="65" name="Text Box 27">
                  <a:extLst>
                    <a:ext uri="{FF2B5EF4-FFF2-40B4-BE49-F238E27FC236}">
                      <a16:creationId xmlns:a16="http://schemas.microsoft.com/office/drawing/2014/main" id="{C46E62AB-3611-114F-AA86-E18C2ED70B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18129" y="4275897"/>
                  <a:ext cx="254000" cy="3381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66" name="Text Box 28">
                  <a:extLst>
                    <a:ext uri="{FF2B5EF4-FFF2-40B4-BE49-F238E27FC236}">
                      <a16:creationId xmlns:a16="http://schemas.microsoft.com/office/drawing/2014/main" id="{9AD6C1D1-4C86-BA42-8F13-7D86518601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37179" y="4391785"/>
                  <a:ext cx="677863" cy="396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 (m)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65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E86042F-3271-1D4E-B8DA-ABF93350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839" y="1135989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grpSp>
        <p:nvGrpSpPr>
          <p:cNvPr id="3" name="Group 2" descr="Formally, what Alice can conclude from this digital signing method:">
            <a:extLst>
              <a:ext uri="{FF2B5EF4-FFF2-40B4-BE49-F238E27FC236}">
                <a16:creationId xmlns:a16="http://schemas.microsoft.com/office/drawing/2014/main" id="{83AB8D43-8150-1B49-AF72-A5318307076B}"/>
              </a:ext>
            </a:extLst>
          </p:cNvPr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02B7BF4C-C3E8-E34C-B98E-4BD63E5307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Alice thus verifies that: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no one else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 and not m’</a:t>
              </a:r>
              <a:endParaRPr lang="en-US" altLang="ja-JP" sz="3000" dirty="0"/>
            </a:p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non-repudiation:</a:t>
              </a:r>
            </a:p>
            <a:p>
              <a:pPr marL="800100" lvl="1" indent="-342900">
                <a:buFont typeface="Wingdings" charset="0"/>
                <a:buChar char="ü"/>
              </a:pPr>
              <a:r>
                <a:rPr lang="en-US" sz="3000" dirty="0"/>
                <a:t>Alice can take m, and signature K</a:t>
              </a:r>
              <a:r>
                <a:rPr lang="en-US" sz="3000" baseline="-25000" dirty="0"/>
                <a:t>B</a:t>
              </a:r>
              <a:r>
                <a:rPr lang="en-US" sz="3000" dirty="0"/>
                <a:t>(m) to court and prove that Bob signed m</a:t>
              </a:r>
            </a:p>
            <a:p>
              <a:pPr marL="381000" indent="-381000">
                <a:buFont typeface="Wingdings" charset="0"/>
                <a:buChar char="ü"/>
              </a:pPr>
              <a:endParaRPr lang="en-US" sz="2400" dirty="0">
                <a:latin typeface="Gill Sans MT" charset="0"/>
              </a:endParaRPr>
            </a:p>
          </p:txBody>
        </p: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C773B6DE-E51B-254E-B064-733EB2A7F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2875" y="5312436"/>
              <a:ext cx="736600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sz="1800" dirty="0">
                  <a:latin typeface="Arial Unicode MS" charset="0"/>
                  <a:cs typeface="Arial Unicode MS" charset="0"/>
                </a:rPr>
                <a:t>-</a:t>
              </a:r>
            </a:p>
          </p:txBody>
        </p:sp>
      </p:grpSp>
      <p:sp>
        <p:nvSpPr>
          <p:cNvPr id="58" name="Rectangle 3">
            <a:extLst>
              <a:ext uri="{FF2B5EF4-FFF2-40B4-BE49-F238E27FC236}">
                <a16:creationId xmlns:a16="http://schemas.microsoft.com/office/drawing/2014/main" id="{5E59394B-2781-2E4C-8768-154AB5B6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25" y="1247775"/>
            <a:ext cx="112094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suppose Alice receives msg m, with signature: m,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verifies m signed by Bob by applying Bob’</a:t>
            </a:r>
            <a:r>
              <a:rPr lang="en-US" altLang="ja-JP" sz="2800" dirty="0">
                <a:latin typeface="+mn-lt"/>
              </a:rPr>
              <a:t>s public key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 to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then checks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If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 ) = m, whoever signed m must have used Bob’</a:t>
            </a:r>
            <a:r>
              <a:rPr lang="en-US" altLang="ja-JP" sz="2800" dirty="0">
                <a:latin typeface="+mn-lt"/>
              </a:rPr>
              <a:t>s private key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047B424C-87AE-D342-8A27-BAEB832E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054" y="274165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7" name="Text Box 7">
            <a:extLst>
              <a:ext uri="{FF2B5EF4-FFF2-40B4-BE49-F238E27FC236}">
                <a16:creationId xmlns:a16="http://schemas.microsoft.com/office/drawing/2014/main" id="{956480F6-18F7-0C41-A084-D1D19E48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1782" y="2168336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6726CCD4-8193-2F40-8804-69A46F7E8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5771" y="1718705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813668F-F8DE-834D-BFAE-B0EF3336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170" y="277499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0" name="Text Box 7">
            <a:extLst>
              <a:ext uri="{FF2B5EF4-FFF2-40B4-BE49-F238E27FC236}">
                <a16:creationId xmlns:a16="http://schemas.microsoft.com/office/drawing/2014/main" id="{546520CC-303A-8840-BFA6-458DDF08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9949" y="1734580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EE7C6A5-3E58-3B4D-A409-4A9F3B4D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952" y="2185798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0522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Message digests</a:t>
            </a:r>
            <a:endParaRPr lang="en-US" sz="4400" b="0" dirty="0">
              <a:latin typeface="+mn-lt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09ECB0-3A94-1341-9EBB-C98248A1F3FF}"/>
              </a:ext>
            </a:extLst>
          </p:cNvPr>
          <p:cNvSpPr txBox="1">
            <a:spLocks noChangeArrowheads="1"/>
          </p:cNvSpPr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500" dirty="0">
                <a:solidFill>
                  <a:srgbClr val="C00000"/>
                </a:solidFill>
              </a:rPr>
              <a:t>Hash function properties: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many-to-1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produces fixed-size message digest (fingerprint)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given message digest </a:t>
            </a:r>
            <a:r>
              <a:rPr lang="en-US" i="1" dirty="0"/>
              <a:t>x</a:t>
            </a:r>
            <a:r>
              <a:rPr lang="en-US" dirty="0"/>
              <a:t>, computationally infeasible to find </a:t>
            </a:r>
            <a:r>
              <a:rPr lang="en-US" i="1" dirty="0"/>
              <a:t>m</a:t>
            </a:r>
            <a:r>
              <a:rPr lang="en-US" dirty="0"/>
              <a:t> such that </a:t>
            </a:r>
            <a:r>
              <a:rPr lang="en-US" i="1" dirty="0"/>
              <a:t>x = H(m)</a:t>
            </a:r>
          </a:p>
          <a:p>
            <a:pPr>
              <a:buFont typeface="Wingdings" charset="0"/>
              <a:buNone/>
            </a:pPr>
            <a:endParaRPr lang="en-US" dirty="0"/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711DE-5BCA-8145-BDA5-E821E6B7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DFE7CF-2327-6543-8885-7E6CEA2AE74D}"/>
                </a:ext>
              </a:extLst>
            </p:cNvPr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172699-9F33-624E-8D39-A7D9A08A6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486B9566-CED3-D045-B265-EC988F366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206820"/>
                <a:ext cx="1343025" cy="8404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  <a:endParaRPr lang="en-US" sz="24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5199ACEC-B6E5-AA4B-809E-E39426DE3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0D215AFC-9F10-E34D-9606-16C9F04F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4352C06B-013A-3C40-A71C-475F92FB7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390" y="116177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40C2249D-AF39-5D43-890D-EB074882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H(m)</a:t>
              </a: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9AD0E0FC-0316-CA4F-8777-C03580EC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790" y="119490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FDC35326-ED1E-FE4D-9A93-19CE679A25DE}"/>
              </a:ext>
            </a:extLst>
          </p:cNvPr>
          <p:cNvSpPr txBox="1">
            <a:spLocks noChangeArrowheads="1"/>
          </p:cNvSpPr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3200" dirty="0"/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6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fixed-length, easy- to-compute digital “</a:t>
            </a:r>
            <a:r>
              <a:rPr lang="en-US" altLang="ja-JP" sz="3200" dirty="0"/>
              <a:t>fingerprint”</a:t>
            </a:r>
          </a:p>
          <a:p>
            <a:pPr>
              <a:spcBef>
                <a:spcPts val="400"/>
              </a:spcBef>
            </a:pPr>
            <a:r>
              <a:rPr lang="en-US" dirty="0"/>
              <a:t>apply hash function H to </a:t>
            </a:r>
            <a:r>
              <a:rPr lang="en-US" i="1" dirty="0"/>
              <a:t>m</a:t>
            </a:r>
            <a:r>
              <a:rPr lang="en-US" dirty="0"/>
              <a:t>, get fixed size message digest, </a:t>
            </a:r>
            <a:r>
              <a:rPr lang="en-US" i="1" dirty="0"/>
              <a:t>H(m)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3096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Internet checksum: poor crypto hash function</a:t>
            </a:r>
            <a:endParaRPr lang="en-US" sz="4400" b="0" dirty="0">
              <a:latin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5CFB9A6-2751-1D40-8575-CD4D580963CA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/>
              <a:t>Internet checksum has some properties of hash function: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produces fixed length digest (16-bit sum) of message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is many-to-one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E386E9F-CFF2-D246-BE26-B962F1FE1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2E96B89F-97B8-114A-A04F-39793039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8DC27A76-C869-6B4B-B25D-846EBAE9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327CE0C7-929E-3D43-819A-1FC457662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7CC79AF2-A056-4F4A-A6D7-116CB8909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80AE841F-F61F-A44E-825C-CBE562800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841" y="535056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180C5637-141F-164F-9BF7-AF14F2A4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68A9DA2C-57D1-A24F-B730-BCD4A1871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D844FFB7-DBBC-1A4D-B3C6-E6240D7D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B6EB42E9-A7D7-A949-973D-75A7C204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3C642FAA-D19F-A64A-B465-98452562F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3DF46F5E-D066-E043-AF4B-716096B09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8213104" y="533469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1516AFD8-E50A-A842-BB2A-6F9336429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888A2083-7EA3-994F-ABA1-BC6B9E23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0012A0"/>
                </a:solidFill>
                <a:latin typeface="+mn-lt"/>
                <a:cs typeface="Arial" charset="0"/>
              </a:rPr>
              <a:t>but identical checksums</a:t>
            </a:r>
            <a:r>
              <a:rPr lang="en-US" i="1" dirty="0">
                <a:latin typeface="+mn-lt"/>
                <a:cs typeface="Arial" charset="0"/>
              </a:rPr>
              <a:t>!</a:t>
            </a:r>
          </a:p>
        </p:txBody>
      </p:sp>
      <p:sp>
        <p:nvSpPr>
          <p:cNvPr id="39" name="Line 18">
            <a:extLst>
              <a:ext uri="{FF2B5EF4-FFF2-40B4-BE49-F238E27FC236}">
                <a16:creationId xmlns:a16="http://schemas.microsoft.com/office/drawing/2014/main" id="{91B6FCEC-BF46-924C-A488-4FF98F7C3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9354" y="5575990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8CCCD314-5330-6D49-9052-E25A95933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89241" y="5560115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52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 = signed message digest</a:t>
            </a:r>
          </a:p>
        </p:txBody>
      </p:sp>
      <p:grpSp>
        <p:nvGrpSpPr>
          <p:cNvPr id="3" name="Group 2" descr="Digital signatures using signed message digest">
            <a:extLst>
              <a:ext uri="{FF2B5EF4-FFF2-40B4-BE49-F238E27FC236}">
                <a16:creationId xmlns:a16="http://schemas.microsoft.com/office/drawing/2014/main" id="{51BB8EBE-DC77-0122-22EF-A175F713EDEF}"/>
              </a:ext>
            </a:extLst>
          </p:cNvPr>
          <p:cNvGrpSpPr/>
          <p:nvPr/>
        </p:nvGrpSpPr>
        <p:grpSpPr>
          <a:xfrm>
            <a:off x="796788" y="1348754"/>
            <a:ext cx="10891629" cy="5473244"/>
            <a:chOff x="796788" y="1348754"/>
            <a:chExt cx="10891629" cy="5473244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DEF39249-C525-1044-B18E-5DF6B1F9C731}"/>
                </a:ext>
              </a:extLst>
            </p:cNvPr>
            <p:cNvGrpSpPr/>
            <p:nvPr/>
          </p:nvGrpSpPr>
          <p:grpSpPr>
            <a:xfrm>
              <a:off x="4296054" y="3574460"/>
              <a:ext cx="1196163" cy="955675"/>
              <a:chOff x="4296054" y="3224833"/>
              <a:chExt cx="1196163" cy="955675"/>
            </a:xfrm>
          </p:grpSpPr>
          <p:sp>
            <p:nvSpPr>
              <p:cNvPr id="84" name="Rectangle 14">
                <a:extLst>
                  <a:ext uri="{FF2B5EF4-FFF2-40B4-BE49-F238E27FC236}">
                    <a16:creationId xmlns:a16="http://schemas.microsoft.com/office/drawing/2014/main" id="{CCD41351-883C-8B49-B15E-99ECE2D4E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054" y="3224833"/>
                <a:ext cx="1192213" cy="955675"/>
              </a:xfrm>
              <a:prstGeom prst="rect">
                <a:avLst/>
              </a:prstGeom>
              <a:solidFill>
                <a:srgbClr val="0012A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F444D081-AA34-024E-8458-B708CC893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719" y="3295856"/>
                <a:ext cx="1162498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digital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signature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(encrypt)</a:t>
                </a:r>
              </a:p>
            </p:txBody>
          </p:sp>
        </p:grpSp>
        <p:grpSp>
          <p:nvGrpSpPr>
            <p:cNvPr id="95" name="Group 25">
              <a:extLst>
                <a:ext uri="{FF2B5EF4-FFF2-40B4-BE49-F238E27FC236}">
                  <a16:creationId xmlns:a16="http://schemas.microsoft.com/office/drawing/2014/main" id="{F24A5ECF-CB3B-9542-8A84-EB2D480B9C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9737" y="5254657"/>
              <a:ext cx="846138" cy="519112"/>
              <a:chOff x="984" y="2831"/>
              <a:chExt cx="533" cy="327"/>
            </a:xfrm>
          </p:grpSpPr>
          <p:sp>
            <p:nvSpPr>
              <p:cNvPr id="96" name="Text Box 26">
                <a:extLst>
                  <a:ext uri="{FF2B5EF4-FFF2-40B4-BE49-F238E27FC236}">
                    <a16:creationId xmlns:a16="http://schemas.microsoft.com/office/drawing/2014/main" id="{43036DA1-DAA5-E64D-BD4A-16183B5951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4" y="2831"/>
                <a:ext cx="53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+</a:t>
                </a:r>
              </a:p>
            </p:txBody>
          </p:sp>
          <p:sp>
            <p:nvSpPr>
              <p:cNvPr id="97" name="Oval 27">
                <a:extLst>
                  <a:ext uri="{FF2B5EF4-FFF2-40B4-BE49-F238E27FC236}">
                    <a16:creationId xmlns:a16="http://schemas.microsoft.com/office/drawing/2014/main" id="{D0190EA0-B1F1-BB41-8527-B7DE7B3CB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924"/>
                <a:ext cx="195" cy="16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F58C3779-4B81-0744-9C3C-6395CFBCD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412" y="3384582"/>
              <a:ext cx="0" cy="19812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9" name="Line 29">
              <a:extLst>
                <a:ext uri="{FF2B5EF4-FFF2-40B4-BE49-F238E27FC236}">
                  <a16:creationId xmlns:a16="http://schemas.microsoft.com/office/drawing/2014/main" id="{074B9069-12AF-DC46-BFF3-3DD97A29C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425" y="5678519"/>
              <a:ext cx="3175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100" name="Picture 30" descr="BS00592_[1]">
              <a:extLst>
                <a:ext uri="{FF2B5EF4-FFF2-40B4-BE49-F238E27FC236}">
                  <a16:creationId xmlns:a16="http://schemas.microsoft.com/office/drawing/2014/main" id="{A353C0C9-83AB-CB4A-B367-C0C0237B1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4837" y="6007132"/>
              <a:ext cx="627063" cy="768350"/>
            </a:xfrm>
            <a:prstGeom prst="rect">
              <a:avLst/>
            </a:prstGeom>
            <a:noFill/>
            <a:ln>
              <a:noFill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1" name="Rectangle 31">
              <a:extLst>
                <a:ext uri="{FF2B5EF4-FFF2-40B4-BE49-F238E27FC236}">
                  <a16:creationId xmlns:a16="http://schemas.microsoft.com/office/drawing/2014/main" id="{B1BDC4E1-DD74-DE4C-8F80-855E91E8D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88" y="1348754"/>
              <a:ext cx="5389769" cy="546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75000"/>
                <a:buFont typeface="Wingdings" charset="0"/>
                <a:buNone/>
                <a:defRPr/>
              </a:pPr>
              <a:r>
                <a:rPr lang="en-US" sz="2800" dirty="0">
                  <a:solidFill>
                    <a:srgbClr val="000000"/>
                  </a:solidFill>
                  <a:ea typeface="ＭＳ Ｐゴシック" charset="0"/>
                </a:rPr>
                <a:t>Bob sends digitally signed message: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BAC604B-FEED-1542-8940-C030E497366C}"/>
                </a:ext>
              </a:extLst>
            </p:cNvPr>
            <p:cNvGrpSpPr/>
            <p:nvPr/>
          </p:nvGrpSpPr>
          <p:grpSpPr>
            <a:xfrm>
              <a:off x="1123264" y="2456721"/>
              <a:ext cx="1343025" cy="855306"/>
              <a:chOff x="434147" y="4121426"/>
              <a:chExt cx="1343025" cy="855306"/>
            </a:xfrm>
          </p:grpSpPr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5BB42433-5DF6-C44F-BDD6-65779EEAE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035" y="4121426"/>
                <a:ext cx="1153528" cy="848140"/>
              </a:xfrm>
              <a:prstGeom prst="rect">
                <a:avLst/>
              </a:prstGeom>
            </p:spPr>
          </p:pic>
          <p:sp>
            <p:nvSpPr>
              <p:cNvPr id="117" name="Text Box 7">
                <a:extLst>
                  <a:ext uri="{FF2B5EF4-FFF2-40B4-BE49-F238E27FC236}">
                    <a16:creationId xmlns:a16="http://schemas.microsoft.com/office/drawing/2014/main" id="{66B66418-0805-9348-B4DF-667D4778D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  <a:endParaRPr lang="en-US" sz="24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11" name="Rectangle 8">
              <a:extLst>
                <a:ext uri="{FF2B5EF4-FFF2-40B4-BE49-F238E27FC236}">
                  <a16:creationId xmlns:a16="http://schemas.microsoft.com/office/drawing/2014/main" id="{CA3DAA77-64B7-1042-8DCB-7AF45A2F0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461" y="2535614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12" name="Text Box 9">
              <a:extLst>
                <a:ext uri="{FF2B5EF4-FFF2-40B4-BE49-F238E27FC236}">
                  <a16:creationId xmlns:a16="http://schemas.microsoft.com/office/drawing/2014/main" id="{77F65553-DFEE-A044-B301-608E86F75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6277" y="2557356"/>
              <a:ext cx="1190625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113" name="Line 10">
              <a:extLst>
                <a:ext uri="{FF2B5EF4-FFF2-40B4-BE49-F238E27FC236}">
                  <a16:creationId xmlns:a16="http://schemas.microsoft.com/office/drawing/2014/main" id="{5E5DB4D6-107F-2548-A010-967052CB7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148" y="2902879"/>
              <a:ext cx="3710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4" name="Text Box 11">
              <a:extLst>
                <a:ext uri="{FF2B5EF4-FFF2-40B4-BE49-F238E27FC236}">
                  <a16:creationId xmlns:a16="http://schemas.microsoft.com/office/drawing/2014/main" id="{CCE58BB5-B800-3541-BEAF-15DF6A072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034" y="2678490"/>
              <a:ext cx="11668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H(m)</a:t>
              </a:r>
            </a:p>
          </p:txBody>
        </p:sp>
        <p:sp>
          <p:nvSpPr>
            <p:cNvPr id="115" name="Line 10">
              <a:extLst>
                <a:ext uri="{FF2B5EF4-FFF2-40B4-BE49-F238E27FC236}">
                  <a16:creationId xmlns:a16="http://schemas.microsoft.com/office/drawing/2014/main" id="{E853EA3C-9A61-EF49-AA07-C25D3B9A4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149" y="2949261"/>
              <a:ext cx="3805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6FE9FE0-FA56-1246-BBC9-6609138EAE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5550" y="5504723"/>
              <a:ext cx="20275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8BB38349-24AF-A040-AE21-18FF1706C30D}"/>
                </a:ext>
              </a:extLst>
            </p:cNvPr>
            <p:cNvCxnSpPr>
              <a:cxnSpLocks/>
            </p:cNvCxnSpPr>
            <p:nvPr/>
          </p:nvCxnSpPr>
          <p:spPr>
            <a:xfrm>
              <a:off x="4896678" y="3112706"/>
              <a:ext cx="0" cy="404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8AB17B7-C101-3B4C-8B67-952A3ECA45AB}"/>
                </a:ext>
              </a:extLst>
            </p:cNvPr>
            <p:cNvCxnSpPr>
              <a:cxnSpLocks/>
            </p:cNvCxnSpPr>
            <p:nvPr/>
          </p:nvCxnSpPr>
          <p:spPr>
            <a:xfrm>
              <a:off x="4890054" y="4577071"/>
              <a:ext cx="0" cy="404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32">
              <a:extLst>
                <a:ext uri="{FF2B5EF4-FFF2-40B4-BE49-F238E27FC236}">
                  <a16:creationId xmlns:a16="http://schemas.microsoft.com/office/drawing/2014/main" id="{2B56B630-D20C-0E48-AAD7-E33AEE10154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99583" y="1436272"/>
              <a:ext cx="5088834" cy="1057275"/>
            </a:xfrm>
            <a:prstGeom prst="rect">
              <a:avLst/>
            </a:prstGeom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>
              <a:no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Font typeface="Wingdings" charset="0"/>
                <a:buNone/>
              </a:pPr>
              <a:r>
                <a:rPr lang="en-US" dirty="0"/>
                <a:t>Alice verifies signature, integrity of digitally signed message:</a:t>
              </a:r>
            </a:p>
          </p:txBody>
        </p:sp>
        <p:pic>
          <p:nvPicPr>
            <p:cNvPr id="130" name="Picture 40" descr="BS00592_[1]">
              <a:extLst>
                <a:ext uri="{FF2B5EF4-FFF2-40B4-BE49-F238E27FC236}">
                  <a16:creationId xmlns:a16="http://schemas.microsoft.com/office/drawing/2014/main" id="{F490BD09-6CB3-B246-B4D6-6CD3F15CAF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5074" y="2762698"/>
              <a:ext cx="627062" cy="76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Text Box 53">
              <a:extLst>
                <a:ext uri="{FF2B5EF4-FFF2-40B4-BE49-F238E27FC236}">
                  <a16:creationId xmlns:a16="http://schemas.microsoft.com/office/drawing/2014/main" id="{A1C55E3A-B8B7-9549-95DA-6B2B3FCA1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5079" y="5001138"/>
              <a:ext cx="1017588" cy="646113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146" name="Text Box 56">
              <a:extLst>
                <a:ext uri="{FF2B5EF4-FFF2-40B4-BE49-F238E27FC236}">
                  <a16:creationId xmlns:a16="http://schemas.microsoft.com/office/drawing/2014/main" id="{C0071582-0553-9D4C-A577-8ED033785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6691" y="5817556"/>
              <a:ext cx="8731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  <p:sp>
          <p:nvSpPr>
            <p:cNvPr id="153" name="Text Box 63">
              <a:extLst>
                <a:ext uri="{FF2B5EF4-FFF2-40B4-BE49-F238E27FC236}">
                  <a16:creationId xmlns:a16="http://schemas.microsoft.com/office/drawing/2014/main" id="{9E337D23-C848-8145-B079-D4D6C7C113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4041" y="5793922"/>
              <a:ext cx="78477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H(m)</a:t>
              </a:r>
            </a:p>
          </p:txBody>
        </p:sp>
        <p:sp>
          <p:nvSpPr>
            <p:cNvPr id="154" name="Line 64">
              <a:extLst>
                <a:ext uri="{FF2B5EF4-FFF2-40B4-BE49-F238E27FC236}">
                  <a16:creationId xmlns:a16="http://schemas.microsoft.com/office/drawing/2014/main" id="{C9E8F389-B8AB-5043-9CC6-A9A006D5E1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90534" y="3212647"/>
              <a:ext cx="14493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6" name="Line 76">
              <a:extLst>
                <a:ext uri="{FF2B5EF4-FFF2-40B4-BE49-F238E27FC236}">
                  <a16:creationId xmlns:a16="http://schemas.microsoft.com/office/drawing/2014/main" id="{E136B6C7-FA1F-EA4C-8639-CE1F2D4A9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8272" y="6222547"/>
              <a:ext cx="873125" cy="211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67" name="Line 77">
              <a:extLst>
                <a:ext uri="{FF2B5EF4-FFF2-40B4-BE49-F238E27FC236}">
                  <a16:creationId xmlns:a16="http://schemas.microsoft.com/office/drawing/2014/main" id="{928DBF80-B664-AF47-AAD2-41EAC2164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85934" y="6216197"/>
              <a:ext cx="873125" cy="211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4835AEB4-A61F-0E40-BCF8-A126D96A9C7C}"/>
                </a:ext>
              </a:extLst>
            </p:cNvPr>
            <p:cNvGrpSpPr/>
            <p:nvPr/>
          </p:nvGrpSpPr>
          <p:grpSpPr>
            <a:xfrm>
              <a:off x="7225890" y="3841571"/>
              <a:ext cx="1343025" cy="855306"/>
              <a:chOff x="434147" y="4121426"/>
              <a:chExt cx="1343025" cy="855306"/>
            </a:xfrm>
          </p:grpSpPr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90AA764F-C6F5-F143-BF93-01B3B95A0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035" y="4121426"/>
                <a:ext cx="1153528" cy="848140"/>
              </a:xfrm>
              <a:prstGeom prst="rect">
                <a:avLst/>
              </a:prstGeom>
            </p:spPr>
          </p:pic>
          <p:sp>
            <p:nvSpPr>
              <p:cNvPr id="171" name="Text Box 7">
                <a:extLst>
                  <a:ext uri="{FF2B5EF4-FFF2-40B4-BE49-F238E27FC236}">
                    <a16:creationId xmlns:a16="http://schemas.microsoft.com/office/drawing/2014/main" id="{ECF19F4D-E8AE-F54C-A6AD-6FA62D5ED6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  <a:endParaRPr lang="en-US" sz="24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E33964-896C-AF4C-92FD-F359907E3C57}"/>
                </a:ext>
              </a:extLst>
            </p:cNvPr>
            <p:cNvGrpSpPr/>
            <p:nvPr/>
          </p:nvGrpSpPr>
          <p:grpSpPr>
            <a:xfrm>
              <a:off x="2762875" y="3827702"/>
              <a:ext cx="1491075" cy="812454"/>
              <a:chOff x="1914734" y="3557588"/>
              <a:chExt cx="1491075" cy="812454"/>
            </a:xfrm>
          </p:grpSpPr>
          <p:sp>
            <p:nvSpPr>
              <p:cNvPr id="86" name="Text Box 16">
                <a:extLst>
                  <a:ext uri="{FF2B5EF4-FFF2-40B4-BE49-F238E27FC236}">
                    <a16:creationId xmlns:a16="http://schemas.microsoft.com/office/drawing/2014/main" id="{19E2C28C-9A5F-914E-97E0-D15A78E187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734" y="3557588"/>
                <a:ext cx="960437" cy="688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Bob’s 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private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key </a:t>
                </a:r>
              </a:p>
            </p:txBody>
          </p:sp>
          <p:pic>
            <p:nvPicPr>
              <p:cNvPr id="87" name="Picture 17" descr="BS00768_[1]">
                <a:extLst>
                  <a:ext uri="{FF2B5EF4-FFF2-40B4-BE49-F238E27FC236}">
                    <a16:creationId xmlns:a16="http://schemas.microsoft.com/office/drawing/2014/main" id="{A3A39AD6-434F-0348-B359-E805575CB2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866129" y="3559038"/>
                <a:ext cx="458787" cy="23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8" name="Group 18">
                <a:extLst>
                  <a:ext uri="{FF2B5EF4-FFF2-40B4-BE49-F238E27FC236}">
                    <a16:creationId xmlns:a16="http://schemas.microsoft.com/office/drawing/2014/main" id="{9C9D4178-7FEF-594F-8CCF-1AFD1E30A8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7712" y="3765205"/>
                <a:ext cx="490538" cy="604837"/>
                <a:chOff x="2994" y="2073"/>
                <a:chExt cx="309" cy="381"/>
              </a:xfrm>
            </p:grpSpPr>
            <p:grpSp>
              <p:nvGrpSpPr>
                <p:cNvPr id="89" name="Group 19">
                  <a:extLst>
                    <a:ext uri="{FF2B5EF4-FFF2-40B4-BE49-F238E27FC236}">
                      <a16:creationId xmlns:a16="http://schemas.microsoft.com/office/drawing/2014/main" id="{A60DC2D3-52D9-8744-8609-C10E299AAB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309" cy="310"/>
                  <a:chOff x="2994" y="2144"/>
                  <a:chExt cx="309" cy="310"/>
                </a:xfrm>
              </p:grpSpPr>
              <p:sp>
                <p:nvSpPr>
                  <p:cNvPr id="91" name="Text Box 20">
                    <a:extLst>
                      <a:ext uri="{FF2B5EF4-FFF2-40B4-BE49-F238E27FC236}">
                        <a16:creationId xmlns:a16="http://schemas.microsoft.com/office/drawing/2014/main" id="{F3BED591-BCCB-2246-A254-61335DF2D6B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92" name="Text Box 21">
                    <a:extLst>
                      <a:ext uri="{FF2B5EF4-FFF2-40B4-BE49-F238E27FC236}">
                        <a16:creationId xmlns:a16="http://schemas.microsoft.com/office/drawing/2014/main" id="{17AB0DA2-1167-2D46-8632-CC1190C16D7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2241"/>
                    <a:ext cx="20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6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sp>
              <p:nvSpPr>
                <p:cNvPr id="90" name="Text Box 22">
                  <a:extLst>
                    <a:ext uri="{FF2B5EF4-FFF2-40B4-BE49-F238E27FC236}">
                      <a16:creationId xmlns:a16="http://schemas.microsoft.com/office/drawing/2014/main" id="{7587A174-D942-3D43-89B9-A23BF65DE1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073"/>
                  <a:ext cx="160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219823C-0FB1-8645-8287-EB4C5AA12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9461" y="3869635"/>
                <a:ext cx="5963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E649D0B-607E-EE43-B217-A547BE617F99}"/>
                </a:ext>
              </a:extLst>
            </p:cNvPr>
            <p:cNvGrpSpPr/>
            <p:nvPr/>
          </p:nvGrpSpPr>
          <p:grpSpPr>
            <a:xfrm>
              <a:off x="3922645" y="5033444"/>
              <a:ext cx="1855305" cy="908600"/>
              <a:chOff x="3922645" y="4683817"/>
              <a:chExt cx="1855305" cy="90860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6748C72-BC5C-0D43-9291-EF04370297D3}"/>
                  </a:ext>
                </a:extLst>
              </p:cNvPr>
              <p:cNvGrpSpPr/>
              <p:nvPr/>
            </p:nvGrpSpPr>
            <p:grpSpPr>
              <a:xfrm>
                <a:off x="3940106" y="4683817"/>
                <a:ext cx="1811339" cy="869051"/>
                <a:chOff x="4006366" y="4604305"/>
                <a:chExt cx="1811339" cy="869051"/>
              </a:xfrm>
            </p:grpSpPr>
            <p:grpSp>
              <p:nvGrpSpPr>
                <p:cNvPr id="103" name="Group 34">
                  <a:extLst>
                    <a:ext uri="{FF2B5EF4-FFF2-40B4-BE49-F238E27FC236}">
                      <a16:creationId xmlns:a16="http://schemas.microsoft.com/office/drawing/2014/main" id="{C9466280-BB4D-9548-9D44-4E595E9791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42479" y="4924081"/>
                  <a:ext cx="1465263" cy="549275"/>
                  <a:chOff x="2594" y="3062"/>
                  <a:chExt cx="923" cy="346"/>
                </a:xfrm>
              </p:grpSpPr>
              <p:sp>
                <p:nvSpPr>
                  <p:cNvPr id="106" name="Text Box 35">
                    <a:extLst>
                      <a:ext uri="{FF2B5EF4-FFF2-40B4-BE49-F238E27FC236}">
                        <a16:creationId xmlns:a16="http://schemas.microsoft.com/office/drawing/2014/main" id="{30C1FFBF-8C5A-3145-A216-83DF674976E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4" y="3158"/>
                    <a:ext cx="92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K</a:t>
                    </a:r>
                    <a:r>
                      <a:rPr kumimoji="0" lang="en-US" sz="2400" b="0" i="0" u="none" strike="noStrike" kern="0" cap="none" spc="0" normalizeH="0" baseline="-2500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B</a:t>
                    </a: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(H(m))</a:t>
                    </a:r>
                  </a:p>
                </p:txBody>
              </p:sp>
              <p:sp>
                <p:nvSpPr>
                  <p:cNvPr id="107" name="Text Box 36">
                    <a:extLst>
                      <a:ext uri="{FF2B5EF4-FFF2-40B4-BE49-F238E27FC236}">
                        <a16:creationId xmlns:a16="http://schemas.microsoft.com/office/drawing/2014/main" id="{12076172-D4A5-3847-ADDD-7C31F8E9408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04" y="3062"/>
                    <a:ext cx="53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sp>
              <p:nvSpPr>
                <p:cNvPr id="105" name="Text Box 38">
                  <a:extLst>
                    <a:ext uri="{FF2B5EF4-FFF2-40B4-BE49-F238E27FC236}">
                      <a16:creationId xmlns:a16="http://schemas.microsoft.com/office/drawing/2014/main" id="{58FF323C-65B7-E746-A44B-832C06C639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6366" y="4604305"/>
                  <a:ext cx="1811339" cy="5440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encrypted 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message digest</a:t>
                  </a: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469F7B-FDF8-594E-84C7-B40FE8CE7EBF}"/>
                  </a:ext>
                </a:extLst>
              </p:cNvPr>
              <p:cNvSpPr/>
              <p:nvPr/>
            </p:nvSpPr>
            <p:spPr>
              <a:xfrm>
                <a:off x="3922645" y="4691269"/>
                <a:ext cx="1855305" cy="90114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3272639B-DF97-714E-8070-A7C8696F2BD7}"/>
                </a:ext>
              </a:extLst>
            </p:cNvPr>
            <p:cNvGrpSpPr/>
            <p:nvPr/>
          </p:nvGrpSpPr>
          <p:grpSpPr>
            <a:xfrm>
              <a:off x="9680714" y="2893216"/>
              <a:ext cx="1855305" cy="908600"/>
              <a:chOff x="3922645" y="4683817"/>
              <a:chExt cx="1855305" cy="908600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EE4BB737-59C1-474D-94B9-031695A0036A}"/>
                  </a:ext>
                </a:extLst>
              </p:cNvPr>
              <p:cNvGrpSpPr/>
              <p:nvPr/>
            </p:nvGrpSpPr>
            <p:grpSpPr>
              <a:xfrm>
                <a:off x="3940106" y="4683817"/>
                <a:ext cx="1811339" cy="869051"/>
                <a:chOff x="4006366" y="4604305"/>
                <a:chExt cx="1811339" cy="869051"/>
              </a:xfrm>
            </p:grpSpPr>
            <p:grpSp>
              <p:nvGrpSpPr>
                <p:cNvPr id="180" name="Group 34">
                  <a:extLst>
                    <a:ext uri="{FF2B5EF4-FFF2-40B4-BE49-F238E27FC236}">
                      <a16:creationId xmlns:a16="http://schemas.microsoft.com/office/drawing/2014/main" id="{3A474D83-98EA-0945-BE7F-EF0F3D1861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42479" y="4924081"/>
                  <a:ext cx="1465263" cy="549275"/>
                  <a:chOff x="2594" y="3062"/>
                  <a:chExt cx="923" cy="346"/>
                </a:xfrm>
              </p:grpSpPr>
              <p:sp>
                <p:nvSpPr>
                  <p:cNvPr id="182" name="Text Box 35">
                    <a:extLst>
                      <a:ext uri="{FF2B5EF4-FFF2-40B4-BE49-F238E27FC236}">
                        <a16:creationId xmlns:a16="http://schemas.microsoft.com/office/drawing/2014/main" id="{B4BFDBE1-B0AE-C944-923B-0FB222D9368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94" y="3158"/>
                    <a:ext cx="92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K</a:t>
                    </a:r>
                    <a:r>
                      <a:rPr kumimoji="0" lang="en-US" sz="2400" b="0" i="0" u="none" strike="noStrike" kern="0" cap="none" spc="0" normalizeH="0" baseline="-2500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B</a:t>
                    </a: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(H(m))</a:t>
                    </a:r>
                  </a:p>
                </p:txBody>
              </p:sp>
              <p:sp>
                <p:nvSpPr>
                  <p:cNvPr id="183" name="Text Box 36">
                    <a:extLst>
                      <a:ext uri="{FF2B5EF4-FFF2-40B4-BE49-F238E27FC236}">
                        <a16:creationId xmlns:a16="http://schemas.microsoft.com/office/drawing/2014/main" id="{72BF8384-456B-A944-BDC5-136549DED3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04" y="3062"/>
                    <a:ext cx="53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sp>
              <p:nvSpPr>
                <p:cNvPr id="181" name="Text Box 38">
                  <a:extLst>
                    <a:ext uri="{FF2B5EF4-FFF2-40B4-BE49-F238E27FC236}">
                      <a16:creationId xmlns:a16="http://schemas.microsoft.com/office/drawing/2014/main" id="{5C4C32ED-C92A-D34E-83F0-5A60D46E1B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6366" y="4604305"/>
                  <a:ext cx="1811339" cy="5440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encrypted 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+mn-lt"/>
                      <a:ea typeface="ＭＳ Ｐゴシック" charset="0"/>
                      <a:cs typeface="Arial" charset="0"/>
                    </a:rPr>
                    <a:t>message digest</a:t>
                  </a: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27611C3-F7BF-504D-BDE0-60EB822045DF}"/>
                  </a:ext>
                </a:extLst>
              </p:cNvPr>
              <p:cNvSpPr/>
              <p:nvPr/>
            </p:nvSpPr>
            <p:spPr>
              <a:xfrm>
                <a:off x="3922645" y="4691269"/>
                <a:ext cx="1855305" cy="90114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834FC27D-E26C-7D45-8F7D-8D201F9D1327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3575093"/>
              <a:ext cx="0" cy="2556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C20EAE69-54A8-5647-A90F-1B7B2600C816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4721955"/>
              <a:ext cx="0" cy="2556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4A7A7AA8-3031-8E48-8587-B178226D9C5B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5670768"/>
              <a:ext cx="0" cy="2556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57AE4029-112C-CF40-B41E-A26EECCD4A51}"/>
                </a:ext>
              </a:extLst>
            </p:cNvPr>
            <p:cNvGrpSpPr/>
            <p:nvPr/>
          </p:nvGrpSpPr>
          <p:grpSpPr>
            <a:xfrm>
              <a:off x="10040871" y="4330385"/>
              <a:ext cx="1196163" cy="955675"/>
              <a:chOff x="4296054" y="3224833"/>
              <a:chExt cx="1196163" cy="955675"/>
            </a:xfrm>
          </p:grpSpPr>
          <p:sp>
            <p:nvSpPr>
              <p:cNvPr id="191" name="Rectangle 14">
                <a:extLst>
                  <a:ext uri="{FF2B5EF4-FFF2-40B4-BE49-F238E27FC236}">
                    <a16:creationId xmlns:a16="http://schemas.microsoft.com/office/drawing/2014/main" id="{2C63D620-97A5-5F45-85C2-D4A6B4ADE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054" y="3224833"/>
                <a:ext cx="1192213" cy="955675"/>
              </a:xfrm>
              <a:prstGeom prst="rect">
                <a:avLst/>
              </a:prstGeom>
              <a:solidFill>
                <a:srgbClr val="0012A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2" name="Text Box 15">
                <a:extLst>
                  <a:ext uri="{FF2B5EF4-FFF2-40B4-BE49-F238E27FC236}">
                    <a16:creationId xmlns:a16="http://schemas.microsoft.com/office/drawing/2014/main" id="{0B18E250-70E3-444A-8ACC-CD29158E9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719" y="3295856"/>
                <a:ext cx="1162498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digital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signature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(decrypt)</a:t>
                </a:r>
              </a:p>
            </p:txBody>
          </p:sp>
        </p:grp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898EB7A9-23BB-5343-B2B1-EC1055BBBBC6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495" y="3868631"/>
              <a:ext cx="0" cy="404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B2E8B7A-0FF0-AD49-8BCC-0F3FA0572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634871" y="5332996"/>
              <a:ext cx="0" cy="404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171B8A9C-6EB6-FD43-8531-A67FEE184BB2}"/>
                </a:ext>
              </a:extLst>
            </p:cNvPr>
            <p:cNvGrpSpPr/>
            <p:nvPr/>
          </p:nvGrpSpPr>
          <p:grpSpPr>
            <a:xfrm>
              <a:off x="8507692" y="4583627"/>
              <a:ext cx="1491075" cy="812454"/>
              <a:chOff x="1914734" y="3557588"/>
              <a:chExt cx="1491075" cy="812454"/>
            </a:xfrm>
          </p:grpSpPr>
          <p:sp>
            <p:nvSpPr>
              <p:cNvPr id="196" name="Text Box 16">
                <a:extLst>
                  <a:ext uri="{FF2B5EF4-FFF2-40B4-BE49-F238E27FC236}">
                    <a16:creationId xmlns:a16="http://schemas.microsoft.com/office/drawing/2014/main" id="{27560837-1C52-4C48-94FE-2E10581CC7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734" y="3557588"/>
                <a:ext cx="960437" cy="688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Bob’s 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public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key </a:t>
                </a:r>
              </a:p>
            </p:txBody>
          </p:sp>
          <p:pic>
            <p:nvPicPr>
              <p:cNvPr id="197" name="Picture 17" descr="BS00768_[1]">
                <a:extLst>
                  <a:ext uri="{FF2B5EF4-FFF2-40B4-BE49-F238E27FC236}">
                    <a16:creationId xmlns:a16="http://schemas.microsoft.com/office/drawing/2014/main" id="{53D412DD-734D-634A-BE12-66848A93BC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866129" y="3559038"/>
                <a:ext cx="458787" cy="23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98" name="Group 18">
                <a:extLst>
                  <a:ext uri="{FF2B5EF4-FFF2-40B4-BE49-F238E27FC236}">
                    <a16:creationId xmlns:a16="http://schemas.microsoft.com/office/drawing/2014/main" id="{0B4DDFE1-EDF2-5B45-B8E0-30A2652C5E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7712" y="3765205"/>
                <a:ext cx="490538" cy="604837"/>
                <a:chOff x="2994" y="2073"/>
                <a:chExt cx="309" cy="381"/>
              </a:xfrm>
            </p:grpSpPr>
            <p:grpSp>
              <p:nvGrpSpPr>
                <p:cNvPr id="200" name="Group 19">
                  <a:extLst>
                    <a:ext uri="{FF2B5EF4-FFF2-40B4-BE49-F238E27FC236}">
                      <a16:creationId xmlns:a16="http://schemas.microsoft.com/office/drawing/2014/main" id="{5383C6D8-058F-4A41-B601-80BE0F38EB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309" cy="310"/>
                  <a:chOff x="2994" y="2144"/>
                  <a:chExt cx="309" cy="310"/>
                </a:xfrm>
              </p:grpSpPr>
              <p:sp>
                <p:nvSpPr>
                  <p:cNvPr id="202" name="Text Box 20">
                    <a:extLst>
                      <a:ext uri="{FF2B5EF4-FFF2-40B4-BE49-F238E27FC236}">
                        <a16:creationId xmlns:a16="http://schemas.microsoft.com/office/drawing/2014/main" id="{8DDFD6D6-CFB2-A543-803B-E0D225340E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203" name="Text Box 21">
                    <a:extLst>
                      <a:ext uri="{FF2B5EF4-FFF2-40B4-BE49-F238E27FC236}">
                        <a16:creationId xmlns:a16="http://schemas.microsoft.com/office/drawing/2014/main" id="{04FCED81-808C-4B40-8559-2FE4E66FE04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2241"/>
                    <a:ext cx="20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6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sp>
              <p:nvSpPr>
                <p:cNvPr id="201" name="Text Box 22">
                  <a:extLst>
                    <a:ext uri="{FF2B5EF4-FFF2-40B4-BE49-F238E27FC236}">
                      <a16:creationId xmlns:a16="http://schemas.microsoft.com/office/drawing/2014/main" id="{22667D2E-474F-C04F-9EF1-65999F53AB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6" y="2073"/>
                  <a:ext cx="19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C58EDE71-07B3-4841-A2B5-5F1C258FE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9461" y="3869635"/>
                <a:ext cx="5963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BCCA618-927B-9C45-B38A-F3EA61772599}"/>
                </a:ext>
              </a:extLst>
            </p:cNvPr>
            <p:cNvSpPr txBox="1"/>
            <p:nvPr/>
          </p:nvSpPr>
          <p:spPr>
            <a:xfrm>
              <a:off x="8203097" y="6422850"/>
              <a:ext cx="1789043" cy="399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equal?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341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Hash function algorithms</a:t>
            </a: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BF9FAD4A-FE78-7446-845F-6232B124B138}"/>
              </a:ext>
            </a:extLst>
          </p:cNvPr>
          <p:cNvSpPr txBox="1">
            <a:spLocks noChangeArrowheads="1"/>
          </p:cNvSpPr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>
                <a:solidFill>
                  <a:srgbClr val="C00000"/>
                </a:solidFill>
              </a:rPr>
              <a:t>MD5 hash function widely used (RFC 1321) </a:t>
            </a:r>
          </a:p>
          <a:p>
            <a:pPr lvl="1"/>
            <a:r>
              <a:rPr lang="en-US" sz="2800" dirty="0"/>
              <a:t>computes 128-bit message digest in 4-step process. </a:t>
            </a:r>
          </a:p>
          <a:p>
            <a:pPr lvl="1"/>
            <a:r>
              <a:rPr lang="en-US" sz="2800" dirty="0"/>
              <a:t>arbitrary 128-bit string x, appears difficult to construct msg m whose MD5 hash is equal to x</a:t>
            </a:r>
          </a:p>
          <a:p>
            <a:pPr indent="-287338"/>
            <a:r>
              <a:rPr lang="en-US" sz="3200" dirty="0">
                <a:solidFill>
                  <a:srgbClr val="C00000"/>
                </a:solidFill>
              </a:rPr>
              <a:t>SHA-1 is also used</a:t>
            </a:r>
          </a:p>
          <a:p>
            <a:pPr lvl="1"/>
            <a:r>
              <a:rPr lang="en-US" sz="2800" dirty="0"/>
              <a:t>US standard [</a:t>
            </a:r>
            <a:r>
              <a:rPr lang="en-US" dirty="0"/>
              <a:t>NIST, FIPS PUB 180-1]</a:t>
            </a:r>
            <a:endParaRPr lang="en-US" sz="2800" dirty="0"/>
          </a:p>
          <a:p>
            <a:pPr lvl="1"/>
            <a:r>
              <a:rPr lang="en-US" sz="2800" dirty="0"/>
              <a:t>160-bit message digest</a:t>
            </a:r>
          </a:p>
        </p:txBody>
      </p:sp>
    </p:spTree>
    <p:extLst>
      <p:ext uri="{BB962C8B-B14F-4D97-AF65-F5344CB8AC3E}">
        <p14:creationId xmlns:p14="http://schemas.microsoft.com/office/powerpoint/2010/main" val="40927898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let’s fix it!!</a:t>
            </a:r>
            <a:endParaRPr lang="en-US" sz="4400" b="0" dirty="0">
              <a:latin typeface="+mn-lt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865909" y="1170523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Recall the problem: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6" name="Group 5" descr="The “man-in-the-middle” attack scenario">
            <a:extLst>
              <a:ext uri="{FF2B5EF4-FFF2-40B4-BE49-F238E27FC236}">
                <a16:creationId xmlns:a16="http://schemas.microsoft.com/office/drawing/2014/main" id="{53E64DB8-E639-1B0D-F89E-6941408DBE81}"/>
              </a:ext>
            </a:extLst>
          </p:cNvPr>
          <p:cNvGrpSpPr/>
          <p:nvPr/>
        </p:nvGrpSpPr>
        <p:grpSpPr>
          <a:xfrm>
            <a:off x="359855" y="2061628"/>
            <a:ext cx="11116528" cy="4306687"/>
            <a:chOff x="359855" y="2061628"/>
            <a:chExt cx="11116528" cy="4306687"/>
          </a:xfrm>
        </p:grpSpPr>
        <p:pic>
          <p:nvPicPr>
            <p:cNvPr id="64" name="Picture 4" descr="Bob">
              <a:extLst>
                <a:ext uri="{FF2B5EF4-FFF2-40B4-BE49-F238E27FC236}">
                  <a16:creationId xmlns:a16="http://schemas.microsoft.com/office/drawing/2014/main" id="{D6CDB079-52DB-9B4C-8BD8-117DDA0094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173680" y="2346395"/>
              <a:ext cx="686620" cy="701605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7" name="Picture 6" descr="Alice">
              <a:extLst>
                <a:ext uri="{FF2B5EF4-FFF2-40B4-BE49-F238E27FC236}">
                  <a16:creationId xmlns:a16="http://schemas.microsoft.com/office/drawing/2014/main" id="{35BF2A26-939A-ED42-8C3B-750D5A282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35532" y="2208766"/>
              <a:ext cx="605867" cy="746469"/>
            </a:xfrm>
            <a:prstGeom prst="rect">
              <a:avLst/>
            </a:prstGeom>
            <a:noFill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79437DE-57B2-5F45-AFD8-823112AD8B93}"/>
                </a:ext>
              </a:extLst>
            </p:cNvPr>
            <p:cNvGrpSpPr/>
            <p:nvPr/>
          </p:nvGrpSpPr>
          <p:grpSpPr>
            <a:xfrm>
              <a:off x="2221395" y="2408377"/>
              <a:ext cx="2600947" cy="400110"/>
              <a:chOff x="2221395" y="2408377"/>
              <a:chExt cx="2600947" cy="400110"/>
            </a:xfrm>
          </p:grpSpPr>
          <p:sp>
            <p:nvSpPr>
              <p:cNvPr id="68" name="Line 7">
                <a:extLst>
                  <a:ext uri="{FF2B5EF4-FFF2-40B4-BE49-F238E27FC236}">
                    <a16:creationId xmlns:a16="http://schemas.microsoft.com/office/drawing/2014/main" id="{BAE84CEB-2188-9B49-8900-55888CE65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2638357"/>
                <a:ext cx="26009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69" name="Text Box 8">
                <a:extLst>
                  <a:ext uri="{FF2B5EF4-FFF2-40B4-BE49-F238E27FC236}">
                    <a16:creationId xmlns:a16="http://schemas.microsoft.com/office/drawing/2014/main" id="{EAA100F5-6829-2346-AD39-BFFCDC0479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4235" y="2408377"/>
                <a:ext cx="1197765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2AF670-7BF8-5144-BED7-C2477D0DA3B8}"/>
                </a:ext>
              </a:extLst>
            </p:cNvPr>
            <p:cNvGrpSpPr/>
            <p:nvPr/>
          </p:nvGrpSpPr>
          <p:grpSpPr>
            <a:xfrm>
              <a:off x="6760197" y="2448063"/>
              <a:ext cx="2249487" cy="400110"/>
              <a:chOff x="6760197" y="2448063"/>
              <a:chExt cx="2249487" cy="400110"/>
            </a:xfrm>
          </p:grpSpPr>
          <p:sp>
            <p:nvSpPr>
              <p:cNvPr id="79" name="Line 9">
                <a:extLst>
                  <a:ext uri="{FF2B5EF4-FFF2-40B4-BE49-F238E27FC236}">
                    <a16:creationId xmlns:a16="http://schemas.microsoft.com/office/drawing/2014/main" id="{EC9876A0-DBA0-2C42-9FDC-0088EEA72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0197" y="2678044"/>
                <a:ext cx="22494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80" name="Text Box 10">
                <a:extLst>
                  <a:ext uri="{FF2B5EF4-FFF2-40B4-BE49-F238E27FC236}">
                    <a16:creationId xmlns:a16="http://schemas.microsoft.com/office/drawing/2014/main" id="{69B83F9F-D8CF-DF4A-86AD-8C61057964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8812" y="2448063"/>
                <a:ext cx="1197765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AF17D91-118F-0447-BE00-334C96F42171}"/>
                </a:ext>
              </a:extLst>
            </p:cNvPr>
            <p:cNvGrpSpPr/>
            <p:nvPr/>
          </p:nvGrpSpPr>
          <p:grpSpPr>
            <a:xfrm>
              <a:off x="6864626" y="3360738"/>
              <a:ext cx="2333079" cy="389626"/>
              <a:chOff x="6864626" y="3360738"/>
              <a:chExt cx="2333079" cy="389626"/>
            </a:xfrm>
          </p:grpSpPr>
          <p:sp>
            <p:nvSpPr>
              <p:cNvPr id="89" name="Line 19">
                <a:extLst>
                  <a:ext uri="{FF2B5EF4-FFF2-40B4-BE49-F238E27FC236}">
                    <a16:creationId xmlns:a16="http://schemas.microsoft.com/office/drawing/2014/main" id="{A6C6A964-9580-7E4F-9884-60F6E22AC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864626" y="3363843"/>
                <a:ext cx="2167283" cy="3865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90" name="Text Box 20">
                <a:extLst>
                  <a:ext uri="{FF2B5EF4-FFF2-40B4-BE49-F238E27FC236}">
                    <a16:creationId xmlns:a16="http://schemas.microsoft.com/office/drawing/2014/main" id="{2FF9CBBE-857A-EF4D-AF73-E08C7695B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7549" y="3360738"/>
                <a:ext cx="221015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latin typeface="+mn-lt"/>
                    <a:cs typeface="Arial" charset="0"/>
                  </a:rPr>
                  <a:t>Send me your public key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FCF990B-2008-4D4C-BFAC-79816130E688}"/>
                </a:ext>
              </a:extLst>
            </p:cNvPr>
            <p:cNvGrpSpPr/>
            <p:nvPr/>
          </p:nvGrpSpPr>
          <p:grpSpPr>
            <a:xfrm>
              <a:off x="2221395" y="3978760"/>
              <a:ext cx="2580245" cy="434214"/>
              <a:chOff x="2221395" y="3978760"/>
              <a:chExt cx="2580245" cy="434214"/>
            </a:xfrm>
          </p:grpSpPr>
          <p:sp>
            <p:nvSpPr>
              <p:cNvPr id="104" name="Line 34">
                <a:extLst>
                  <a:ext uri="{FF2B5EF4-FFF2-40B4-BE49-F238E27FC236}">
                    <a16:creationId xmlns:a16="http://schemas.microsoft.com/office/drawing/2014/main" id="{A657ABF9-4379-424D-8DBD-4923C3E8E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1395" y="4074629"/>
                <a:ext cx="2546972" cy="3383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105" name="Text Box 35">
                <a:extLst>
                  <a:ext uri="{FF2B5EF4-FFF2-40B4-BE49-F238E27FC236}">
                    <a16:creationId xmlns:a16="http://schemas.microsoft.com/office/drawing/2014/main" id="{23DC7344-6347-424A-9ADA-070D86675B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1484" y="3978760"/>
                <a:ext cx="221015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dirty="0">
                    <a:latin typeface="+mn-lt"/>
                    <a:cs typeface="Arial" charset="0"/>
                  </a:rPr>
                  <a:t>Send me your public key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5A9432D-6DAF-DF41-AF7B-1ACAA7FB60B6}"/>
                </a:ext>
              </a:extLst>
            </p:cNvPr>
            <p:cNvGrpSpPr/>
            <p:nvPr/>
          </p:nvGrpSpPr>
          <p:grpSpPr>
            <a:xfrm>
              <a:off x="4877761" y="4634119"/>
              <a:ext cx="2477195" cy="1601637"/>
              <a:chOff x="4877761" y="4634119"/>
              <a:chExt cx="2477195" cy="1601637"/>
            </a:xfrm>
          </p:grpSpPr>
          <p:grpSp>
            <p:nvGrpSpPr>
              <p:cNvPr id="117" name="Group 47">
                <a:extLst>
                  <a:ext uri="{FF2B5EF4-FFF2-40B4-BE49-F238E27FC236}">
                    <a16:creationId xmlns:a16="http://schemas.microsoft.com/office/drawing/2014/main" id="{1230FA28-6F88-CF44-B39D-CD6BC48DCA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05100" y="4794941"/>
                <a:ext cx="1708150" cy="749301"/>
                <a:chOff x="1318" y="3314"/>
                <a:chExt cx="1076" cy="472"/>
              </a:xfrm>
            </p:grpSpPr>
            <p:sp>
              <p:nvSpPr>
                <p:cNvPr id="118" name="Text Box 48">
                  <a:extLst>
                    <a:ext uri="{FF2B5EF4-FFF2-40B4-BE49-F238E27FC236}">
                      <a16:creationId xmlns:a16="http://schemas.microsoft.com/office/drawing/2014/main" id="{C7DADDA6-E384-1A45-A0E0-B9D1678FAA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66" y="3526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19" name="Text Box 49">
                  <a:extLst>
                    <a:ext uri="{FF2B5EF4-FFF2-40B4-BE49-F238E27FC236}">
                      <a16:creationId xmlns:a16="http://schemas.microsoft.com/office/drawing/2014/main" id="{2B1CEE1E-449F-2A4B-B0AB-7D3D807DEB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18" y="3414"/>
                  <a:ext cx="107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m = K  (K   (m))</a:t>
                  </a:r>
                </a:p>
              </p:txBody>
            </p:sp>
            <p:sp>
              <p:nvSpPr>
                <p:cNvPr id="120" name="Text Box 50">
                  <a:extLst>
                    <a:ext uri="{FF2B5EF4-FFF2-40B4-BE49-F238E27FC236}">
                      <a16:creationId xmlns:a16="http://schemas.microsoft.com/office/drawing/2014/main" id="{6FF68A8B-B778-FC4B-B0D8-EFD30B766A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332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21" name="Text Box 51">
                  <a:extLst>
                    <a:ext uri="{FF2B5EF4-FFF2-40B4-BE49-F238E27FC236}">
                      <a16:creationId xmlns:a16="http://schemas.microsoft.com/office/drawing/2014/main" id="{B5DFE2D6-4F99-7F47-A88A-E8F85515D1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0" y="3534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22" name="Text Box 52">
                  <a:extLst>
                    <a:ext uri="{FF2B5EF4-FFF2-40B4-BE49-F238E27FC236}">
                      <a16:creationId xmlns:a16="http://schemas.microsoft.com/office/drawing/2014/main" id="{AFEF1BDB-35E1-6242-A4AA-4F93CD33B0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8" y="3314"/>
                  <a:ext cx="16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23" name="Text Box 53">
                <a:extLst>
                  <a:ext uri="{FF2B5EF4-FFF2-40B4-BE49-F238E27FC236}">
                    <a16:creationId xmlns:a16="http://schemas.microsoft.com/office/drawing/2014/main" id="{95CBCE4C-74E4-A943-878F-093245F3DC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7761" y="4634119"/>
                <a:ext cx="2054794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Trudy recovers m:</a:t>
                </a:r>
              </a:p>
            </p:txBody>
          </p:sp>
          <p:sp>
            <p:nvSpPr>
              <p:cNvPr id="124" name="Text Box 54">
                <a:extLst>
                  <a:ext uri="{FF2B5EF4-FFF2-40B4-BE49-F238E27FC236}">
                    <a16:creationId xmlns:a16="http://schemas.microsoft.com/office/drawing/2014/main" id="{4ECC7DF6-AFF2-E24B-B6D3-787C294743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33950" y="5398604"/>
                <a:ext cx="2421006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sends m to Alice encrypted with Alice’s public key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2F41447-836E-024C-9290-7172DDC4575F}"/>
                </a:ext>
              </a:extLst>
            </p:cNvPr>
            <p:cNvGrpSpPr/>
            <p:nvPr/>
          </p:nvGrpSpPr>
          <p:grpSpPr>
            <a:xfrm>
              <a:off x="6828459" y="2851424"/>
              <a:ext cx="2249488" cy="673654"/>
              <a:chOff x="6828459" y="2851424"/>
              <a:chExt cx="2249488" cy="673654"/>
            </a:xfrm>
          </p:grpSpPr>
          <p:sp>
            <p:nvSpPr>
              <p:cNvPr id="83" name="Line 13">
                <a:extLst>
                  <a:ext uri="{FF2B5EF4-FFF2-40B4-BE49-F238E27FC236}">
                    <a16:creationId xmlns:a16="http://schemas.microsoft.com/office/drawing/2014/main" id="{2B2FCC1F-3FE7-7B46-807C-F140932F0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8459" y="3195569"/>
                <a:ext cx="2249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DE6D2A4-608E-2545-8F28-32423BB333C4}"/>
                  </a:ext>
                </a:extLst>
              </p:cNvPr>
              <p:cNvGrpSpPr/>
              <p:nvPr/>
            </p:nvGrpSpPr>
            <p:grpSpPr>
              <a:xfrm>
                <a:off x="7453313" y="2851424"/>
                <a:ext cx="787400" cy="673654"/>
                <a:chOff x="10739852" y="2997198"/>
                <a:chExt cx="787400" cy="673654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6D4D01E5-5D6F-3D4F-932E-4A5299B2BA52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Text Box 15">
                  <a:extLst>
                    <a:ext uri="{FF2B5EF4-FFF2-40B4-BE49-F238E27FC236}">
                      <a16:creationId xmlns:a16="http://schemas.microsoft.com/office/drawing/2014/main" id="{16C95A26-F859-E64E-BF44-C4C49359FB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87" name="Text Box 17">
                  <a:extLst>
                    <a:ext uri="{FF2B5EF4-FFF2-40B4-BE49-F238E27FC236}">
                      <a16:creationId xmlns:a16="http://schemas.microsoft.com/office/drawing/2014/main" id="{AA9C139A-0D12-3245-B88F-B48AE08E8A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39852" y="3142972"/>
                  <a:ext cx="787400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88" name="Text Box 18">
                  <a:extLst>
                    <a:ext uri="{FF2B5EF4-FFF2-40B4-BE49-F238E27FC236}">
                      <a16:creationId xmlns:a16="http://schemas.microsoft.com/office/drawing/2014/main" id="{562BA0BD-51AB-F849-AB37-A717937E43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14547" y="2997198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183322C-9210-6E46-A831-2524E4CE9F4C}"/>
                </a:ext>
              </a:extLst>
            </p:cNvPr>
            <p:cNvGrpSpPr/>
            <p:nvPr/>
          </p:nvGrpSpPr>
          <p:grpSpPr>
            <a:xfrm>
              <a:off x="6799884" y="2710462"/>
              <a:ext cx="2165350" cy="400110"/>
              <a:chOff x="6799884" y="2710462"/>
              <a:chExt cx="2165350" cy="400110"/>
            </a:xfrm>
          </p:grpSpPr>
          <p:sp>
            <p:nvSpPr>
              <p:cNvPr id="81" name="Line 11">
                <a:extLst>
                  <a:ext uri="{FF2B5EF4-FFF2-40B4-BE49-F238E27FC236}">
                    <a16:creationId xmlns:a16="http://schemas.microsoft.com/office/drawing/2014/main" id="{431B4E0F-3CD5-444F-8127-4EAB4B153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99884" y="2746307"/>
                <a:ext cx="2165350" cy="2809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C69D8AC-45D3-B642-987B-D4859E76E7B1}"/>
                  </a:ext>
                </a:extLst>
              </p:cNvPr>
              <p:cNvGrpSpPr/>
              <p:nvPr/>
            </p:nvGrpSpPr>
            <p:grpSpPr>
              <a:xfrm>
                <a:off x="7402788" y="2710462"/>
                <a:ext cx="559183" cy="400110"/>
                <a:chOff x="7402788" y="2710462"/>
                <a:chExt cx="559183" cy="40011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7332AF7-B3AA-F84A-A60D-A50A03FA89EB}"/>
                    </a:ext>
                  </a:extLst>
                </p:cNvPr>
                <p:cNvSpPr/>
                <p:nvPr/>
              </p:nvSpPr>
              <p:spPr>
                <a:xfrm>
                  <a:off x="7462396" y="2872554"/>
                  <a:ext cx="423747" cy="624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Text Box 12">
                  <a:extLst>
                    <a:ext uri="{FF2B5EF4-FFF2-40B4-BE49-F238E27FC236}">
                      <a16:creationId xmlns:a16="http://schemas.microsoft.com/office/drawing/2014/main" id="{4B5E98C2-2370-6846-8FFD-3B9BD50C80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2788" y="2710462"/>
                  <a:ext cx="559183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R</a:t>
                  </a: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F392E7F-83D0-234C-A04C-71BAD4274A31}"/>
                </a:ext>
              </a:extLst>
            </p:cNvPr>
            <p:cNvGrpSpPr/>
            <p:nvPr/>
          </p:nvGrpSpPr>
          <p:grpSpPr>
            <a:xfrm>
              <a:off x="6896722" y="3520658"/>
              <a:ext cx="2249487" cy="673654"/>
              <a:chOff x="6896722" y="3520658"/>
              <a:chExt cx="2249487" cy="673654"/>
            </a:xfrm>
          </p:grpSpPr>
          <p:sp>
            <p:nvSpPr>
              <p:cNvPr id="91" name="Line 21">
                <a:extLst>
                  <a:ext uri="{FF2B5EF4-FFF2-40B4-BE49-F238E27FC236}">
                    <a16:creationId xmlns:a16="http://schemas.microsoft.com/office/drawing/2014/main" id="{776730E8-9459-E447-B35A-39C21DFB4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6722" y="3882957"/>
                <a:ext cx="22494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20153732-5F65-8143-8064-BCA70395D4ED}"/>
                  </a:ext>
                </a:extLst>
              </p:cNvPr>
              <p:cNvGrpSpPr/>
              <p:nvPr/>
            </p:nvGrpSpPr>
            <p:grpSpPr>
              <a:xfrm>
                <a:off x="7507355" y="3520658"/>
                <a:ext cx="675861" cy="673654"/>
                <a:chOff x="10747511" y="2997198"/>
                <a:chExt cx="675861" cy="673654"/>
              </a:xfrm>
            </p:grpSpPr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49A50E8E-DC4B-E442-9F99-02CD32E20F61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Text Box 15">
                  <a:extLst>
                    <a:ext uri="{FF2B5EF4-FFF2-40B4-BE49-F238E27FC236}">
                      <a16:creationId xmlns:a16="http://schemas.microsoft.com/office/drawing/2014/main" id="{AFB8B5B3-D1B4-6642-981D-8D71DFE13F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1" name="Text Box 17">
                  <a:extLst>
                    <a:ext uri="{FF2B5EF4-FFF2-40B4-BE49-F238E27FC236}">
                      <a16:creationId xmlns:a16="http://schemas.microsoft.com/office/drawing/2014/main" id="{90FDA7C9-CFD5-0A44-96CB-E6E570ED96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2" name="Text Box 18">
                  <a:extLst>
                    <a:ext uri="{FF2B5EF4-FFF2-40B4-BE49-F238E27FC236}">
                      <a16:creationId xmlns:a16="http://schemas.microsoft.com/office/drawing/2014/main" id="{6C888B49-426C-1C44-BB59-FEB6759DA5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DA03911-35CC-7540-9E36-05444D837206}"/>
                </a:ext>
              </a:extLst>
            </p:cNvPr>
            <p:cNvGrpSpPr/>
            <p:nvPr/>
          </p:nvGrpSpPr>
          <p:grpSpPr>
            <a:xfrm>
              <a:off x="9501810" y="3697355"/>
              <a:ext cx="1888432" cy="1211428"/>
              <a:chOff x="9448801" y="3644347"/>
              <a:chExt cx="1888432" cy="1211428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848FFE3-83C4-6042-96A6-D346EA18C45A}"/>
                  </a:ext>
                </a:extLst>
              </p:cNvPr>
              <p:cNvSpPr/>
              <p:nvPr/>
            </p:nvSpPr>
            <p:spPr>
              <a:xfrm>
                <a:off x="10661372" y="3802821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06B6F46-9DE5-A246-8551-1F8B349C8CBB}"/>
                  </a:ext>
                </a:extLst>
              </p:cNvPr>
              <p:cNvGrpSpPr/>
              <p:nvPr/>
            </p:nvGrpSpPr>
            <p:grpSpPr>
              <a:xfrm>
                <a:off x="9475303" y="3785702"/>
                <a:ext cx="1713735" cy="680280"/>
                <a:chOff x="9753598" y="4050745"/>
                <a:chExt cx="1713735" cy="680280"/>
              </a:xfrm>
            </p:grpSpPr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38AA7B51-AD55-D24E-9277-AE28406704AD}"/>
                    </a:ext>
                  </a:extLst>
                </p:cNvPr>
                <p:cNvGrpSpPr/>
                <p:nvPr/>
              </p:nvGrpSpPr>
              <p:grpSpPr>
                <a:xfrm>
                  <a:off x="9753598" y="4057371"/>
                  <a:ext cx="675861" cy="673654"/>
                  <a:chOff x="10747511" y="2997198"/>
                  <a:chExt cx="675861" cy="673654"/>
                </a:xfrm>
              </p:grpSpPr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76F87967-B4C9-D343-9F6C-7DB93BDA72B3}"/>
                      </a:ext>
                    </a:extLst>
                  </p:cNvPr>
                  <p:cNvSpPr/>
                  <p:nvPr/>
                </p:nvSpPr>
                <p:spPr>
                  <a:xfrm>
                    <a:off x="10747511" y="3305865"/>
                    <a:ext cx="675861" cy="10601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Text Box 15">
                    <a:extLst>
                      <a:ext uri="{FF2B5EF4-FFF2-40B4-BE49-F238E27FC236}">
                        <a16:creationId xmlns:a16="http://schemas.microsoft.com/office/drawing/2014/main" id="{4EC6D1DA-03C0-8E4C-A263-C5FCDD99B2A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06608" y="3270801"/>
                    <a:ext cx="309563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T</a:t>
                    </a:r>
                  </a:p>
                </p:txBody>
              </p:sp>
              <p:sp>
                <p:nvSpPr>
                  <p:cNvPr id="146" name="Text Box 17">
                    <a:extLst>
                      <a:ext uri="{FF2B5EF4-FFF2-40B4-BE49-F238E27FC236}">
                        <a16:creationId xmlns:a16="http://schemas.microsoft.com/office/drawing/2014/main" id="{34BF5362-E8D7-AC44-8ABC-D7C8302EC5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757961" y="3142972"/>
                    <a:ext cx="433131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latin typeface="+mn-lt"/>
                        <a:cs typeface="Arial" charset="0"/>
                      </a:rPr>
                      <a:t>K  </a:t>
                    </a:r>
                  </a:p>
                </p:txBody>
              </p:sp>
              <p:sp>
                <p:nvSpPr>
                  <p:cNvPr id="147" name="Text Box 18">
                    <a:extLst>
                      <a:ext uri="{FF2B5EF4-FFF2-40B4-BE49-F238E27FC236}">
                        <a16:creationId xmlns:a16="http://schemas.microsoft.com/office/drawing/2014/main" id="{0AEE8AEA-5E6B-9644-BA42-2D69FB60B8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89856" y="2997198"/>
                    <a:ext cx="31290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+</a:t>
                    </a:r>
                  </a:p>
                </p:txBody>
              </p:sp>
            </p:grpSp>
            <p:sp>
              <p:nvSpPr>
                <p:cNvPr id="151" name="Text Box 17">
                  <a:extLst>
                    <a:ext uri="{FF2B5EF4-FFF2-40B4-BE49-F238E27FC236}">
                      <a16:creationId xmlns:a16="http://schemas.microsoft.com/office/drawing/2014/main" id="{FA08C967-2B3C-D347-93CB-444CA8DF7F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17897" y="4171890"/>
                  <a:ext cx="144943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(K   (R)) =  R,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660BFD7D-B5AE-8D4B-BC26-F96EFD5F3CA4}"/>
                    </a:ext>
                  </a:extLst>
                </p:cNvPr>
                <p:cNvGrpSpPr/>
                <p:nvPr/>
              </p:nvGrpSpPr>
              <p:grpSpPr>
                <a:xfrm>
                  <a:off x="10303635" y="4050745"/>
                  <a:ext cx="309563" cy="673654"/>
                  <a:chOff x="10820469" y="3494154"/>
                  <a:chExt cx="309563" cy="673654"/>
                </a:xfrm>
              </p:grpSpPr>
              <p:sp>
                <p:nvSpPr>
                  <p:cNvPr id="150" name="Text Box 15">
                    <a:extLst>
                      <a:ext uri="{FF2B5EF4-FFF2-40B4-BE49-F238E27FC236}">
                        <a16:creationId xmlns:a16="http://schemas.microsoft.com/office/drawing/2014/main" id="{BC7FE57C-4528-AC48-9333-5717C81972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20469" y="3767757"/>
                    <a:ext cx="309563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T</a:t>
                    </a:r>
                  </a:p>
                </p:txBody>
              </p:sp>
              <p:sp>
                <p:nvSpPr>
                  <p:cNvPr id="152" name="Text Box 18">
                    <a:extLst>
                      <a:ext uri="{FF2B5EF4-FFF2-40B4-BE49-F238E27FC236}">
                        <a16:creationId xmlns:a16="http://schemas.microsoft.com/office/drawing/2014/main" id="{FA1EFA76-21B9-B948-8E78-36FF1C662DF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28408" y="3494154"/>
                    <a:ext cx="263525" cy="4000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7E0C2-A681-6745-AF69-A6AAE1C3E55E}"/>
                  </a:ext>
                </a:extLst>
              </p:cNvPr>
              <p:cNvSpPr txBox="1"/>
              <p:nvPr/>
            </p:nvSpPr>
            <p:spPr>
              <a:xfrm>
                <a:off x="9448801" y="3644347"/>
                <a:ext cx="153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Bob computes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DF933CB-CA39-3147-98C2-BB61A3EB04BC}"/>
                  </a:ext>
                </a:extLst>
              </p:cNvPr>
              <p:cNvSpPr txBox="1"/>
              <p:nvPr/>
            </p:nvSpPr>
            <p:spPr>
              <a:xfrm>
                <a:off x="9455426" y="4314729"/>
                <a:ext cx="1822174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authenticating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/>
                  <a:t>Trudy as Alice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FBBC21-85F1-2445-8B4A-BDBCF8170CA8}"/>
                </a:ext>
              </a:extLst>
            </p:cNvPr>
            <p:cNvSpPr/>
            <p:nvPr/>
          </p:nvSpPr>
          <p:spPr>
            <a:xfrm>
              <a:off x="3538330" y="3472069"/>
              <a:ext cx="238539" cy="145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CD2AD64-FCE1-484A-8CD8-9195FB878672}"/>
                </a:ext>
              </a:extLst>
            </p:cNvPr>
            <p:cNvGrpSpPr/>
            <p:nvPr/>
          </p:nvGrpSpPr>
          <p:grpSpPr>
            <a:xfrm>
              <a:off x="2221395" y="3318428"/>
              <a:ext cx="2480297" cy="400110"/>
              <a:chOff x="2221395" y="3318428"/>
              <a:chExt cx="2480297" cy="400110"/>
            </a:xfrm>
          </p:grpSpPr>
          <p:sp>
            <p:nvSpPr>
              <p:cNvPr id="97" name="Line 27">
                <a:extLst>
                  <a:ext uri="{FF2B5EF4-FFF2-40B4-BE49-F238E27FC236}">
                    <a16:creationId xmlns:a16="http://schemas.microsoft.com/office/drawing/2014/main" id="{9984F3ED-2918-3344-B6C5-159D486AE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1395" y="3390832"/>
                <a:ext cx="2480297" cy="3218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136" name="Text Box 66">
                <a:extLst>
                  <a:ext uri="{FF2B5EF4-FFF2-40B4-BE49-F238E27FC236}">
                    <a16:creationId xmlns:a16="http://schemas.microsoft.com/office/drawing/2014/main" id="{6AA1B550-D423-7A47-9CFF-A7D87F12F8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192" y="3318428"/>
                <a:ext cx="324128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566B28C-8D8F-F441-9A23-B17C74DD53D0}"/>
                </a:ext>
              </a:extLst>
            </p:cNvPr>
            <p:cNvGrpSpPr/>
            <p:nvPr/>
          </p:nvGrpSpPr>
          <p:grpSpPr>
            <a:xfrm>
              <a:off x="2221395" y="3479799"/>
              <a:ext cx="2593009" cy="673713"/>
              <a:chOff x="2221395" y="3479799"/>
              <a:chExt cx="2593009" cy="673713"/>
            </a:xfrm>
          </p:grpSpPr>
          <p:sp>
            <p:nvSpPr>
              <p:cNvPr id="98" name="Line 28">
                <a:extLst>
                  <a:ext uri="{FF2B5EF4-FFF2-40B4-BE49-F238E27FC236}">
                    <a16:creationId xmlns:a16="http://schemas.microsoft.com/office/drawing/2014/main" id="{EE318889-5B02-7949-9701-DA407464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3840094"/>
                <a:ext cx="25930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DCDE299-3FF6-EA43-9F54-4F4D7B7A96D5}"/>
                  </a:ext>
                </a:extLst>
              </p:cNvPr>
              <p:cNvGrpSpPr/>
              <p:nvPr/>
            </p:nvGrpSpPr>
            <p:grpSpPr>
              <a:xfrm>
                <a:off x="3351764" y="3479799"/>
                <a:ext cx="787400" cy="673713"/>
                <a:chOff x="992878" y="4235173"/>
                <a:chExt cx="787400" cy="673713"/>
              </a:xfrm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9457704C-5356-664F-925C-1F727AA467BC}"/>
                    </a:ext>
                  </a:extLst>
                </p:cNvPr>
                <p:cNvSpPr/>
                <p:nvPr/>
              </p:nvSpPr>
              <p:spPr>
                <a:xfrm>
                  <a:off x="1000537" y="4543840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6" name="Text Box 15">
                  <a:extLst>
                    <a:ext uri="{FF2B5EF4-FFF2-40B4-BE49-F238E27FC236}">
                      <a16:creationId xmlns:a16="http://schemas.microsoft.com/office/drawing/2014/main" id="{B390E741-67F5-A44D-B50F-BCF5D21E45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7543" y="4508776"/>
                  <a:ext cx="3337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57" name="Text Box 17">
                  <a:extLst>
                    <a:ext uri="{FF2B5EF4-FFF2-40B4-BE49-F238E27FC236}">
                      <a16:creationId xmlns:a16="http://schemas.microsoft.com/office/drawing/2014/main" id="{F7C9D543-5B67-BE43-915D-12D41196FF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2878" y="4380947"/>
                  <a:ext cx="787400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(R)</a:t>
                  </a:r>
                </a:p>
              </p:txBody>
            </p:sp>
            <p:sp>
              <p:nvSpPr>
                <p:cNvPr id="158" name="Text Box 18">
                  <a:extLst>
                    <a:ext uri="{FF2B5EF4-FFF2-40B4-BE49-F238E27FC236}">
                      <a16:creationId xmlns:a16="http://schemas.microsoft.com/office/drawing/2014/main" id="{5B8DB431-29F0-AB41-8246-D94EA76902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7573" y="4235173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B5C290-2EFF-0A4D-B746-B484522AB717}"/>
                </a:ext>
              </a:extLst>
            </p:cNvPr>
            <p:cNvGrpSpPr/>
            <p:nvPr/>
          </p:nvGrpSpPr>
          <p:grpSpPr>
            <a:xfrm>
              <a:off x="2221395" y="4168883"/>
              <a:ext cx="2661272" cy="673713"/>
              <a:chOff x="2221395" y="4168883"/>
              <a:chExt cx="2661272" cy="673713"/>
            </a:xfrm>
          </p:grpSpPr>
          <p:sp>
            <p:nvSpPr>
              <p:cNvPr id="106" name="Line 36">
                <a:extLst>
                  <a:ext uri="{FF2B5EF4-FFF2-40B4-BE49-F238E27FC236}">
                    <a16:creationId xmlns:a16="http://schemas.microsoft.com/office/drawing/2014/main" id="{160F22D0-47F2-5349-85F9-D489A964C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1395" y="4527482"/>
                <a:ext cx="266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591770F-038E-CD44-B111-C45F73AD7788}"/>
                  </a:ext>
                </a:extLst>
              </p:cNvPr>
              <p:cNvGrpSpPr/>
              <p:nvPr/>
            </p:nvGrpSpPr>
            <p:grpSpPr>
              <a:xfrm>
                <a:off x="3366050" y="4168883"/>
                <a:ext cx="675861" cy="673713"/>
                <a:chOff x="1842051" y="4335667"/>
                <a:chExt cx="675861" cy="673713"/>
              </a:xfrm>
            </p:grpSpPr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E1E0E169-9AA2-8C40-A9FD-9CB2C10143A7}"/>
                    </a:ext>
                  </a:extLst>
                </p:cNvPr>
                <p:cNvSpPr/>
                <p:nvPr/>
              </p:nvSpPr>
              <p:spPr>
                <a:xfrm>
                  <a:off x="1842051" y="4644334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2" name="Text Box 17">
                  <a:extLst>
                    <a:ext uri="{FF2B5EF4-FFF2-40B4-BE49-F238E27FC236}">
                      <a16:creationId xmlns:a16="http://schemas.microsoft.com/office/drawing/2014/main" id="{5E1A5670-A8F3-194B-8712-4A445EDF45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2501" y="4481441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63" name="Text Box 18">
                  <a:extLst>
                    <a:ext uri="{FF2B5EF4-FFF2-40B4-BE49-F238E27FC236}">
                      <a16:creationId xmlns:a16="http://schemas.microsoft.com/office/drawing/2014/main" id="{F08DB7BD-7A90-7B4C-A0AB-13AF0F4EBF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4396" y="4335667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61" name="Text Box 15">
                  <a:extLst>
                    <a:ext uri="{FF2B5EF4-FFF2-40B4-BE49-F238E27FC236}">
                      <a16:creationId xmlns:a16="http://schemas.microsoft.com/office/drawing/2014/main" id="{7BBB5E8A-E5DC-4C45-9F1E-3C6C0299AC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9057" y="4609270"/>
                  <a:ext cx="3337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</p:grp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EF5E74-1462-2240-98D6-0DFCF9C484FF}"/>
                </a:ext>
              </a:extLst>
            </p:cNvPr>
            <p:cNvSpPr/>
            <p:nvPr/>
          </p:nvSpPr>
          <p:spPr>
            <a:xfrm>
              <a:off x="7580243" y="5009322"/>
              <a:ext cx="821635" cy="1722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CF55DB-F502-994B-93E8-DD80E269A29E}"/>
                </a:ext>
              </a:extLst>
            </p:cNvPr>
            <p:cNvGrpSpPr/>
            <p:nvPr/>
          </p:nvGrpSpPr>
          <p:grpSpPr>
            <a:xfrm>
              <a:off x="6941172" y="4727161"/>
              <a:ext cx="2168525" cy="711199"/>
              <a:chOff x="6941172" y="4727161"/>
              <a:chExt cx="2168525" cy="711199"/>
            </a:xfrm>
          </p:grpSpPr>
          <p:sp>
            <p:nvSpPr>
              <p:cNvPr id="112" name="Line 42">
                <a:extLst>
                  <a:ext uri="{FF2B5EF4-FFF2-40B4-BE49-F238E27FC236}">
                    <a16:creationId xmlns:a16="http://schemas.microsoft.com/office/drawing/2014/main" id="{AE6F24D0-6C87-5E4E-A619-24CDBA038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941172" y="5117202"/>
                <a:ext cx="2168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grpSp>
            <p:nvGrpSpPr>
              <p:cNvPr id="113" name="Group 43">
                <a:extLst>
                  <a:ext uri="{FF2B5EF4-FFF2-40B4-BE49-F238E27FC236}">
                    <a16:creationId xmlns:a16="http://schemas.microsoft.com/office/drawing/2014/main" id="{31A37FFA-B2FB-7E4D-A06F-68C6898002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63472" y="4727161"/>
                <a:ext cx="852488" cy="711199"/>
                <a:chOff x="3677" y="3430"/>
                <a:chExt cx="537" cy="448"/>
              </a:xfrm>
            </p:grpSpPr>
            <p:sp>
              <p:nvSpPr>
                <p:cNvPr id="115" name="Text Box 45">
                  <a:extLst>
                    <a:ext uri="{FF2B5EF4-FFF2-40B4-BE49-F238E27FC236}">
                      <a16:creationId xmlns:a16="http://schemas.microsoft.com/office/drawing/2014/main" id="{85D4A2E7-81C1-A64B-BC82-9DB7F48213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77" y="3540"/>
                  <a:ext cx="53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 (m)</a:t>
                  </a:r>
                </a:p>
              </p:txBody>
            </p:sp>
            <p:sp>
              <p:nvSpPr>
                <p:cNvPr id="116" name="Text Box 46">
                  <a:extLst>
                    <a:ext uri="{FF2B5EF4-FFF2-40B4-BE49-F238E27FC236}">
                      <a16:creationId xmlns:a16="http://schemas.microsoft.com/office/drawing/2014/main" id="{F94D5314-084A-054E-BECC-861CAED936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8" y="343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14" name="Text Box 44">
                  <a:extLst>
                    <a:ext uri="{FF2B5EF4-FFF2-40B4-BE49-F238E27FC236}">
                      <a16:creationId xmlns:a16="http://schemas.microsoft.com/office/drawing/2014/main" id="{5A99CC24-85CA-9C4A-A4D0-6DF9B6779A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83" y="3626"/>
                  <a:ext cx="19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</p:grp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94631E-57F4-4948-8245-56E604BD3B2E}"/>
                </a:ext>
              </a:extLst>
            </p:cNvPr>
            <p:cNvSpPr txBox="1"/>
            <p:nvPr/>
          </p:nvSpPr>
          <p:spPr>
            <a:xfrm>
              <a:off x="9258693" y="4982817"/>
              <a:ext cx="221769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Bob sends a personal message, m to Alice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BA09B8E1-D210-DD47-B517-6459FFB70ED7}"/>
                </a:ext>
              </a:extLst>
            </p:cNvPr>
            <p:cNvGrpSpPr/>
            <p:nvPr/>
          </p:nvGrpSpPr>
          <p:grpSpPr>
            <a:xfrm>
              <a:off x="2601085" y="4921526"/>
              <a:ext cx="2168525" cy="711199"/>
              <a:chOff x="2601085" y="4921526"/>
              <a:chExt cx="2168525" cy="711199"/>
            </a:xfrm>
          </p:grpSpPr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27E7CDB9-2DFE-764B-B12F-AEF4FBAB9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01085" y="5367337"/>
                <a:ext cx="2168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000" dirty="0"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6D8C8AC-603B-004D-A602-FB5914DF76FB}"/>
                  </a:ext>
                </a:extLst>
              </p:cNvPr>
              <p:cNvSpPr/>
              <p:nvPr/>
            </p:nvSpPr>
            <p:spPr>
              <a:xfrm>
                <a:off x="3458817" y="5261113"/>
                <a:ext cx="397566" cy="2252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6" name="Group 56">
                <a:extLst>
                  <a:ext uri="{FF2B5EF4-FFF2-40B4-BE49-F238E27FC236}">
                    <a16:creationId xmlns:a16="http://schemas.microsoft.com/office/drawing/2014/main" id="{0775B4B1-C485-7A46-B09A-3F7499E1DF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7372" y="4921526"/>
                <a:ext cx="795338" cy="711199"/>
                <a:chOff x="3694" y="3430"/>
                <a:chExt cx="501" cy="448"/>
              </a:xfrm>
            </p:grpSpPr>
            <p:sp>
              <p:nvSpPr>
                <p:cNvPr id="127" name="Text Box 57">
                  <a:extLst>
                    <a:ext uri="{FF2B5EF4-FFF2-40B4-BE49-F238E27FC236}">
                      <a16:creationId xmlns:a16="http://schemas.microsoft.com/office/drawing/2014/main" id="{141B4F19-74AD-1843-A62D-38B5D8A427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6" y="3626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  <a:endPara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128" name="Text Box 58">
                  <a:extLst>
                    <a:ext uri="{FF2B5EF4-FFF2-40B4-BE49-F238E27FC236}">
                      <a16:creationId xmlns:a16="http://schemas.microsoft.com/office/drawing/2014/main" id="{9393590E-BC14-9649-B270-972F482604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4" y="3540"/>
                  <a:ext cx="50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(m)</a:t>
                  </a:r>
                </a:p>
              </p:txBody>
            </p:sp>
            <p:sp>
              <p:nvSpPr>
                <p:cNvPr id="129" name="Text Box 59">
                  <a:extLst>
                    <a:ext uri="{FF2B5EF4-FFF2-40B4-BE49-F238E27FC236}">
                      <a16:creationId xmlns:a16="http://schemas.microsoft.com/office/drawing/2014/main" id="{6DBF443F-317F-784F-BD76-C682D68C61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7" y="343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41819848-9DFF-194C-B17B-ABDE3225B9FC}"/>
                </a:ext>
              </a:extLst>
            </p:cNvPr>
            <p:cNvGrpSpPr/>
            <p:nvPr/>
          </p:nvGrpSpPr>
          <p:grpSpPr>
            <a:xfrm>
              <a:off x="359855" y="4949687"/>
              <a:ext cx="3045951" cy="1418628"/>
              <a:chOff x="359855" y="4949687"/>
              <a:chExt cx="3045951" cy="1418628"/>
            </a:xfrm>
          </p:grpSpPr>
          <p:grpSp>
            <p:nvGrpSpPr>
              <p:cNvPr id="130" name="Group 60">
                <a:extLst>
                  <a:ext uri="{FF2B5EF4-FFF2-40B4-BE49-F238E27FC236}">
                    <a16:creationId xmlns:a16="http://schemas.microsoft.com/office/drawing/2014/main" id="{BECA1E54-4F2E-F443-BA9C-1A10F77D64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9876" y="4999831"/>
                <a:ext cx="1708150" cy="744538"/>
                <a:chOff x="1318" y="3317"/>
                <a:chExt cx="1076" cy="469"/>
              </a:xfrm>
            </p:grpSpPr>
            <p:sp>
              <p:nvSpPr>
                <p:cNvPr id="131" name="Text Box 61">
                  <a:extLst>
                    <a:ext uri="{FF2B5EF4-FFF2-40B4-BE49-F238E27FC236}">
                      <a16:creationId xmlns:a16="http://schemas.microsoft.com/office/drawing/2014/main" id="{2978A8B5-F75D-304D-A0D7-D444312E36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9" y="3526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32" name="Text Box 62">
                  <a:extLst>
                    <a:ext uri="{FF2B5EF4-FFF2-40B4-BE49-F238E27FC236}">
                      <a16:creationId xmlns:a16="http://schemas.microsoft.com/office/drawing/2014/main" id="{C8ABC261-159D-7540-98FC-D7B4329287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18" y="3414"/>
                  <a:ext cx="107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m = K  (K   (m))</a:t>
                  </a:r>
                </a:p>
              </p:txBody>
            </p:sp>
            <p:sp>
              <p:nvSpPr>
                <p:cNvPr id="133" name="Text Box 63">
                  <a:extLst>
                    <a:ext uri="{FF2B5EF4-FFF2-40B4-BE49-F238E27FC236}">
                      <a16:creationId xmlns:a16="http://schemas.microsoft.com/office/drawing/2014/main" id="{048E692E-7A24-3142-BD88-9F0834EADB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332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  <p:sp>
              <p:nvSpPr>
                <p:cNvPr id="134" name="Text Box 64">
                  <a:extLst>
                    <a:ext uri="{FF2B5EF4-FFF2-40B4-BE49-F238E27FC236}">
                      <a16:creationId xmlns:a16="http://schemas.microsoft.com/office/drawing/2014/main" id="{8C5822A4-20CA-A94D-B283-A8FA7EE237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3" y="3534"/>
                  <a:ext cx="21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A</a:t>
                  </a:r>
                </a:p>
              </p:txBody>
            </p:sp>
            <p:sp>
              <p:nvSpPr>
                <p:cNvPr id="135" name="Text Box 65">
                  <a:extLst>
                    <a:ext uri="{FF2B5EF4-FFF2-40B4-BE49-F238E27FC236}">
                      <a16:creationId xmlns:a16="http://schemas.microsoft.com/office/drawing/2014/main" id="{C4E5DD69-041E-3A4C-9F88-0FDC141FDC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5" y="3317"/>
                  <a:ext cx="16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27C7730D-09E8-7F48-902E-83A59320C490}"/>
                  </a:ext>
                </a:extLst>
              </p:cNvPr>
              <p:cNvSpPr txBox="1"/>
              <p:nvPr/>
            </p:nvSpPr>
            <p:spPr>
              <a:xfrm>
                <a:off x="359855" y="4949687"/>
                <a:ext cx="279416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Trudy recovers Bob’s m: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8074C434-56F6-8147-B72B-852D8E98FE62}"/>
                  </a:ext>
                </a:extLst>
              </p:cNvPr>
              <p:cNvSpPr txBox="1"/>
              <p:nvPr/>
            </p:nvSpPr>
            <p:spPr>
              <a:xfrm>
                <a:off x="392984" y="5605670"/>
                <a:ext cx="3012822" cy="762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/>
                  <a:t>and she and Bob meet a week later in person and discuss m, not knowing Trudy knows m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E84004-AA3A-644E-9984-F921D7AEC2D1}"/>
                </a:ext>
              </a:extLst>
            </p:cNvPr>
            <p:cNvSpPr txBox="1"/>
            <p:nvPr/>
          </p:nvSpPr>
          <p:spPr>
            <a:xfrm>
              <a:off x="4929809" y="3313043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AED37A-9000-6B25-3559-C4FA8BF1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3437" y="2061628"/>
              <a:ext cx="1519772" cy="1077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8719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Need for certified public keys</a:t>
            </a:r>
            <a:endParaRPr lang="en-US" sz="4400" b="0" dirty="0">
              <a:latin typeface="+mn-lt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90663"/>
            <a:ext cx="7749209" cy="7537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motivation: Trudy plays pizza prank on Bob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19B001DB-C120-F941-A274-01407236A44C}"/>
              </a:ext>
            </a:extLst>
          </p:cNvPr>
          <p:cNvSpPr txBox="1">
            <a:spLocks noChangeArrowheads="1"/>
          </p:cNvSpPr>
          <p:nvPr/>
        </p:nvSpPr>
        <p:spPr>
          <a:xfrm>
            <a:off x="868681" y="2059478"/>
            <a:ext cx="6812280" cy="4342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6125" lvl="1" indent="-288925"/>
            <a:r>
              <a:rPr lang="en-US" sz="2800" dirty="0"/>
              <a:t>Trudy creates e-mail order: </a:t>
            </a:r>
            <a:br>
              <a:rPr lang="en-US" sz="2800" dirty="0"/>
            </a:br>
            <a:r>
              <a:rPr lang="en-US" sz="2800" i="1" dirty="0"/>
              <a:t>Dear Pizza Store, Please deliver to me four anchovy pizzas. Thank you, Bob</a:t>
            </a:r>
          </a:p>
          <a:p>
            <a:pPr lvl="1"/>
            <a:r>
              <a:rPr lang="en-US" sz="2800" dirty="0"/>
              <a:t>Trudy signs order with her private key</a:t>
            </a:r>
          </a:p>
          <a:p>
            <a:pPr lvl="1"/>
            <a:r>
              <a:rPr lang="en-US" sz="2800" dirty="0"/>
              <a:t>Trudy sends order to Pizza Store</a:t>
            </a:r>
          </a:p>
          <a:p>
            <a:pPr lvl="1"/>
            <a:r>
              <a:rPr lang="en-US" sz="2800" dirty="0"/>
              <a:t>Trudy sends to Pizza Store her public key, but says it</a:t>
            </a:r>
            <a:r>
              <a:rPr lang="en-US" altLang="ja-JP" sz="2800" dirty="0"/>
              <a:t>’s Bob’s public key</a:t>
            </a:r>
          </a:p>
          <a:p>
            <a:pPr lvl="1"/>
            <a:r>
              <a:rPr lang="en-US" sz="2800" dirty="0"/>
              <a:t>Pizza Store verifies signature; then delivers four anchovy pizzas to Bob</a:t>
            </a:r>
          </a:p>
          <a:p>
            <a:pPr lvl="1"/>
            <a:r>
              <a:rPr lang="en-US" sz="2800" dirty="0"/>
              <a:t>Bob doesn’</a:t>
            </a:r>
            <a:r>
              <a:rPr lang="en-US" altLang="ja-JP" sz="2800" dirty="0"/>
              <a:t>t even like anchovies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FD6FBF-7D68-2783-C2BB-721A85FC2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82609" y="1886435"/>
            <a:ext cx="3481896" cy="3480902"/>
            <a:chOff x="8282609" y="1886435"/>
            <a:chExt cx="3481896" cy="34809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81927A-7DC5-5FF6-21EE-9A09E35A8F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932"/>
            <a:stretch/>
          </p:blipFill>
          <p:spPr>
            <a:xfrm>
              <a:off x="8282609" y="1886435"/>
              <a:ext cx="1740948" cy="174045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B45714C-04B9-BA1E-A44F-F9A7897E4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932"/>
            <a:stretch/>
          </p:blipFill>
          <p:spPr>
            <a:xfrm>
              <a:off x="10023557" y="1886435"/>
              <a:ext cx="1740948" cy="174045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99C9CC3-96A6-B523-E393-332B72520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932"/>
            <a:stretch/>
          </p:blipFill>
          <p:spPr>
            <a:xfrm>
              <a:off x="8282609" y="3626886"/>
              <a:ext cx="1740948" cy="174045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EB4E1A-3BD8-00D5-3C89-802AC32CB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932"/>
            <a:stretch/>
          </p:blipFill>
          <p:spPr>
            <a:xfrm>
              <a:off x="10023557" y="3626886"/>
              <a:ext cx="1740948" cy="1740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2922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 </a:t>
            </a:r>
            <a:r>
              <a:rPr lang="en-US" dirty="0"/>
              <a:t>binds public key to particular entity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grpSp>
        <p:nvGrpSpPr>
          <p:cNvPr id="3" name="Group 2" descr="Example of how a CA operates">
            <a:extLst>
              <a:ext uri="{FF2B5EF4-FFF2-40B4-BE49-F238E27FC236}">
                <a16:creationId xmlns:a16="http://schemas.microsoft.com/office/drawing/2014/main" id="{C8EA0D3A-3707-93F7-B6EF-0A42273CA697}"/>
              </a:ext>
            </a:extLst>
          </p:cNvPr>
          <p:cNvGrpSpPr/>
          <p:nvPr/>
        </p:nvGrpSpPr>
        <p:grpSpPr>
          <a:xfrm>
            <a:off x="1638576" y="3900693"/>
            <a:ext cx="9798050" cy="2312575"/>
            <a:chOff x="1638576" y="3900693"/>
            <a:chExt cx="9798050" cy="2312575"/>
          </a:xfrm>
        </p:grpSpPr>
        <p:pic>
          <p:nvPicPr>
            <p:cNvPr id="7" name="Picture 4" descr="j0175664[1]">
              <a:extLst>
                <a:ext uri="{FF2B5EF4-FFF2-40B4-BE49-F238E27FC236}">
                  <a16:creationId xmlns:a16="http://schemas.microsoft.com/office/drawing/2014/main" id="{23CAD533-9FA9-104F-B787-25857E08AD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397651" y="4860718"/>
              <a:ext cx="1155700" cy="917575"/>
            </a:xfrm>
            <a:prstGeom prst="rect">
              <a:avLst/>
            </a:prstGeom>
            <a:noFill/>
          </p:spPr>
        </p:pic>
        <p:pic>
          <p:nvPicPr>
            <p:cNvPr id="8" name="Picture 5" descr="Bob">
              <a:extLst>
                <a:ext uri="{FF2B5EF4-FFF2-40B4-BE49-F238E27FC236}">
                  <a16:creationId xmlns:a16="http://schemas.microsoft.com/office/drawing/2014/main" id="{0548BCFD-B7B1-C642-A6A8-74DD77F00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3814" y="5583030"/>
              <a:ext cx="590550" cy="604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14DEAE9-3473-A94A-B6EB-D6509081E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651" y="4532105"/>
              <a:ext cx="698500" cy="615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B959E000-A13C-AB4A-B282-6A6982497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576" y="5387768"/>
              <a:ext cx="1309688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dirty="0">
                  <a:latin typeface="Arial" charset="0"/>
                  <a:cs typeface="Arial" charset="0"/>
                </a:rPr>
                <a:t>Bob</a:t>
              </a:r>
              <a:r>
                <a:rPr lang="ja-JP" altLang="en-US" sz="1600">
                  <a:latin typeface="Arial" charset="0"/>
                  <a:cs typeface="Arial" charset="0"/>
                </a:rPr>
                <a:t>’</a:t>
              </a:r>
              <a:r>
                <a:rPr lang="en-US" altLang="ja-JP" sz="1600" dirty="0">
                  <a:latin typeface="Arial" charset="0"/>
                  <a:cs typeface="Arial" charset="0"/>
                </a:rPr>
                <a:t>s </a:t>
              </a:r>
            </a:p>
            <a:p>
              <a:pPr algn="r"/>
              <a:r>
                <a:rPr lang="en-US" sz="1600" dirty="0">
                  <a:latin typeface="Arial" charset="0"/>
                  <a:cs typeface="Arial" charset="0"/>
                </a:rPr>
                <a:t>identifying information 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1B9863CF-92EF-BC44-9CCC-D015F7212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9139" y="5314743"/>
              <a:ext cx="741362" cy="341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9D776C03-EA8C-2848-85F8-6B5E0D3EE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451" y="4349543"/>
              <a:ext cx="2222500" cy="6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746B9D1E-91F6-E34F-93A3-36FF0A9C8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63076" y="4376530"/>
              <a:ext cx="1133475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28">
              <a:extLst>
                <a:ext uri="{FF2B5EF4-FFF2-40B4-BE49-F238E27FC236}">
                  <a16:creationId xmlns:a16="http://schemas.microsoft.com/office/drawing/2014/main" id="{B42AC924-4113-6146-9190-3E0B43B0D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077" y="4044674"/>
              <a:ext cx="858838" cy="1158875"/>
              <a:chOff x="4446" y="2648"/>
              <a:chExt cx="541" cy="730"/>
            </a:xfrm>
          </p:grpSpPr>
          <p:pic>
            <p:nvPicPr>
              <p:cNvPr id="32" name="Picture 29" descr="SO00109_[1]">
                <a:extLst>
                  <a:ext uri="{FF2B5EF4-FFF2-40B4-BE49-F238E27FC236}">
                    <a16:creationId xmlns:a16="http://schemas.microsoft.com/office/drawing/2014/main" id="{2A42DF74-0987-5743-815C-6D6077F50B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46" y="2648"/>
                <a:ext cx="541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3" name="Group 30">
                <a:extLst>
                  <a:ext uri="{FF2B5EF4-FFF2-40B4-BE49-F238E27FC236}">
                    <a16:creationId xmlns:a16="http://schemas.microsoft.com/office/drawing/2014/main" id="{CABC37BB-8D37-5346-8D2F-6AEE6F2BF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0" y="2766"/>
                <a:ext cx="309" cy="381"/>
                <a:chOff x="2994" y="2073"/>
                <a:chExt cx="309" cy="381"/>
              </a:xfrm>
            </p:grpSpPr>
            <p:grpSp>
              <p:nvGrpSpPr>
                <p:cNvPr id="35" name="Group 31">
                  <a:extLst>
                    <a:ext uri="{FF2B5EF4-FFF2-40B4-BE49-F238E27FC236}">
                      <a16:creationId xmlns:a16="http://schemas.microsoft.com/office/drawing/2014/main" id="{6FC90D88-FE04-9642-A206-14C100229D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309" cy="310"/>
                  <a:chOff x="2994" y="2144"/>
                  <a:chExt cx="309" cy="310"/>
                </a:xfrm>
              </p:grpSpPr>
              <p:sp>
                <p:nvSpPr>
                  <p:cNvPr id="37" name="Text Box 32">
                    <a:extLst>
                      <a:ext uri="{FF2B5EF4-FFF2-40B4-BE49-F238E27FC236}">
                        <a16:creationId xmlns:a16="http://schemas.microsoft.com/office/drawing/2014/main" id="{69E50F96-6F41-304B-AA4E-F0D481927F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38" name="Text Box 33">
                    <a:extLst>
                      <a:ext uri="{FF2B5EF4-FFF2-40B4-BE49-F238E27FC236}">
                        <a16:creationId xmlns:a16="http://schemas.microsoft.com/office/drawing/2014/main" id="{BD9826BE-5617-2545-8BEA-DF335B11856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2241"/>
                    <a:ext cx="20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1600" dirty="0">
                        <a:solidFill>
                          <a:srgbClr val="FF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sp>
              <p:nvSpPr>
                <p:cNvPr id="36" name="Text Box 34">
                  <a:extLst>
                    <a:ext uri="{FF2B5EF4-FFF2-40B4-BE49-F238E27FC236}">
                      <a16:creationId xmlns:a16="http://schemas.microsoft.com/office/drawing/2014/main" id="{9DB419F6-7ACA-F647-82AC-3C6EFAC50A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6" y="2073"/>
                  <a:ext cx="19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pic>
            <p:nvPicPr>
              <p:cNvPr id="34" name="Picture 35" descr="BS00768_[1]">
                <a:extLst>
                  <a:ext uri="{FF2B5EF4-FFF2-40B4-BE49-F238E27FC236}">
                    <a16:creationId xmlns:a16="http://schemas.microsoft.com/office/drawing/2014/main" id="{E90EC5A6-F279-6E4A-A0F4-1F5B775A53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640" y="3118"/>
                <a:ext cx="289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AEC96A95-A24E-234D-BFA0-CAD51D07B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5142" y="5204723"/>
              <a:ext cx="3261484" cy="690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2400" dirty="0">
                  <a:latin typeface="+mn-lt"/>
                  <a:cs typeface="Arial" charset="0"/>
                </a:rPr>
                <a:t>certificate for Bob’</a:t>
              </a:r>
              <a:r>
                <a:rPr lang="en-US" altLang="ja-JP" sz="2400" dirty="0">
                  <a:latin typeface="+mn-lt"/>
                  <a:cs typeface="Arial" charset="0"/>
                </a:rPr>
                <a:t>s public key, signed by CA</a:t>
              </a:r>
              <a:endParaRPr lang="en-US" sz="2400" dirty="0">
                <a:latin typeface="+mn-lt"/>
                <a:cs typeface="Arial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3A104D4-6597-8545-AE1E-4577D2F09F17}"/>
                </a:ext>
              </a:extLst>
            </p:cNvPr>
            <p:cNvGrpSpPr/>
            <p:nvPr/>
          </p:nvGrpSpPr>
          <p:grpSpPr>
            <a:xfrm>
              <a:off x="2120145" y="4048470"/>
              <a:ext cx="1491075" cy="812454"/>
              <a:chOff x="1914734" y="3557588"/>
              <a:chExt cx="1491075" cy="812454"/>
            </a:xfrm>
          </p:grpSpPr>
          <p:sp>
            <p:nvSpPr>
              <p:cNvPr id="41" name="Text Box 16">
                <a:extLst>
                  <a:ext uri="{FF2B5EF4-FFF2-40B4-BE49-F238E27FC236}">
                    <a16:creationId xmlns:a16="http://schemas.microsoft.com/office/drawing/2014/main" id="{D5506696-77AB-1B40-A4F7-5FFAF0CC1A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734" y="3557588"/>
                <a:ext cx="960437" cy="688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Bob’s 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public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key </a:t>
                </a:r>
              </a:p>
            </p:txBody>
          </p:sp>
          <p:pic>
            <p:nvPicPr>
              <p:cNvPr id="42" name="Picture 17" descr="BS00768_[1]">
                <a:extLst>
                  <a:ext uri="{FF2B5EF4-FFF2-40B4-BE49-F238E27FC236}">
                    <a16:creationId xmlns:a16="http://schemas.microsoft.com/office/drawing/2014/main" id="{A7ECB05D-E6D2-A048-986D-B97CF60632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866129" y="3559038"/>
                <a:ext cx="458787" cy="23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3" name="Group 18">
                <a:extLst>
                  <a:ext uri="{FF2B5EF4-FFF2-40B4-BE49-F238E27FC236}">
                    <a16:creationId xmlns:a16="http://schemas.microsoft.com/office/drawing/2014/main" id="{C75D009B-E4B0-7D46-9107-860AFBE8AC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7712" y="3765205"/>
                <a:ext cx="490538" cy="604837"/>
                <a:chOff x="2994" y="2073"/>
                <a:chExt cx="309" cy="381"/>
              </a:xfrm>
            </p:grpSpPr>
            <p:grpSp>
              <p:nvGrpSpPr>
                <p:cNvPr id="45" name="Group 19">
                  <a:extLst>
                    <a:ext uri="{FF2B5EF4-FFF2-40B4-BE49-F238E27FC236}">
                      <a16:creationId xmlns:a16="http://schemas.microsoft.com/office/drawing/2014/main" id="{FA341A53-980A-5C49-B6F7-E79003B340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309" cy="310"/>
                  <a:chOff x="2994" y="2144"/>
                  <a:chExt cx="309" cy="310"/>
                </a:xfrm>
              </p:grpSpPr>
              <p:sp>
                <p:nvSpPr>
                  <p:cNvPr id="47" name="Text Box 20">
                    <a:extLst>
                      <a:ext uri="{FF2B5EF4-FFF2-40B4-BE49-F238E27FC236}">
                        <a16:creationId xmlns:a16="http://schemas.microsoft.com/office/drawing/2014/main" id="{DEAC77C3-BAA5-F443-8C94-D92E5D6CD6A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48" name="Text Box 21">
                    <a:extLst>
                      <a:ext uri="{FF2B5EF4-FFF2-40B4-BE49-F238E27FC236}">
                        <a16:creationId xmlns:a16="http://schemas.microsoft.com/office/drawing/2014/main" id="{C89B2AF0-297B-6E4C-8552-0E5F297C829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2241"/>
                    <a:ext cx="20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6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sp>
              <p:nvSpPr>
                <p:cNvPr id="46" name="Text Box 22">
                  <a:extLst>
                    <a:ext uri="{FF2B5EF4-FFF2-40B4-BE49-F238E27FC236}">
                      <a16:creationId xmlns:a16="http://schemas.microsoft.com/office/drawing/2014/main" id="{FD5B6C22-76DD-BB4D-93E7-DF94845342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6" y="2073"/>
                  <a:ext cx="19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7F59881B-A1F9-7A4D-BDB2-822CB1AC86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9461" y="3869635"/>
                <a:ext cx="59634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A3BB3F4-B2E4-CB40-9B41-6B747981F1D1}"/>
                </a:ext>
              </a:extLst>
            </p:cNvPr>
            <p:cNvGrpSpPr/>
            <p:nvPr/>
          </p:nvGrpSpPr>
          <p:grpSpPr>
            <a:xfrm>
              <a:off x="5939324" y="3900693"/>
              <a:ext cx="1196163" cy="955675"/>
              <a:chOff x="4296054" y="3224833"/>
              <a:chExt cx="1196163" cy="955675"/>
            </a:xfrm>
          </p:grpSpPr>
          <p:sp>
            <p:nvSpPr>
              <p:cNvPr id="50" name="Rectangle 14">
                <a:extLst>
                  <a:ext uri="{FF2B5EF4-FFF2-40B4-BE49-F238E27FC236}">
                    <a16:creationId xmlns:a16="http://schemas.microsoft.com/office/drawing/2014/main" id="{9F86004E-57D3-2B47-A9C8-B12CCB4E6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054" y="3224833"/>
                <a:ext cx="1192213" cy="955675"/>
              </a:xfrm>
              <a:prstGeom prst="rect">
                <a:avLst/>
              </a:prstGeom>
              <a:solidFill>
                <a:srgbClr val="0012A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" name="Text Box 15">
                <a:extLst>
                  <a:ext uri="{FF2B5EF4-FFF2-40B4-BE49-F238E27FC236}">
                    <a16:creationId xmlns:a16="http://schemas.microsoft.com/office/drawing/2014/main" id="{94D9C94A-2C78-EF44-95ED-65E34026B5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719" y="3295856"/>
                <a:ext cx="1162498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digital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signature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(encrypt)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3C9228D-7D76-B749-BF6B-5CD50A49737B}"/>
                </a:ext>
              </a:extLst>
            </p:cNvPr>
            <p:cNvGrpSpPr/>
            <p:nvPr/>
          </p:nvGrpSpPr>
          <p:grpSpPr>
            <a:xfrm>
              <a:off x="5466319" y="4883978"/>
              <a:ext cx="1517579" cy="936623"/>
              <a:chOff x="1914734" y="3458819"/>
              <a:chExt cx="1517579" cy="936623"/>
            </a:xfrm>
          </p:grpSpPr>
          <p:sp>
            <p:nvSpPr>
              <p:cNvPr id="54" name="Text Box 16">
                <a:extLst>
                  <a:ext uri="{FF2B5EF4-FFF2-40B4-BE49-F238E27FC236}">
                    <a16:creationId xmlns:a16="http://schemas.microsoft.com/office/drawing/2014/main" id="{F1F72D12-E9EA-EA4E-9462-C0194DDA2F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734" y="3623848"/>
                <a:ext cx="960437" cy="688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CA’s 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private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key </a:t>
                </a:r>
              </a:p>
            </p:txBody>
          </p:sp>
          <p:pic>
            <p:nvPicPr>
              <p:cNvPr id="55" name="Picture 17" descr="BS00768_[1]">
                <a:extLst>
                  <a:ext uri="{FF2B5EF4-FFF2-40B4-BE49-F238E27FC236}">
                    <a16:creationId xmlns:a16="http://schemas.microsoft.com/office/drawing/2014/main" id="{64902A97-E370-9644-A285-6713693008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879381" y="3638551"/>
                <a:ext cx="458787" cy="23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6" name="Group 18">
                <a:extLst>
                  <a:ext uri="{FF2B5EF4-FFF2-40B4-BE49-F238E27FC236}">
                    <a16:creationId xmlns:a16="http://schemas.microsoft.com/office/drawing/2014/main" id="{40B79DC8-6CFF-1A42-BBB2-043B5D8A67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7720" y="3765205"/>
                <a:ext cx="639764" cy="630237"/>
                <a:chOff x="2994" y="2073"/>
                <a:chExt cx="403" cy="397"/>
              </a:xfrm>
            </p:grpSpPr>
            <p:grpSp>
              <p:nvGrpSpPr>
                <p:cNvPr id="58" name="Group 19">
                  <a:extLst>
                    <a:ext uri="{FF2B5EF4-FFF2-40B4-BE49-F238E27FC236}">
                      <a16:creationId xmlns:a16="http://schemas.microsoft.com/office/drawing/2014/main" id="{7CE30E7F-A771-CD48-8BA7-28ECDB8D7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403" cy="326"/>
                  <a:chOff x="2994" y="2144"/>
                  <a:chExt cx="403" cy="326"/>
                </a:xfrm>
              </p:grpSpPr>
              <p:sp>
                <p:nvSpPr>
                  <p:cNvPr id="60" name="Text Box 20">
                    <a:extLst>
                      <a:ext uri="{FF2B5EF4-FFF2-40B4-BE49-F238E27FC236}">
                        <a16:creationId xmlns:a16="http://schemas.microsoft.com/office/drawing/2014/main" id="{95F49427-0650-9F48-AD60-F4AD83D7044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61" name="Text Box 21">
                    <a:extLst>
                      <a:ext uri="{FF2B5EF4-FFF2-40B4-BE49-F238E27FC236}">
                        <a16:creationId xmlns:a16="http://schemas.microsoft.com/office/drawing/2014/main" id="{1D3534E8-F6F2-3F40-A422-A479EAB109B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2" y="2257"/>
                    <a:ext cx="295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6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CA</a:t>
                    </a:r>
                  </a:p>
                </p:txBody>
              </p:sp>
            </p:grpSp>
            <p:sp>
              <p:nvSpPr>
                <p:cNvPr id="59" name="Text Box 22">
                  <a:extLst>
                    <a:ext uri="{FF2B5EF4-FFF2-40B4-BE49-F238E27FC236}">
                      <a16:creationId xmlns:a16="http://schemas.microsoft.com/office/drawing/2014/main" id="{91198392-95D5-C743-A978-73224FA9A4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073"/>
                  <a:ext cx="160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-</a:t>
                  </a:r>
                </a:p>
              </p:txBody>
            </p:sp>
          </p:grp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8B9612A-2D92-F647-989B-3FD2B6A733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0736" y="3458819"/>
                <a:ext cx="1577" cy="6350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3" name="Group 2" descr="Example how a CA works">
            <a:extLst>
              <a:ext uri="{FF2B5EF4-FFF2-40B4-BE49-F238E27FC236}">
                <a16:creationId xmlns:a16="http://schemas.microsoft.com/office/drawing/2014/main" id="{80291153-7A90-23F8-324D-2EF8612CF674}"/>
              </a:ext>
            </a:extLst>
          </p:cNvPr>
          <p:cNvGrpSpPr/>
          <p:nvPr/>
        </p:nvGrpSpPr>
        <p:grpSpPr>
          <a:xfrm>
            <a:off x="3029916" y="3212132"/>
            <a:ext cx="6560448" cy="2082525"/>
            <a:chOff x="3029916" y="3212132"/>
            <a:chExt cx="6560448" cy="2082525"/>
          </a:xfrm>
        </p:grpSpPr>
        <p:pic>
          <p:nvPicPr>
            <p:cNvPr id="62" name="Picture 4" descr="j0175664[1]">
              <a:extLst>
                <a:ext uri="{FF2B5EF4-FFF2-40B4-BE49-F238E27FC236}">
                  <a16:creationId xmlns:a16="http://schemas.microsoft.com/office/drawing/2014/main" id="{86204907-90B2-284B-BA6F-A051EB0C0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265342" y="4380535"/>
              <a:ext cx="908948" cy="744538"/>
            </a:xfrm>
            <a:prstGeom prst="rect">
              <a:avLst/>
            </a:prstGeom>
            <a:noFill/>
          </p:spPr>
        </p:pic>
        <p:sp>
          <p:nvSpPr>
            <p:cNvPr id="63" name="Text Box 5">
              <a:extLst>
                <a:ext uri="{FF2B5EF4-FFF2-40B4-BE49-F238E27FC236}">
                  <a16:creationId xmlns:a16="http://schemas.microsoft.com/office/drawing/2014/main" id="{BF16691C-9BDB-1D4F-AA2F-7065045EC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9926" y="3334578"/>
              <a:ext cx="960438" cy="837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Bob</a:t>
              </a:r>
              <a:r>
                <a:rPr lang="en-US" altLang="ja-JP" dirty="0">
                  <a:latin typeface="+mn-lt"/>
                  <a:cs typeface="Arial" charset="0"/>
                </a:rPr>
                <a:t>’s </a:t>
              </a:r>
            </a:p>
            <a:p>
              <a:pPr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public</a:t>
              </a:r>
            </a:p>
            <a:p>
              <a:pPr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64" name="Picture 6" descr="BS00768_[1]">
              <a:extLst>
                <a:ext uri="{FF2B5EF4-FFF2-40B4-BE49-F238E27FC236}">
                  <a16:creationId xmlns:a16="http://schemas.microsoft.com/office/drawing/2014/main" id="{8280B673-28A1-4F46-858C-8C7273B4D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8156851" y="3393730"/>
              <a:ext cx="458788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5" name="Group 7">
              <a:extLst>
                <a:ext uri="{FF2B5EF4-FFF2-40B4-BE49-F238E27FC236}">
                  <a16:creationId xmlns:a16="http://schemas.microsoft.com/office/drawing/2014/main" id="{47A82B01-B7E1-D846-8542-A99CD2AEA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66364" y="3631855"/>
              <a:ext cx="528637" cy="604837"/>
              <a:chOff x="2994" y="2073"/>
              <a:chExt cx="333" cy="381"/>
            </a:xfrm>
          </p:grpSpPr>
          <p:grpSp>
            <p:nvGrpSpPr>
              <p:cNvPr id="66" name="Group 8">
                <a:extLst>
                  <a:ext uri="{FF2B5EF4-FFF2-40B4-BE49-F238E27FC236}">
                    <a16:creationId xmlns:a16="http://schemas.microsoft.com/office/drawing/2014/main" id="{C2759B9C-729A-5343-BADB-7B154CCF89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33" cy="310"/>
                <a:chOff x="2994" y="2144"/>
                <a:chExt cx="333" cy="310"/>
              </a:xfrm>
            </p:grpSpPr>
            <p:sp>
              <p:nvSpPr>
                <p:cNvPr id="68" name="Text Box 9">
                  <a:extLst>
                    <a:ext uri="{FF2B5EF4-FFF2-40B4-BE49-F238E27FC236}">
                      <a16:creationId xmlns:a16="http://schemas.microsoft.com/office/drawing/2014/main" id="{A77E39EC-DC13-404E-B464-ABE48C6D1B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9" name="Text Box 10">
                  <a:extLst>
                    <a:ext uri="{FF2B5EF4-FFF2-40B4-BE49-F238E27FC236}">
                      <a16:creationId xmlns:a16="http://schemas.microsoft.com/office/drawing/2014/main" id="{C5422436-A231-5644-8B83-73C0DDFE2D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5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67" name="Text Box 11">
                <a:extLst>
                  <a:ext uri="{FF2B5EF4-FFF2-40B4-BE49-F238E27FC236}">
                    <a16:creationId xmlns:a16="http://schemas.microsoft.com/office/drawing/2014/main" id="{C552F4B3-060D-5E41-AFB6-6B22FC0A2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82" name="Group 24">
              <a:extLst>
                <a:ext uri="{FF2B5EF4-FFF2-40B4-BE49-F238E27FC236}">
                  <a16:creationId xmlns:a16="http://schemas.microsoft.com/office/drawing/2014/main" id="{1723C1A2-8445-2D4C-A1AC-7941C67B6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9916" y="3212410"/>
              <a:ext cx="858838" cy="1158875"/>
              <a:chOff x="4446" y="2648"/>
              <a:chExt cx="541" cy="730"/>
            </a:xfrm>
          </p:grpSpPr>
          <p:pic>
            <p:nvPicPr>
              <p:cNvPr id="83" name="Picture 25" descr="SO00109_[1]">
                <a:extLst>
                  <a:ext uri="{FF2B5EF4-FFF2-40B4-BE49-F238E27FC236}">
                    <a16:creationId xmlns:a16="http://schemas.microsoft.com/office/drawing/2014/main" id="{884E3D47-2931-0749-BC1C-167192A82B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46" y="2648"/>
                <a:ext cx="541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4" name="Group 26">
                <a:extLst>
                  <a:ext uri="{FF2B5EF4-FFF2-40B4-BE49-F238E27FC236}">
                    <a16:creationId xmlns:a16="http://schemas.microsoft.com/office/drawing/2014/main" id="{C26DAA83-3F07-2948-9CB4-F03941CB5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0" y="2766"/>
                <a:ext cx="309" cy="381"/>
                <a:chOff x="2994" y="2073"/>
                <a:chExt cx="309" cy="381"/>
              </a:xfrm>
            </p:grpSpPr>
            <p:grpSp>
              <p:nvGrpSpPr>
                <p:cNvPr id="86" name="Group 27">
                  <a:extLst>
                    <a:ext uri="{FF2B5EF4-FFF2-40B4-BE49-F238E27FC236}">
                      <a16:creationId xmlns:a16="http://schemas.microsoft.com/office/drawing/2014/main" id="{3D9235A1-82B6-9A4D-B692-364CBCFC81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94" y="2144"/>
                  <a:ext cx="309" cy="310"/>
                  <a:chOff x="2994" y="2144"/>
                  <a:chExt cx="309" cy="310"/>
                </a:xfrm>
              </p:grpSpPr>
              <p:sp>
                <p:nvSpPr>
                  <p:cNvPr id="88" name="Text Box 28">
                    <a:extLst>
                      <a:ext uri="{FF2B5EF4-FFF2-40B4-BE49-F238E27FC236}">
                        <a16:creationId xmlns:a16="http://schemas.microsoft.com/office/drawing/2014/main" id="{26A0F4D4-6AF6-9E47-A61A-CF82F0B9473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144"/>
                    <a:ext cx="269" cy="25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89" name="Text Box 29">
                    <a:extLst>
                      <a:ext uri="{FF2B5EF4-FFF2-40B4-BE49-F238E27FC236}">
                        <a16:creationId xmlns:a16="http://schemas.microsoft.com/office/drawing/2014/main" id="{61B19EC3-D708-D648-BBA1-846CA65A0D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1" y="2241"/>
                    <a:ext cx="20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1600" dirty="0">
                        <a:solidFill>
                          <a:srgbClr val="FF0000"/>
                        </a:solidFill>
                        <a:latin typeface="Arial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sp>
              <p:nvSpPr>
                <p:cNvPr id="87" name="Text Box 30">
                  <a:extLst>
                    <a:ext uri="{FF2B5EF4-FFF2-40B4-BE49-F238E27FC236}">
                      <a16:creationId xmlns:a16="http://schemas.microsoft.com/office/drawing/2014/main" id="{8115967C-E3FB-BE48-ABEF-FBE72FA541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6" y="2073"/>
                  <a:ext cx="19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pic>
            <p:nvPicPr>
              <p:cNvPr id="85" name="Picture 31" descr="BS00768_[1]">
                <a:extLst>
                  <a:ext uri="{FF2B5EF4-FFF2-40B4-BE49-F238E27FC236}">
                    <a16:creationId xmlns:a16="http://schemas.microsoft.com/office/drawing/2014/main" id="{00CF9311-3C9B-3A4F-9436-75CF9002FF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640" y="3118"/>
                <a:ext cx="289" cy="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18F6ED6-01A5-0E45-82CA-E5937DA040AC}"/>
                </a:ext>
              </a:extLst>
            </p:cNvPr>
            <p:cNvGrpSpPr/>
            <p:nvPr/>
          </p:nvGrpSpPr>
          <p:grpSpPr>
            <a:xfrm>
              <a:off x="5042250" y="4300884"/>
              <a:ext cx="1571020" cy="993773"/>
              <a:chOff x="1914734" y="3458819"/>
              <a:chExt cx="1571020" cy="993773"/>
            </a:xfrm>
          </p:grpSpPr>
          <p:sp>
            <p:nvSpPr>
              <p:cNvPr id="92" name="Text Box 16">
                <a:extLst>
                  <a:ext uri="{FF2B5EF4-FFF2-40B4-BE49-F238E27FC236}">
                    <a16:creationId xmlns:a16="http://schemas.microsoft.com/office/drawing/2014/main" id="{623C5444-33AE-A745-BE15-55AD9A0EE1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734" y="3570839"/>
                <a:ext cx="960437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CA’s 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public</a:t>
                </a:r>
              </a:p>
              <a:p>
                <a:pPr algn="r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key</a:t>
                </a:r>
                <a:r>
                  <a:rPr lang="en-US" sz="180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 </a:t>
                </a:r>
              </a:p>
            </p:txBody>
          </p:sp>
          <p:pic>
            <p:nvPicPr>
              <p:cNvPr id="93" name="Picture 17" descr="BS00768_[1]">
                <a:extLst>
                  <a:ext uri="{FF2B5EF4-FFF2-40B4-BE49-F238E27FC236}">
                    <a16:creationId xmlns:a16="http://schemas.microsoft.com/office/drawing/2014/main" id="{D7837F94-C73E-4F4B-9E5D-BA3F3F58A1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879381" y="3638551"/>
                <a:ext cx="458787" cy="23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4" name="Group 18">
                <a:extLst>
                  <a:ext uri="{FF2B5EF4-FFF2-40B4-BE49-F238E27FC236}">
                    <a16:creationId xmlns:a16="http://schemas.microsoft.com/office/drawing/2014/main" id="{74911AEB-DF5A-1C40-B94B-9013E3477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3914" y="3765205"/>
                <a:ext cx="731840" cy="687387"/>
                <a:chOff x="2979" y="2073"/>
                <a:chExt cx="461" cy="433"/>
              </a:xfrm>
            </p:grpSpPr>
            <p:grpSp>
              <p:nvGrpSpPr>
                <p:cNvPr id="96" name="Group 19">
                  <a:extLst>
                    <a:ext uri="{FF2B5EF4-FFF2-40B4-BE49-F238E27FC236}">
                      <a16:creationId xmlns:a16="http://schemas.microsoft.com/office/drawing/2014/main" id="{4CA1F0FD-4828-2144-A75D-FDE3A86787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79" y="2144"/>
                  <a:ext cx="461" cy="362"/>
                  <a:chOff x="2979" y="2144"/>
                  <a:chExt cx="461" cy="362"/>
                </a:xfrm>
              </p:grpSpPr>
              <p:sp>
                <p:nvSpPr>
                  <p:cNvPr id="98" name="Text Box 20">
                    <a:extLst>
                      <a:ext uri="{FF2B5EF4-FFF2-40B4-BE49-F238E27FC236}">
                        <a16:creationId xmlns:a16="http://schemas.microsoft.com/office/drawing/2014/main" id="{B3D79FB7-1C2B-C94B-B437-7A8ECA4482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9" y="2144"/>
                    <a:ext cx="299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24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K </a:t>
                    </a:r>
                  </a:p>
                </p:txBody>
              </p:sp>
              <p:sp>
                <p:nvSpPr>
                  <p:cNvPr id="99" name="Text Box 21">
                    <a:extLst>
                      <a:ext uri="{FF2B5EF4-FFF2-40B4-BE49-F238E27FC236}">
                        <a16:creationId xmlns:a16="http://schemas.microsoft.com/office/drawing/2014/main" id="{E3966B90-5436-A04E-8C64-3707CB2188F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22" y="2273"/>
                    <a:ext cx="318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800" dirty="0">
                        <a:solidFill>
                          <a:srgbClr val="C00000"/>
                        </a:solidFill>
                        <a:latin typeface="Arial" charset="0"/>
                        <a:cs typeface="Arial" charset="0"/>
                      </a:rPr>
                      <a:t>CA</a:t>
                    </a:r>
                  </a:p>
                </p:txBody>
              </p:sp>
            </p:grpSp>
            <p:sp>
              <p:nvSpPr>
                <p:cNvPr id="97" name="Text Box 22">
                  <a:extLst>
                    <a:ext uri="{FF2B5EF4-FFF2-40B4-BE49-F238E27FC236}">
                      <a16:creationId xmlns:a16="http://schemas.microsoft.com/office/drawing/2014/main" id="{97AFB871-1EC4-CD44-A23A-77B6450390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073"/>
                  <a:ext cx="201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75A1564F-7EB2-0A4C-BE2B-C0FE1A5F90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0736" y="3458819"/>
                <a:ext cx="1577" cy="6350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1BF86D7-C3B3-2847-ACEE-C8C1FEB25E60}"/>
                </a:ext>
              </a:extLst>
            </p:cNvPr>
            <p:cNvGrpSpPr/>
            <p:nvPr/>
          </p:nvGrpSpPr>
          <p:grpSpPr>
            <a:xfrm>
              <a:off x="5521879" y="3212132"/>
              <a:ext cx="1196163" cy="955675"/>
              <a:chOff x="4296054" y="3224833"/>
              <a:chExt cx="1196163" cy="955675"/>
            </a:xfrm>
          </p:grpSpPr>
          <p:sp>
            <p:nvSpPr>
              <p:cNvPr id="101" name="Rectangle 14">
                <a:extLst>
                  <a:ext uri="{FF2B5EF4-FFF2-40B4-BE49-F238E27FC236}">
                    <a16:creationId xmlns:a16="http://schemas.microsoft.com/office/drawing/2014/main" id="{73BE9E8D-6C46-A342-B10D-C6ECD8AED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054" y="3224833"/>
                <a:ext cx="1192213" cy="955675"/>
              </a:xfrm>
              <a:prstGeom prst="rect">
                <a:avLst/>
              </a:prstGeom>
              <a:solidFill>
                <a:srgbClr val="0012A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2" name="Text Box 15">
                <a:extLst>
                  <a:ext uri="{FF2B5EF4-FFF2-40B4-BE49-F238E27FC236}">
                    <a16:creationId xmlns:a16="http://schemas.microsoft.com/office/drawing/2014/main" id="{669CFD21-9EEE-4149-A26A-FB28FA2D21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719" y="3295856"/>
                <a:ext cx="1162498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digital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signature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(decrypt)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0504F19-7FCB-A149-8908-2F307F1C15D6}"/>
                </a:ext>
              </a:extLst>
            </p:cNvPr>
            <p:cNvCxnSpPr/>
            <p:nvPr/>
          </p:nvCxnSpPr>
          <p:spPr>
            <a:xfrm>
              <a:off x="3949148" y="3697357"/>
              <a:ext cx="14974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339D3AD-1952-B248-B66E-C59F9B8324E8}"/>
                </a:ext>
              </a:extLst>
            </p:cNvPr>
            <p:cNvCxnSpPr/>
            <p:nvPr/>
          </p:nvCxnSpPr>
          <p:spPr>
            <a:xfrm>
              <a:off x="6778487" y="3690731"/>
              <a:ext cx="14974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BFB5-7668-3193-3B46-EE04A068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7AC1-8E21-A246-65D2-B37CDB3A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Network security summary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9A2C766-EB3B-E0EF-F194-044AB6342DA5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/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buClr>
                <a:srgbClr val="011199"/>
              </a:buClr>
            </a:pPr>
            <a:r>
              <a:rPr lang="en-US" dirty="0"/>
              <a:t>Message integrity, authentication</a:t>
            </a:r>
          </a:p>
          <a:p>
            <a:pPr marL="130175" indent="0">
              <a:buClr>
                <a:srgbClr val="011199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467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20953</TotalTime>
  <Words>3196</Words>
  <Application>Microsoft Macintosh PowerPoint</Application>
  <PresentationFormat>Widescreen</PresentationFormat>
  <Paragraphs>694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 Unicode MS</vt:lpstr>
      <vt:lpstr>ＭＳ Ｐゴシック</vt:lpstr>
      <vt:lpstr>ZapfDingbats</vt:lpstr>
      <vt:lpstr>Aptos</vt:lpstr>
      <vt:lpstr>Aptos Display</vt:lpstr>
      <vt:lpstr>Arial</vt:lpstr>
      <vt:lpstr>Calibri</vt:lpstr>
      <vt:lpstr>Courier New</vt:lpstr>
      <vt:lpstr>Gill Sans MT</vt:lpstr>
      <vt:lpstr>Wingdings</vt:lpstr>
      <vt:lpstr>Office Theme</vt:lpstr>
      <vt:lpstr>INST 346 Spring 2025</vt:lpstr>
      <vt:lpstr>Network security key points</vt:lpstr>
      <vt:lpstr>What is network security?</vt:lpstr>
      <vt:lpstr>Friends and enemies: Alice, Bob, Trudy</vt:lpstr>
      <vt:lpstr>Friends and enemies: Alice, Bob, Trudy</vt:lpstr>
      <vt:lpstr>What can adversaries do?</vt:lpstr>
      <vt:lpstr>Network security key points</vt:lpstr>
      <vt:lpstr>The language of cryptography</vt:lpstr>
      <vt:lpstr>Breaking an encryption scheme</vt:lpstr>
      <vt:lpstr>Symmetric key cryptography</vt:lpstr>
      <vt:lpstr>Simple encryption scheme</vt:lpstr>
      <vt:lpstr>A more sophisticated encryption approach</vt:lpstr>
      <vt:lpstr>Symmetric key crypto: DES</vt:lpstr>
      <vt:lpstr>AES: Advanced Encryption Standard</vt:lpstr>
      <vt:lpstr>Public Key Cryptography</vt:lpstr>
      <vt:lpstr>Public Key Cryptography</vt:lpstr>
      <vt:lpstr>Public key encryption algorithms</vt:lpstr>
      <vt:lpstr>Network security key points</vt:lpstr>
      <vt:lpstr>Authentication</vt:lpstr>
      <vt:lpstr>Authentication</vt:lpstr>
      <vt:lpstr>Authentication</vt:lpstr>
      <vt:lpstr>Authentication: another try</vt:lpstr>
      <vt:lpstr>Authentication: another try</vt:lpstr>
      <vt:lpstr>Authentication: a third try</vt:lpstr>
      <vt:lpstr>Authentication: a third try</vt:lpstr>
      <vt:lpstr>Authentication: a third try</vt:lpstr>
      <vt:lpstr>Authentication: a modified third try</vt:lpstr>
      <vt:lpstr>Authentication: a modified third try</vt:lpstr>
      <vt:lpstr>Authentication: a modified third try</vt:lpstr>
      <vt:lpstr>Authentication: a fourth try</vt:lpstr>
      <vt:lpstr>Authentication: a fourth try</vt:lpstr>
      <vt:lpstr>Authentication: a fourth try</vt:lpstr>
      <vt:lpstr>Authentication: ap5.0</vt:lpstr>
      <vt:lpstr>Authentication: ap5.0 – there’s still a flaw!</vt:lpstr>
      <vt:lpstr>Authentication: ap5.0 – there’s still a flaw!</vt:lpstr>
      <vt:lpstr>Authentication: ap5.0 – there’s still a flaw!</vt:lpstr>
      <vt:lpstr>Authentication: ap5.0 – there’s still a flaw!</vt:lpstr>
      <vt:lpstr>Digital signatures </vt:lpstr>
      <vt:lpstr>Digital signatures </vt:lpstr>
      <vt:lpstr>Message digests</vt:lpstr>
      <vt:lpstr>Internet checksum: poor crypto hash function</vt:lpstr>
      <vt:lpstr>Digital signature = signed message digest</vt:lpstr>
      <vt:lpstr>Hash function algorithms</vt:lpstr>
      <vt:lpstr>Authentication: ap5.0 – let’s fix it!!</vt:lpstr>
      <vt:lpstr>Need for certified public keys</vt:lpstr>
      <vt:lpstr>Public key Certification Authorities (CA)</vt:lpstr>
      <vt:lpstr>Public key Certification Authorities (CA)</vt:lpstr>
      <vt:lpstr>Network security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Ansel Marzullo</dc:creator>
  <cp:lastModifiedBy>keith marzullo</cp:lastModifiedBy>
  <cp:revision>104</cp:revision>
  <dcterms:created xsi:type="dcterms:W3CDTF">2024-12-31T16:59:50Z</dcterms:created>
  <dcterms:modified xsi:type="dcterms:W3CDTF">2025-04-25T18:23:47Z</dcterms:modified>
</cp:coreProperties>
</file>